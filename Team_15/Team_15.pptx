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62"/>
  </p:notesMasterIdLst>
  <p:sldIdLst>
    <p:sldId id="256" r:id="rId2"/>
    <p:sldId id="257" r:id="rId3"/>
    <p:sldId id="287" r:id="rId4"/>
    <p:sldId id="290" r:id="rId5"/>
    <p:sldId id="288" r:id="rId6"/>
    <p:sldId id="289" r:id="rId7"/>
    <p:sldId id="263" r:id="rId8"/>
    <p:sldId id="291" r:id="rId9"/>
    <p:sldId id="292" r:id="rId10"/>
    <p:sldId id="259" r:id="rId11"/>
    <p:sldId id="260" r:id="rId12"/>
    <p:sldId id="307" r:id="rId13"/>
    <p:sldId id="306" r:id="rId14"/>
    <p:sldId id="305" r:id="rId15"/>
    <p:sldId id="317" r:id="rId16"/>
    <p:sldId id="316" r:id="rId17"/>
    <p:sldId id="318" r:id="rId18"/>
    <p:sldId id="266" r:id="rId19"/>
    <p:sldId id="293" r:id="rId20"/>
    <p:sldId id="294" r:id="rId21"/>
    <p:sldId id="309" r:id="rId22"/>
    <p:sldId id="304" r:id="rId23"/>
    <p:sldId id="332" r:id="rId24"/>
    <p:sldId id="310" r:id="rId25"/>
    <p:sldId id="269" r:id="rId26"/>
    <p:sldId id="286" r:id="rId27"/>
    <p:sldId id="270" r:id="rId28"/>
    <p:sldId id="271" r:id="rId29"/>
    <p:sldId id="285" r:id="rId30"/>
    <p:sldId id="272" r:id="rId31"/>
    <p:sldId id="295" r:id="rId32"/>
    <p:sldId id="296" r:id="rId33"/>
    <p:sldId id="319" r:id="rId34"/>
    <p:sldId id="328" r:id="rId35"/>
    <p:sldId id="329" r:id="rId36"/>
    <p:sldId id="297" r:id="rId37"/>
    <p:sldId id="299" r:id="rId38"/>
    <p:sldId id="302" r:id="rId39"/>
    <p:sldId id="325" r:id="rId40"/>
    <p:sldId id="300" r:id="rId41"/>
    <p:sldId id="303" r:id="rId42"/>
    <p:sldId id="320" r:id="rId43"/>
    <p:sldId id="327" r:id="rId44"/>
    <p:sldId id="301" r:id="rId45"/>
    <p:sldId id="321" r:id="rId46"/>
    <p:sldId id="322" r:id="rId47"/>
    <p:sldId id="315" r:id="rId48"/>
    <p:sldId id="312" r:id="rId49"/>
    <p:sldId id="313" r:id="rId50"/>
    <p:sldId id="273" r:id="rId51"/>
    <p:sldId id="338" r:id="rId52"/>
    <p:sldId id="314" r:id="rId53"/>
    <p:sldId id="331" r:id="rId54"/>
    <p:sldId id="333" r:id="rId55"/>
    <p:sldId id="334" r:id="rId56"/>
    <p:sldId id="335" r:id="rId57"/>
    <p:sldId id="336" r:id="rId58"/>
    <p:sldId id="337" r:id="rId59"/>
    <p:sldId id="339" r:id="rId60"/>
    <p:sldId id="341" r:id="rId61"/>
  </p:sldIdLst>
  <p:sldSz cx="18288000" cy="10287000"/>
  <p:notesSz cx="6858000" cy="9144000"/>
  <p:embeddedFontLst>
    <p:embeddedFont>
      <p:font typeface="Consolas" panose="020B0609020204030204" pitchFamily="49" charset="0"/>
      <p:regular r:id="rId63"/>
      <p:bold r:id="rId64"/>
      <p:italic r:id="rId65"/>
      <p:boldItalic r:id="rId66"/>
    </p:embeddedFont>
    <p:embeddedFont>
      <p:font typeface="Poppins" panose="00000500000000000000" pitchFamily="2" charset="0"/>
      <p:regular r:id="rId67"/>
      <p:bold r:id="rId68"/>
      <p:italic r:id="rId69"/>
      <p:boldItalic r:id="rId70"/>
    </p:embeddedFont>
    <p:embeddedFont>
      <p:font typeface="Poppins Bold" panose="00000800000000000000" pitchFamily="2" charset="0"/>
      <p:regular r:id="rId71"/>
      <p:bold r:id="rId72"/>
    </p:embeddedFont>
    <p:embeddedFont>
      <p:font typeface="Quicksand" panose="020B0604020202020204" charset="0"/>
      <p:regular r:id="rId73"/>
    </p:embeddedFont>
    <p:embeddedFont>
      <p:font typeface="Quicksand Bold" panose="020B0604020202020204" charset="0"/>
      <p:regular r:id="rId7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6C0A"/>
    <a:srgbClr val="F8F9FB"/>
    <a:srgbClr val="E5E5E5"/>
    <a:srgbClr val="FF914D"/>
    <a:srgbClr val="CDCD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7AF25F-B1FE-3A7C-C175-13C620260BE2}" v="287" dt="2025-12-10T22:51:21.577"/>
    <p1510:client id="{0B8C052C-EE3C-2D8B-6CEE-AEF5C30E7EFA}" v="2425" dt="2025-12-11T17:13:22.124"/>
    <p1510:client id="{0D22B2C5-FF3A-7514-9374-D2D3D13A606E}" v="266" dt="2025-12-11T18:08:22.423"/>
    <p1510:client id="{231E4965-7738-5EF3-B9A6-372F55C0370D}" v="601" dt="2025-12-11T17:37:51.782"/>
    <p1510:client id="{2E7F4FAF-788E-CBC4-222C-C00B535D6F7C}" v="194" dt="2025-12-11T15:26:44.742"/>
    <p1510:client id="{30911719-93E3-9C7D-8214-9D8321FEB868}" v="2045" dt="2025-12-11T17:30:39.355"/>
    <p1510:client id="{31C741DE-D191-A93F-F1F2-A422F6C01AC4}" v="978" dt="2025-12-11T15:07:37.028"/>
    <p1510:client id="{428587D6-F403-A821-5A68-2D697927FA6E}" v="945" dt="2025-12-11T07:38:01.757"/>
    <p1510:client id="{45B17102-C71D-4816-5EFD-BFAD8BD6A960}" v="24" dt="2025-12-11T15:17:49.214"/>
    <p1510:client id="{52170063-18C4-198C-13A1-DF0F8512EBB9}" v="3122" dt="2025-12-11T12:01:21.497"/>
    <p1510:client id="{5C35690E-FF6B-6BA4-C55D-E5B1FE442B84}" v="1903" dt="2025-12-10T23:21:01.953"/>
    <p1510:client id="{613C45AD-6A76-E6ED-32B4-C5CA324C92EA}" v="1" dt="2025-12-11T17:00:45.659"/>
    <p1510:client id="{67B9D7A6-B8E8-A79B-86C3-70DAA47FAE03}" v="663" dt="2025-12-11T13:32:12.883"/>
    <p1510:client id="{6A7ACE44-1E11-0127-0FDC-79933F660D94}" v="1" dt="2025-12-10T19:25:19.621"/>
    <p1510:client id="{6AF05561-CFD2-6471-9130-66AFBF603013}" v="25" dt="2025-12-11T12:05:23.291"/>
    <p1510:client id="{6D1FCA65-43FF-2778-B551-7A1FA1B5D96F}" v="4448" dt="2025-12-11T14:52:16.719"/>
    <p1510:client id="{7A51F1C3-999C-2C14-5582-E0481D3CC64B}" v="125" dt="2025-12-11T11:35:45.881"/>
    <p1510:client id="{7EF6FA0F-9A65-0F58-2070-7061C7AC96E5}" v="176" dt="2025-12-11T17:58:16.622"/>
    <p1510:client id="{874CA710-7ED5-172B-2021-47109C889FBD}" v="52" dt="2025-12-11T15:38:09.032"/>
    <p1510:client id="{8904A965-8F54-5CB7-B78E-2BDE2B75699A}" v="119" dt="2025-12-11T15:39:28.903"/>
    <p1510:client id="{93893365-2483-CE70-1202-FAAED1078A3E}" v="1538" dt="2025-12-11T17:22:23.087"/>
    <p1510:client id="{9D571F1E-D6FE-CDC9-1484-1C79DBC10E45}" v="2845" dt="2025-12-11T15:28:58.018"/>
    <p1510:client id="{AB8C0474-512D-067C-AA1F-9EBCC497EE2C}" v="746" dt="2025-12-11T14:43:46.067"/>
    <p1510:client id="{B033616F-1255-69FF-7070-319FEE74404F}" v="5" dt="2025-12-11T10:00:01.693"/>
    <p1510:client id="{BFFB4064-1CBC-50D2-402B-2427023ED30E}" v="1547" dt="2025-12-11T12:20:28.226"/>
    <p1510:client id="{C19502BD-5A0D-B732-06D4-F9BA7D9C8118}" v="30" dt="2025-12-11T15:37:36.063"/>
    <p1510:client id="{D8906F4F-08ED-EE3B-8BE4-0800913CB7FD}" v="2" dt="2025-12-11T07:20:03.794"/>
    <p1510:client id="{E65B04E6-2EEE-1C4C-DD92-6BDBAA3994C3}" v="398" dt="2025-12-11T05:56:39.202"/>
    <p1510:client id="{EB7DA7BE-4F71-A508-2981-89D1E27F939C}" v="50" dt="2025-12-11T18:06:08.1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fntdata"/><Relationship Id="rId68" Type="http://schemas.openxmlformats.org/officeDocument/2006/relationships/font" Target="fonts/font6.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4.fntdata"/><Relationship Id="rId74" Type="http://schemas.openxmlformats.org/officeDocument/2006/relationships/font" Target="fonts/font12.fntdata"/><Relationship Id="rId79"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2.fntdata"/><Relationship Id="rId69" Type="http://schemas.openxmlformats.org/officeDocument/2006/relationships/font" Target="fonts/font7.fntdata"/><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0.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70" Type="http://schemas.openxmlformats.org/officeDocument/2006/relationships/font" Target="fonts/font8.fntdata"/><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3.fntdata"/><Relationship Id="rId73" Type="http://schemas.openxmlformats.org/officeDocument/2006/relationships/font" Target="fonts/font11.fntdata"/><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font" Target="fonts/font9.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40F33-377F-4E26-A9D3-D2AE21AC0221}" type="datetimeFigureOut">
              <a:t>12/11/2025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97A70E-EC0F-4829-9C21-6D86FDA5DDD7}" type="slidenum">
              <a:t>‹#›</a:t>
            </a:fld>
            <a:endParaRPr lang="en-US"/>
          </a:p>
        </p:txBody>
      </p:sp>
    </p:spTree>
    <p:extLst>
      <p:ext uri="{BB962C8B-B14F-4D97-AF65-F5344CB8AC3E}">
        <p14:creationId xmlns:p14="http://schemas.microsoft.com/office/powerpoint/2010/main" val="93683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A68C973B-263D-461B-BEB9-F21A14AF43AF}" type="slidenum">
              <a:rPr lang="en-IN" smtClean="0"/>
              <a:t>27</a:t>
            </a:fld>
            <a:endParaRPr lang="en-IN"/>
          </a:p>
        </p:txBody>
      </p:sp>
    </p:spTree>
    <p:extLst>
      <p:ext uri="{BB962C8B-B14F-4D97-AF65-F5344CB8AC3E}">
        <p14:creationId xmlns:p14="http://schemas.microsoft.com/office/powerpoint/2010/main" val="2138110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9.jpeg"/><Relationship Id="rId5" Type="http://schemas.openxmlformats.org/officeDocument/2006/relationships/image" Target="../media/image48.png"/><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png"/><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2.sv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 Id="rId5" Type="http://schemas.openxmlformats.org/officeDocument/2006/relationships/image" Target="../media/image63.png"/><Relationship Id="rId4" Type="http://schemas.openxmlformats.org/officeDocument/2006/relationships/image" Target="../media/image62.png"/></Relationships>
</file>

<file path=ppt/slides/_rels/slide3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66.png"/><Relationship Id="rId1" Type="http://schemas.openxmlformats.org/officeDocument/2006/relationships/slideLayout" Target="../slideLayouts/slideLayout7.xml"/><Relationship Id="rId4" Type="http://schemas.openxmlformats.org/officeDocument/2006/relationships/image" Target="../media/image68.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71.svg"/><Relationship Id="rId2" Type="http://schemas.openxmlformats.org/officeDocument/2006/relationships/image" Target="../media/image70.png"/><Relationship Id="rId1" Type="http://schemas.openxmlformats.org/officeDocument/2006/relationships/slideLayout" Target="../slideLayouts/slideLayout7.xml"/><Relationship Id="rId4" Type="http://schemas.openxmlformats.org/officeDocument/2006/relationships/image" Target="../media/image72.jpeg"/></Relationships>
</file>

<file path=ppt/slides/_rels/slide4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image" Target="../media/image79.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p:cNvSpPr/>
          <p:nvPr/>
        </p:nvSpPr>
        <p:spPr>
          <a:xfrm rot="5400000">
            <a:off x="16399966" y="6264625"/>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7" name="TextBox 7"/>
          <p:cNvSpPr txBox="1"/>
          <p:nvPr/>
        </p:nvSpPr>
        <p:spPr>
          <a:xfrm rot="-5400000">
            <a:off x="17310518" y="8275412"/>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8" name="TextBox 8"/>
          <p:cNvSpPr txBox="1"/>
          <p:nvPr/>
        </p:nvSpPr>
        <p:spPr>
          <a:xfrm rot="-5400000">
            <a:off x="16161626" y="2739884"/>
            <a:ext cx="3231104" cy="272161"/>
          </a:xfrm>
          <a:prstGeom prst="rect">
            <a:avLst/>
          </a:prstGeom>
        </p:spPr>
        <p:txBody>
          <a:bodyPr lIns="0" tIns="0" rIns="0" bIns="0" rtlCol="0" anchor="t">
            <a:spAutoFit/>
          </a:bodyPr>
          <a:lstStyle/>
          <a:p>
            <a:pPr algn="ctr">
              <a:lnSpc>
                <a:spcPts val="2324"/>
              </a:lnSpc>
            </a:pPr>
            <a:r>
              <a:rPr lang="en-US" sz="1660">
                <a:solidFill>
                  <a:srgbClr val="FFFFFF"/>
                </a:solidFill>
                <a:latin typeface="Quicksand"/>
                <a:ea typeface="Quicksand"/>
                <a:cs typeface="Quicksand"/>
                <a:sym typeface="Quicksand"/>
              </a:rPr>
              <a:t>www.reallygreatsite.com </a:t>
            </a:r>
          </a:p>
        </p:txBody>
      </p:sp>
      <p:sp>
        <p:nvSpPr>
          <p:cNvPr id="9" name="TextBox 9"/>
          <p:cNvSpPr txBox="1"/>
          <p:nvPr/>
        </p:nvSpPr>
        <p:spPr>
          <a:xfrm>
            <a:off x="966916" y="2992277"/>
            <a:ext cx="7693809" cy="3008388"/>
          </a:xfrm>
          <a:prstGeom prst="rect">
            <a:avLst/>
          </a:prstGeom>
        </p:spPr>
        <p:txBody>
          <a:bodyPr lIns="0" tIns="0" rIns="0" bIns="0" rtlCol="0" anchor="t">
            <a:spAutoFit/>
          </a:bodyPr>
          <a:lstStyle/>
          <a:p>
            <a:pPr algn="l">
              <a:lnSpc>
                <a:spcPts val="12498"/>
              </a:lnSpc>
            </a:pPr>
            <a:r>
              <a:rPr lang="en-US" sz="6600" b="1">
                <a:solidFill>
                  <a:schemeClr val="tx1">
                    <a:lumMod val="95000"/>
                    <a:lumOff val="5000"/>
                  </a:schemeClr>
                </a:solidFill>
                <a:latin typeface="Quicksand Bold"/>
                <a:ea typeface="Quicksand Bold"/>
                <a:cs typeface="Quicksand Bold"/>
                <a:sym typeface="Quicksand Bold"/>
              </a:rPr>
              <a:t>Sigma-Delta ASIC Development</a:t>
            </a:r>
          </a:p>
        </p:txBody>
      </p:sp>
      <p:grpSp>
        <p:nvGrpSpPr>
          <p:cNvPr id="10" name="Group 10"/>
          <p:cNvGrpSpPr/>
          <p:nvPr/>
        </p:nvGrpSpPr>
        <p:grpSpPr>
          <a:xfrm>
            <a:off x="970817" y="8694496"/>
            <a:ext cx="5179634" cy="602732"/>
            <a:chOff x="0" y="0"/>
            <a:chExt cx="5149629" cy="660400"/>
          </a:xfrm>
        </p:grpSpPr>
        <p:sp>
          <p:nvSpPr>
            <p:cNvPr id="11" name="Freeform 11"/>
            <p:cNvSpPr/>
            <p:nvPr/>
          </p:nvSpPr>
          <p:spPr>
            <a:xfrm>
              <a:off x="0" y="0"/>
              <a:ext cx="5149629" cy="660400"/>
            </a:xfrm>
            <a:custGeom>
              <a:avLst/>
              <a:gdLst/>
              <a:ahLst/>
              <a:cxnLst/>
              <a:rect l="l" t="t" r="r" b="b"/>
              <a:pathLst>
                <a:path w="5149629" h="660400">
                  <a:moveTo>
                    <a:pt x="5025168" y="660400"/>
                  </a:moveTo>
                  <a:lnTo>
                    <a:pt x="124460" y="660400"/>
                  </a:lnTo>
                  <a:cubicBezTo>
                    <a:pt x="55880" y="660400"/>
                    <a:pt x="0" y="604520"/>
                    <a:pt x="0" y="535940"/>
                  </a:cubicBezTo>
                  <a:lnTo>
                    <a:pt x="0" y="124460"/>
                  </a:lnTo>
                  <a:cubicBezTo>
                    <a:pt x="0" y="55880"/>
                    <a:pt x="55880" y="0"/>
                    <a:pt x="124460" y="0"/>
                  </a:cubicBezTo>
                  <a:lnTo>
                    <a:pt x="5025168" y="0"/>
                  </a:lnTo>
                  <a:cubicBezTo>
                    <a:pt x="5093748" y="0"/>
                    <a:pt x="5149629" y="55880"/>
                    <a:pt x="5149629" y="124460"/>
                  </a:cubicBezTo>
                  <a:lnTo>
                    <a:pt x="5149629" y="535940"/>
                  </a:lnTo>
                  <a:cubicBezTo>
                    <a:pt x="5149629" y="604520"/>
                    <a:pt x="5093748" y="660400"/>
                    <a:pt x="5025168" y="660400"/>
                  </a:cubicBezTo>
                  <a:close/>
                </a:path>
              </a:pathLst>
            </a:custGeom>
            <a:solidFill>
              <a:srgbClr val="FF914D"/>
            </a:solidFill>
          </p:spPr>
          <p:txBody>
            <a:bodyPr/>
            <a:lstStyle/>
            <a:p>
              <a:endParaRPr lang="en-IN"/>
            </a:p>
          </p:txBody>
        </p:sp>
      </p:grpSp>
      <p:sp>
        <p:nvSpPr>
          <p:cNvPr id="13" name="TextBox 13"/>
          <p:cNvSpPr txBox="1"/>
          <p:nvPr/>
        </p:nvSpPr>
        <p:spPr>
          <a:xfrm>
            <a:off x="1267613" y="8847322"/>
            <a:ext cx="4699950" cy="320601"/>
          </a:xfrm>
          <a:prstGeom prst="rect">
            <a:avLst/>
          </a:prstGeom>
        </p:spPr>
        <p:txBody>
          <a:bodyPr wrap="square" lIns="0" tIns="0" rIns="0" bIns="0" rtlCol="0" anchor="t">
            <a:spAutoFit/>
          </a:bodyPr>
          <a:lstStyle/>
          <a:p>
            <a:pPr algn="ctr">
              <a:lnSpc>
                <a:spcPts val="2450"/>
              </a:lnSpc>
            </a:pPr>
            <a:r>
              <a:rPr lang="en-US" sz="2094" b="1">
                <a:solidFill>
                  <a:srgbClr val="FFFFFF"/>
                </a:solidFill>
                <a:latin typeface="Quicksand Bold"/>
                <a:ea typeface="Quicksand Bold"/>
                <a:cs typeface="Quicksand Bold"/>
                <a:sym typeface="Quicksand Bold"/>
              </a:rPr>
              <a:t>Indian Space Research Organization</a:t>
            </a:r>
          </a:p>
        </p:txBody>
      </p:sp>
      <p:grpSp>
        <p:nvGrpSpPr>
          <p:cNvPr id="14" name="Group 14"/>
          <p:cNvGrpSpPr/>
          <p:nvPr/>
        </p:nvGrpSpPr>
        <p:grpSpPr>
          <a:xfrm>
            <a:off x="966916" y="657680"/>
            <a:ext cx="602732" cy="602732"/>
            <a:chOff x="0" y="0"/>
            <a:chExt cx="660400" cy="660400"/>
          </a:xfrm>
        </p:grpSpPr>
        <p:sp>
          <p:nvSpPr>
            <p:cNvPr id="15" name="Freeform 15"/>
            <p:cNvSpPr/>
            <p:nvPr/>
          </p:nvSpPr>
          <p:spPr>
            <a:xfrm>
              <a:off x="0" y="0"/>
              <a:ext cx="660400" cy="660400"/>
            </a:xfrm>
            <a:custGeom>
              <a:avLst/>
              <a:gdLst/>
              <a:ahLst/>
              <a:cxnLst/>
              <a:rect l="l" t="t" r="r" b="b"/>
              <a:pathLst>
                <a:path w="660400" h="660400">
                  <a:moveTo>
                    <a:pt x="535940" y="660400"/>
                  </a:moveTo>
                  <a:lnTo>
                    <a:pt x="124460" y="660400"/>
                  </a:lnTo>
                  <a:cubicBezTo>
                    <a:pt x="55880" y="660400"/>
                    <a:pt x="0" y="604520"/>
                    <a:pt x="0" y="535940"/>
                  </a:cubicBezTo>
                  <a:lnTo>
                    <a:pt x="0" y="124460"/>
                  </a:lnTo>
                  <a:cubicBezTo>
                    <a:pt x="0" y="55880"/>
                    <a:pt x="55880" y="0"/>
                    <a:pt x="124460" y="0"/>
                  </a:cubicBezTo>
                  <a:lnTo>
                    <a:pt x="535940" y="0"/>
                  </a:lnTo>
                  <a:cubicBezTo>
                    <a:pt x="604520" y="0"/>
                    <a:pt x="660400" y="55880"/>
                    <a:pt x="660400" y="124460"/>
                  </a:cubicBezTo>
                  <a:lnTo>
                    <a:pt x="660400" y="535940"/>
                  </a:lnTo>
                  <a:cubicBezTo>
                    <a:pt x="660400" y="604520"/>
                    <a:pt x="604520" y="660400"/>
                    <a:pt x="535940" y="660400"/>
                  </a:cubicBezTo>
                  <a:close/>
                </a:path>
              </a:pathLst>
            </a:custGeom>
            <a:solidFill>
              <a:srgbClr val="FF914D"/>
            </a:solidFill>
          </p:spPr>
          <p:txBody>
            <a:bodyPr/>
            <a:lstStyle/>
            <a:p>
              <a:endParaRPr lang="en-IN"/>
            </a:p>
          </p:txBody>
        </p:sp>
      </p:grpSp>
      <p:sp>
        <p:nvSpPr>
          <p:cNvPr id="16" name="TextBox 16"/>
          <p:cNvSpPr txBox="1"/>
          <p:nvPr/>
        </p:nvSpPr>
        <p:spPr>
          <a:xfrm>
            <a:off x="1632366" y="956512"/>
            <a:ext cx="6364655" cy="454740"/>
          </a:xfrm>
          <a:prstGeom prst="rect">
            <a:avLst/>
          </a:prstGeom>
        </p:spPr>
        <p:txBody>
          <a:bodyPr wrap="square" lIns="0" tIns="0" rIns="0" bIns="0" rtlCol="0" anchor="t">
            <a:spAutoFit/>
          </a:bodyPr>
          <a:lstStyle/>
          <a:p>
            <a:pPr algn="l">
              <a:lnSpc>
                <a:spcPts val="3045"/>
              </a:lnSpc>
            </a:pPr>
            <a:r>
              <a:rPr lang="en-US" sz="5400" b="1">
                <a:solidFill>
                  <a:schemeClr val="tx1">
                    <a:lumMod val="95000"/>
                    <a:lumOff val="5000"/>
                  </a:schemeClr>
                </a:solidFill>
                <a:latin typeface="Quicksand Bold"/>
                <a:ea typeface="Quicksand Bold"/>
                <a:cs typeface="Quicksand Bold"/>
                <a:sym typeface="Quicksand Bold"/>
              </a:rPr>
              <a:t>Team_15</a:t>
            </a:r>
            <a:endParaRPr lang="en-US" sz="5400" b="1">
              <a:solidFill>
                <a:schemeClr val="tx1">
                  <a:lumMod val="95000"/>
                  <a:lumOff val="5000"/>
                </a:schemeClr>
              </a:solidFill>
              <a:latin typeface="Quicksand Bold"/>
              <a:ea typeface="Quicksand Bold"/>
              <a:cs typeface="Quicksand Bold"/>
            </a:endParaRPr>
          </a:p>
        </p:txBody>
      </p:sp>
      <p:sp>
        <p:nvSpPr>
          <p:cNvPr id="17" name="Freeform 17"/>
          <p:cNvSpPr/>
          <p:nvPr/>
        </p:nvSpPr>
        <p:spPr>
          <a:xfrm flipH="1" flipV="1">
            <a:off x="1114445" y="818240"/>
            <a:ext cx="292636" cy="296651"/>
          </a:xfrm>
          <a:custGeom>
            <a:avLst/>
            <a:gdLst/>
            <a:ahLst/>
            <a:cxnLst/>
            <a:rect l="l" t="t" r="r" b="b"/>
            <a:pathLst>
              <a:path w="354062" h="289889">
                <a:moveTo>
                  <a:pt x="0" y="0"/>
                </a:moveTo>
                <a:lnTo>
                  <a:pt x="354062" y="0"/>
                </a:lnTo>
                <a:lnTo>
                  <a:pt x="354062" y="289888"/>
                </a:lnTo>
                <a:lnTo>
                  <a:pt x="0" y="28988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pic>
        <p:nvPicPr>
          <p:cNvPr id="19" name="Picture 18" descr="A computer chip with orange lights&#10;&#10;AI-generated content may be incorrect.">
            <a:extLst>
              <a:ext uri="{FF2B5EF4-FFF2-40B4-BE49-F238E27FC236}">
                <a16:creationId xmlns:a16="http://schemas.microsoft.com/office/drawing/2014/main" id="{CF8F9B18-58B9-A0BE-2E5F-2074396F9E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63200" y="975812"/>
            <a:ext cx="9753600" cy="802005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11"/>
          <p:cNvSpPr/>
          <p:nvPr/>
        </p:nvSpPr>
        <p:spPr>
          <a:xfrm rot="5400000">
            <a:off x="16399966" y="6264625"/>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12" name="TextBox 12"/>
          <p:cNvSpPr txBox="1"/>
          <p:nvPr/>
        </p:nvSpPr>
        <p:spPr>
          <a:xfrm rot="-5400000">
            <a:off x="17310518" y="8275412"/>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13" name="TextBox 13"/>
          <p:cNvSpPr txBox="1"/>
          <p:nvPr/>
        </p:nvSpPr>
        <p:spPr>
          <a:xfrm rot="-5400000">
            <a:off x="16161626" y="2739884"/>
            <a:ext cx="3231104" cy="272161"/>
          </a:xfrm>
          <a:prstGeom prst="rect">
            <a:avLst/>
          </a:prstGeom>
        </p:spPr>
        <p:txBody>
          <a:bodyPr lIns="0" tIns="0" rIns="0" bIns="0" rtlCol="0" anchor="t">
            <a:spAutoFit/>
          </a:bodyPr>
          <a:lstStyle/>
          <a:p>
            <a:pPr algn="ctr">
              <a:lnSpc>
                <a:spcPts val="2324"/>
              </a:lnSpc>
            </a:pPr>
            <a:r>
              <a:rPr lang="en-US" sz="1660">
                <a:solidFill>
                  <a:srgbClr val="FFFFFF"/>
                </a:solidFill>
                <a:latin typeface="Quicksand"/>
                <a:ea typeface="Quicksand"/>
                <a:cs typeface="Quicksand"/>
                <a:sym typeface="Quicksand"/>
              </a:rPr>
              <a:t>www.reallygreatsite.com </a:t>
            </a:r>
          </a:p>
        </p:txBody>
      </p:sp>
      <p:sp>
        <p:nvSpPr>
          <p:cNvPr id="14" name="Freeform 14"/>
          <p:cNvSpPr/>
          <p:nvPr/>
        </p:nvSpPr>
        <p:spPr>
          <a:xfrm>
            <a:off x="1116739" y="764505"/>
            <a:ext cx="207288" cy="169717"/>
          </a:xfrm>
          <a:custGeom>
            <a:avLst/>
            <a:gdLst/>
            <a:ahLst/>
            <a:cxnLst/>
            <a:rect l="l" t="t" r="r" b="b"/>
            <a:pathLst>
              <a:path w="207288" h="169717">
                <a:moveTo>
                  <a:pt x="0" y="0"/>
                </a:moveTo>
                <a:lnTo>
                  <a:pt x="207288" y="0"/>
                </a:lnTo>
                <a:lnTo>
                  <a:pt x="207288" y="169716"/>
                </a:lnTo>
                <a:lnTo>
                  <a:pt x="0" y="1697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5" name="Rectangle: Rounded Corners 14">
            <a:extLst>
              <a:ext uri="{FF2B5EF4-FFF2-40B4-BE49-F238E27FC236}">
                <a16:creationId xmlns:a16="http://schemas.microsoft.com/office/drawing/2014/main" id="{A169C52E-E37B-F9D7-7BE4-DA511E0FC8DC}"/>
              </a:ext>
            </a:extLst>
          </p:cNvPr>
          <p:cNvSpPr/>
          <p:nvPr/>
        </p:nvSpPr>
        <p:spPr>
          <a:xfrm>
            <a:off x="1572504" y="-128652"/>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7655CCDD-FE5D-AAED-D7B0-E88091A1A161}"/>
              </a:ext>
            </a:extLst>
          </p:cNvPr>
          <p:cNvSpPr txBox="1"/>
          <p:nvPr/>
        </p:nvSpPr>
        <p:spPr>
          <a:xfrm>
            <a:off x="6853794" y="306212"/>
            <a:ext cx="4572000" cy="923330"/>
          </a:xfrm>
          <a:prstGeom prst="rect">
            <a:avLst/>
          </a:prstGeom>
          <a:noFill/>
        </p:spPr>
        <p:txBody>
          <a:bodyPr wrap="square" rtlCol="0">
            <a:spAutoFit/>
          </a:bodyPr>
          <a:lstStyle/>
          <a:p>
            <a:r>
              <a:rPr lang="en-US" sz="5400">
                <a:solidFill>
                  <a:schemeClr val="bg1"/>
                </a:solidFill>
              </a:rPr>
              <a:t>Introduction</a:t>
            </a:r>
            <a:endParaRPr lang="en-IN" sz="5400">
              <a:solidFill>
                <a:schemeClr val="bg1"/>
              </a:solidFill>
            </a:endParaRPr>
          </a:p>
        </p:txBody>
      </p:sp>
      <p:pic>
        <p:nvPicPr>
          <p:cNvPr id="4" name="Picture 3" descr="A diagram of a diagram&#10;&#10;AI-generated content may be incorrect.">
            <a:extLst>
              <a:ext uri="{FF2B5EF4-FFF2-40B4-BE49-F238E27FC236}">
                <a16:creationId xmlns:a16="http://schemas.microsoft.com/office/drawing/2014/main" id="{C4764165-1884-3DC7-31DB-088471869D08}"/>
              </a:ext>
            </a:extLst>
          </p:cNvPr>
          <p:cNvPicPr>
            <a:picLocks noChangeAspect="1"/>
          </p:cNvPicPr>
          <p:nvPr/>
        </p:nvPicPr>
        <p:blipFill>
          <a:blip r:embed="rId4"/>
          <a:stretch>
            <a:fillRect/>
          </a:stretch>
        </p:blipFill>
        <p:spPr>
          <a:xfrm>
            <a:off x="12286958" y="3071459"/>
            <a:ext cx="4800600" cy="2419350"/>
          </a:xfrm>
          <a:prstGeom prst="rect">
            <a:avLst/>
          </a:prstGeom>
        </p:spPr>
      </p:pic>
      <p:sp>
        <p:nvSpPr>
          <p:cNvPr id="3" name="TextBox 2">
            <a:extLst>
              <a:ext uri="{FF2B5EF4-FFF2-40B4-BE49-F238E27FC236}">
                <a16:creationId xmlns:a16="http://schemas.microsoft.com/office/drawing/2014/main" id="{337D84AF-B359-C64E-485F-B9663A932BB2}"/>
              </a:ext>
            </a:extLst>
          </p:cNvPr>
          <p:cNvSpPr txBox="1"/>
          <p:nvPr/>
        </p:nvSpPr>
        <p:spPr>
          <a:xfrm>
            <a:off x="1576132" y="6153492"/>
            <a:ext cx="13110882"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gn="just">
              <a:buFont typeface=""/>
              <a:buChar char="•"/>
            </a:pPr>
            <a:r>
              <a:rPr lang="en-US" sz="2800">
                <a:latin typeface="Calibri"/>
                <a:ea typeface="Calibri"/>
                <a:cs typeface="Calibri"/>
              </a:rPr>
              <a:t>In order to obtain higher conversion accuracy, ADC will also develop towards higher performance and higher resolution. Due to the limitations of chip technology, the con version accuracy of integral ADC, successive approximation ADC, parallel comparison ADC, and capacitor array successive comparison, ADC has reached the bottleneck and cannot be further improved [9]. The Sigma-Delta ADC can conquer the limitations of chip technology due to over-sampling technology and noise shaping technology, which makes </a:t>
            </a:r>
            <a:r>
              <a:rPr lang="en-US" sz="2800" err="1">
                <a:latin typeface="Calibri"/>
                <a:ea typeface="Calibri"/>
                <a:cs typeface="Calibri"/>
              </a:rPr>
              <a:t>ADCaccuracy</a:t>
            </a:r>
            <a:r>
              <a:rPr lang="en-US" sz="2800">
                <a:latin typeface="Calibri"/>
                <a:ea typeface="Calibri"/>
                <a:cs typeface="Calibri"/>
              </a:rPr>
              <a:t> and performance more improved</a:t>
            </a:r>
            <a:endParaRPr lang="en-US"/>
          </a:p>
          <a:p>
            <a:pPr algn="ctr"/>
            <a:endParaRPr lang="en-US" sz="2800">
              <a:ea typeface="Calibri"/>
              <a:cs typeface="Calibri"/>
            </a:endParaRPr>
          </a:p>
        </p:txBody>
      </p:sp>
      <p:sp>
        <p:nvSpPr>
          <p:cNvPr id="6" name="TextBox 5">
            <a:extLst>
              <a:ext uri="{FF2B5EF4-FFF2-40B4-BE49-F238E27FC236}">
                <a16:creationId xmlns:a16="http://schemas.microsoft.com/office/drawing/2014/main" id="{67B34AC3-C053-17F1-5EB8-8505AA4E4FAC}"/>
              </a:ext>
            </a:extLst>
          </p:cNvPr>
          <p:cNvSpPr txBox="1"/>
          <p:nvPr/>
        </p:nvSpPr>
        <p:spPr>
          <a:xfrm>
            <a:off x="1575672" y="2292528"/>
            <a:ext cx="9144000"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800">
              <a:ea typeface="Calibri"/>
              <a:cs typeface="Calibri"/>
            </a:endParaRPr>
          </a:p>
          <a:p>
            <a:pPr marL="228600" indent="-228600" algn="just">
              <a:buFont typeface=""/>
              <a:buChar char="•"/>
            </a:pPr>
            <a:r>
              <a:rPr lang="en-US" sz="2800">
                <a:solidFill>
                  <a:srgbClr val="222222"/>
                </a:solidFill>
                <a:latin typeface="Calibri"/>
                <a:ea typeface="Arial"/>
                <a:cs typeface="Arial"/>
              </a:rPr>
              <a:t>The accuracy is mainly determined by the Sigma-Delta modulator, and the area and power consumption are mainly determined by the digital decimation filter</a:t>
            </a:r>
          </a:p>
          <a:p>
            <a:endParaRPr lang="en-US" sz="2800">
              <a:ea typeface="Calibri"/>
              <a:cs typeface="Calibri"/>
            </a:endParaRPr>
          </a:p>
          <a:p>
            <a:pPr marL="228600" indent="-228600" algn="just">
              <a:buFont typeface=""/>
              <a:buChar char="•"/>
            </a:pPr>
            <a:r>
              <a:rPr lang="en-US" sz="2800">
                <a:solidFill>
                  <a:srgbClr val="222222"/>
                </a:solidFill>
                <a:latin typeface="Calibri"/>
                <a:ea typeface="Arial"/>
                <a:cs typeface="Arial"/>
              </a:rPr>
              <a:t>Because the high-speed and low resolution digital signals generated by the Sigma-Delta modulator contain a lot of quantization noise </a:t>
            </a:r>
          </a:p>
          <a:p>
            <a:pPr algn="ctr"/>
            <a:endParaRPr lang="en-US" sz="2800">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A79D0-2E00-55CA-5E3D-8ACCC0FF8BE4}"/>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DE67714-92C8-3D00-60A0-7E94AA7994E5}"/>
              </a:ext>
            </a:extLst>
          </p:cNvPr>
          <p:cNvSpPr/>
          <p:nvPr/>
        </p:nvSpPr>
        <p:spPr>
          <a:xfrm>
            <a:off x="1572504" y="-128652"/>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utoShape 11">
            <a:extLst>
              <a:ext uri="{FF2B5EF4-FFF2-40B4-BE49-F238E27FC236}">
                <a16:creationId xmlns:a16="http://schemas.microsoft.com/office/drawing/2014/main" id="{B984C8BB-16A7-A077-DFF9-AB965D1C7CE1}"/>
              </a:ext>
            </a:extLst>
          </p:cNvPr>
          <p:cNvSpPr/>
          <p:nvPr/>
        </p:nvSpPr>
        <p:spPr>
          <a:xfrm rot="5400000">
            <a:off x="16399966" y="6264625"/>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12" name="TextBox 12">
            <a:extLst>
              <a:ext uri="{FF2B5EF4-FFF2-40B4-BE49-F238E27FC236}">
                <a16:creationId xmlns:a16="http://schemas.microsoft.com/office/drawing/2014/main" id="{733F5CE1-CC87-7A61-F3EF-914BBA523D84}"/>
              </a:ext>
            </a:extLst>
          </p:cNvPr>
          <p:cNvSpPr txBox="1"/>
          <p:nvPr/>
        </p:nvSpPr>
        <p:spPr>
          <a:xfrm rot="-5400000">
            <a:off x="17310518" y="8275412"/>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13" name="TextBox 13">
            <a:extLst>
              <a:ext uri="{FF2B5EF4-FFF2-40B4-BE49-F238E27FC236}">
                <a16:creationId xmlns:a16="http://schemas.microsoft.com/office/drawing/2014/main" id="{4989C93F-08CF-D736-68F4-0F081FDDD6A3}"/>
              </a:ext>
            </a:extLst>
          </p:cNvPr>
          <p:cNvSpPr txBox="1"/>
          <p:nvPr/>
        </p:nvSpPr>
        <p:spPr>
          <a:xfrm rot="-5400000">
            <a:off x="16161626" y="2739884"/>
            <a:ext cx="3231104" cy="272161"/>
          </a:xfrm>
          <a:prstGeom prst="rect">
            <a:avLst/>
          </a:prstGeom>
        </p:spPr>
        <p:txBody>
          <a:bodyPr lIns="0" tIns="0" rIns="0" bIns="0" rtlCol="0" anchor="t">
            <a:spAutoFit/>
          </a:bodyPr>
          <a:lstStyle/>
          <a:p>
            <a:pPr algn="ctr">
              <a:lnSpc>
                <a:spcPts val="2324"/>
              </a:lnSpc>
            </a:pPr>
            <a:r>
              <a:rPr lang="en-US" sz="1660">
                <a:solidFill>
                  <a:srgbClr val="FFFFFF"/>
                </a:solidFill>
                <a:latin typeface="Quicksand"/>
                <a:ea typeface="Quicksand"/>
                <a:cs typeface="Quicksand"/>
                <a:sym typeface="Quicksand"/>
              </a:rPr>
              <a:t>www.reallygreatsite.com </a:t>
            </a:r>
          </a:p>
        </p:txBody>
      </p:sp>
      <p:sp>
        <p:nvSpPr>
          <p:cNvPr id="14" name="Freeform 14">
            <a:extLst>
              <a:ext uri="{FF2B5EF4-FFF2-40B4-BE49-F238E27FC236}">
                <a16:creationId xmlns:a16="http://schemas.microsoft.com/office/drawing/2014/main" id="{B100AFD7-DB4C-4B2E-72FE-0B87BE5D8314}"/>
              </a:ext>
            </a:extLst>
          </p:cNvPr>
          <p:cNvSpPr/>
          <p:nvPr/>
        </p:nvSpPr>
        <p:spPr>
          <a:xfrm>
            <a:off x="1116739" y="764505"/>
            <a:ext cx="207288" cy="169717"/>
          </a:xfrm>
          <a:custGeom>
            <a:avLst/>
            <a:gdLst/>
            <a:ahLst/>
            <a:cxnLst/>
            <a:rect l="l" t="t" r="r" b="b"/>
            <a:pathLst>
              <a:path w="207288" h="169717">
                <a:moveTo>
                  <a:pt x="0" y="0"/>
                </a:moveTo>
                <a:lnTo>
                  <a:pt x="207288" y="0"/>
                </a:lnTo>
                <a:lnTo>
                  <a:pt x="207288" y="169716"/>
                </a:lnTo>
                <a:lnTo>
                  <a:pt x="0" y="1697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TextBox 15">
            <a:extLst>
              <a:ext uri="{FF2B5EF4-FFF2-40B4-BE49-F238E27FC236}">
                <a16:creationId xmlns:a16="http://schemas.microsoft.com/office/drawing/2014/main" id="{59009E10-6486-F321-B67C-937B1CE6F6D4}"/>
              </a:ext>
            </a:extLst>
          </p:cNvPr>
          <p:cNvSpPr txBox="1"/>
          <p:nvPr/>
        </p:nvSpPr>
        <p:spPr>
          <a:xfrm>
            <a:off x="6138738" y="296017"/>
            <a:ext cx="5996835" cy="923330"/>
          </a:xfrm>
          <a:prstGeom prst="rect">
            <a:avLst/>
          </a:prstGeom>
          <a:noFill/>
        </p:spPr>
        <p:txBody>
          <a:bodyPr wrap="square" lIns="91440" tIns="45720" rIns="91440" bIns="45720" rtlCol="0" anchor="t">
            <a:spAutoFit/>
          </a:bodyPr>
          <a:lstStyle/>
          <a:p>
            <a:r>
              <a:rPr lang="en-US" sz="5400">
                <a:solidFill>
                  <a:schemeClr val="bg1"/>
                </a:solidFill>
                <a:ea typeface="Calibri"/>
                <a:cs typeface="Calibri"/>
              </a:rPr>
              <a:t>Looking Into DSM</a:t>
            </a:r>
          </a:p>
        </p:txBody>
      </p:sp>
      <p:pic>
        <p:nvPicPr>
          <p:cNvPr id="3" name="Picture 2" descr="A diagram of a cylinder&#10;&#10;AI-generated content may be incorrect.">
            <a:extLst>
              <a:ext uri="{FF2B5EF4-FFF2-40B4-BE49-F238E27FC236}">
                <a16:creationId xmlns:a16="http://schemas.microsoft.com/office/drawing/2014/main" id="{FC242409-FBEE-686F-B1BF-65AF9C05E199}"/>
              </a:ext>
            </a:extLst>
          </p:cNvPr>
          <p:cNvPicPr>
            <a:picLocks noChangeAspect="1"/>
          </p:cNvPicPr>
          <p:nvPr/>
        </p:nvPicPr>
        <p:blipFill>
          <a:blip r:embed="rId4"/>
          <a:stretch>
            <a:fillRect/>
          </a:stretch>
        </p:blipFill>
        <p:spPr>
          <a:xfrm>
            <a:off x="10631466" y="2567835"/>
            <a:ext cx="6858000" cy="7124179"/>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7" name="TextBox 6">
            <a:extLst>
              <a:ext uri="{FF2B5EF4-FFF2-40B4-BE49-F238E27FC236}">
                <a16:creationId xmlns:a16="http://schemas.microsoft.com/office/drawing/2014/main" id="{46FA2D60-9784-82BE-C8AC-0407F9FC173F}"/>
              </a:ext>
            </a:extLst>
          </p:cNvPr>
          <p:cNvSpPr txBox="1"/>
          <p:nvPr/>
        </p:nvSpPr>
        <p:spPr>
          <a:xfrm>
            <a:off x="751743" y="4237892"/>
            <a:ext cx="7631721"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0">
                <a:ea typeface="Calibri"/>
                <a:cs typeface="Calibri"/>
              </a:rPr>
              <a:t>Case 1: </a:t>
            </a:r>
            <a:endParaRPr lang="en-US"/>
          </a:p>
          <a:p>
            <a:r>
              <a:rPr lang="en-US" sz="8000">
                <a:ea typeface="Calibri"/>
                <a:cs typeface="Calibri"/>
              </a:rPr>
              <a:t>Without Noise</a:t>
            </a:r>
            <a:endParaRPr lang="en-US"/>
          </a:p>
        </p:txBody>
      </p:sp>
    </p:spTree>
    <p:extLst>
      <p:ext uri="{BB962C8B-B14F-4D97-AF65-F5344CB8AC3E}">
        <p14:creationId xmlns:p14="http://schemas.microsoft.com/office/powerpoint/2010/main" val="184225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E3FC3-41F1-5A85-E75D-358E895D4C3D}"/>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83E79C1-B438-22C0-3673-CAE04B70B173}"/>
              </a:ext>
            </a:extLst>
          </p:cNvPr>
          <p:cNvSpPr/>
          <p:nvPr/>
        </p:nvSpPr>
        <p:spPr>
          <a:xfrm>
            <a:off x="1572504" y="-128652"/>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utoShape 11">
            <a:extLst>
              <a:ext uri="{FF2B5EF4-FFF2-40B4-BE49-F238E27FC236}">
                <a16:creationId xmlns:a16="http://schemas.microsoft.com/office/drawing/2014/main" id="{1CDEB9FC-CF65-4EF2-9552-D5169E1FF8E1}"/>
              </a:ext>
            </a:extLst>
          </p:cNvPr>
          <p:cNvSpPr/>
          <p:nvPr/>
        </p:nvSpPr>
        <p:spPr>
          <a:xfrm rot="5400000">
            <a:off x="16399966" y="6264625"/>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12" name="TextBox 12">
            <a:extLst>
              <a:ext uri="{FF2B5EF4-FFF2-40B4-BE49-F238E27FC236}">
                <a16:creationId xmlns:a16="http://schemas.microsoft.com/office/drawing/2014/main" id="{34FC8F43-405F-337E-01E1-2E1350755829}"/>
              </a:ext>
            </a:extLst>
          </p:cNvPr>
          <p:cNvSpPr txBox="1"/>
          <p:nvPr/>
        </p:nvSpPr>
        <p:spPr>
          <a:xfrm rot="-5400000">
            <a:off x="17310518" y="8275412"/>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13" name="TextBox 13">
            <a:extLst>
              <a:ext uri="{FF2B5EF4-FFF2-40B4-BE49-F238E27FC236}">
                <a16:creationId xmlns:a16="http://schemas.microsoft.com/office/drawing/2014/main" id="{EA05B25C-DFD5-FAA5-CA06-E9CDC68A0AAF}"/>
              </a:ext>
            </a:extLst>
          </p:cNvPr>
          <p:cNvSpPr txBox="1"/>
          <p:nvPr/>
        </p:nvSpPr>
        <p:spPr>
          <a:xfrm rot="-5400000">
            <a:off x="16161626" y="2739884"/>
            <a:ext cx="3231104" cy="272161"/>
          </a:xfrm>
          <a:prstGeom prst="rect">
            <a:avLst/>
          </a:prstGeom>
        </p:spPr>
        <p:txBody>
          <a:bodyPr lIns="0" tIns="0" rIns="0" bIns="0" rtlCol="0" anchor="t">
            <a:spAutoFit/>
          </a:bodyPr>
          <a:lstStyle/>
          <a:p>
            <a:pPr algn="ctr">
              <a:lnSpc>
                <a:spcPts val="2324"/>
              </a:lnSpc>
            </a:pPr>
            <a:r>
              <a:rPr lang="en-US" sz="1660">
                <a:solidFill>
                  <a:srgbClr val="FFFFFF"/>
                </a:solidFill>
                <a:latin typeface="Quicksand"/>
                <a:ea typeface="Quicksand"/>
                <a:cs typeface="Quicksand"/>
                <a:sym typeface="Quicksand"/>
              </a:rPr>
              <a:t>www.reallygreatsite.com </a:t>
            </a:r>
          </a:p>
        </p:txBody>
      </p:sp>
      <p:sp>
        <p:nvSpPr>
          <p:cNvPr id="14" name="Freeform 14">
            <a:extLst>
              <a:ext uri="{FF2B5EF4-FFF2-40B4-BE49-F238E27FC236}">
                <a16:creationId xmlns:a16="http://schemas.microsoft.com/office/drawing/2014/main" id="{09EB71A4-7555-1ADF-2CD6-DFD4F60E7811}"/>
              </a:ext>
            </a:extLst>
          </p:cNvPr>
          <p:cNvSpPr/>
          <p:nvPr/>
        </p:nvSpPr>
        <p:spPr>
          <a:xfrm>
            <a:off x="1116739" y="764505"/>
            <a:ext cx="207288" cy="169717"/>
          </a:xfrm>
          <a:custGeom>
            <a:avLst/>
            <a:gdLst/>
            <a:ahLst/>
            <a:cxnLst/>
            <a:rect l="l" t="t" r="r" b="b"/>
            <a:pathLst>
              <a:path w="207288" h="169717">
                <a:moveTo>
                  <a:pt x="0" y="0"/>
                </a:moveTo>
                <a:lnTo>
                  <a:pt x="207288" y="0"/>
                </a:lnTo>
                <a:lnTo>
                  <a:pt x="207288" y="169716"/>
                </a:lnTo>
                <a:lnTo>
                  <a:pt x="0" y="1697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TextBox 15">
            <a:extLst>
              <a:ext uri="{FF2B5EF4-FFF2-40B4-BE49-F238E27FC236}">
                <a16:creationId xmlns:a16="http://schemas.microsoft.com/office/drawing/2014/main" id="{EF97FB28-9BF2-CB2A-2099-0DFFFD7100B5}"/>
              </a:ext>
            </a:extLst>
          </p:cNvPr>
          <p:cNvSpPr txBox="1"/>
          <p:nvPr/>
        </p:nvSpPr>
        <p:spPr>
          <a:xfrm>
            <a:off x="6271932" y="323251"/>
            <a:ext cx="5996835" cy="923330"/>
          </a:xfrm>
          <a:prstGeom prst="rect">
            <a:avLst/>
          </a:prstGeom>
          <a:noFill/>
        </p:spPr>
        <p:txBody>
          <a:bodyPr wrap="square" lIns="91440" tIns="45720" rIns="91440" bIns="45720" rtlCol="0" anchor="t">
            <a:spAutoFit/>
          </a:bodyPr>
          <a:lstStyle/>
          <a:p>
            <a:r>
              <a:rPr lang="en-US" sz="5400">
                <a:solidFill>
                  <a:schemeClr val="bg1"/>
                </a:solidFill>
                <a:ea typeface="Calibri"/>
                <a:cs typeface="Calibri"/>
              </a:rPr>
              <a:t>Looking Into DSM</a:t>
            </a:r>
          </a:p>
        </p:txBody>
      </p:sp>
      <p:sp>
        <p:nvSpPr>
          <p:cNvPr id="7" name="TextBox 6">
            <a:extLst>
              <a:ext uri="{FF2B5EF4-FFF2-40B4-BE49-F238E27FC236}">
                <a16:creationId xmlns:a16="http://schemas.microsoft.com/office/drawing/2014/main" id="{C6D136C2-2E3C-5CFC-D7A5-F24A3944CA3B}"/>
              </a:ext>
            </a:extLst>
          </p:cNvPr>
          <p:cNvSpPr txBox="1"/>
          <p:nvPr/>
        </p:nvSpPr>
        <p:spPr>
          <a:xfrm>
            <a:off x="751743" y="4237892"/>
            <a:ext cx="7631721"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0">
                <a:ea typeface="Calibri"/>
                <a:cs typeface="Calibri"/>
              </a:rPr>
              <a:t>Case 2: </a:t>
            </a:r>
            <a:endParaRPr lang="en-US"/>
          </a:p>
          <a:p>
            <a:r>
              <a:rPr lang="en-US" sz="8000">
                <a:ea typeface="Calibri"/>
                <a:cs typeface="Calibri"/>
              </a:rPr>
              <a:t>With Noise</a:t>
            </a:r>
            <a:endParaRPr lang="en-US"/>
          </a:p>
        </p:txBody>
      </p:sp>
      <p:pic>
        <p:nvPicPr>
          <p:cNvPr id="2" name="Picture 1" descr="A diagram of a water and noise&#10;&#10;AI-generated content may be incorrect.">
            <a:extLst>
              <a:ext uri="{FF2B5EF4-FFF2-40B4-BE49-F238E27FC236}">
                <a16:creationId xmlns:a16="http://schemas.microsoft.com/office/drawing/2014/main" id="{DAF1C8F5-F17A-1A61-C877-CBBC4F22FD60}"/>
              </a:ext>
            </a:extLst>
          </p:cNvPr>
          <p:cNvPicPr>
            <a:picLocks noChangeAspect="1"/>
          </p:cNvPicPr>
          <p:nvPr/>
        </p:nvPicPr>
        <p:blipFill>
          <a:blip r:embed="rId4"/>
          <a:stretch>
            <a:fillRect/>
          </a:stretch>
        </p:blipFill>
        <p:spPr>
          <a:xfrm>
            <a:off x="11335850" y="3092328"/>
            <a:ext cx="4760301" cy="5491528"/>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3960022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DDD78-9622-3A63-45ED-8D51967B4142}"/>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CD08EE11-792E-0EDE-CC5C-A42C2786FC1A}"/>
              </a:ext>
            </a:extLst>
          </p:cNvPr>
          <p:cNvSpPr/>
          <p:nvPr/>
        </p:nvSpPr>
        <p:spPr>
          <a:xfrm>
            <a:off x="1572504" y="-128652"/>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utoShape 11">
            <a:extLst>
              <a:ext uri="{FF2B5EF4-FFF2-40B4-BE49-F238E27FC236}">
                <a16:creationId xmlns:a16="http://schemas.microsoft.com/office/drawing/2014/main" id="{03360D41-A228-BE3E-DE59-524517C6861B}"/>
              </a:ext>
            </a:extLst>
          </p:cNvPr>
          <p:cNvSpPr/>
          <p:nvPr/>
        </p:nvSpPr>
        <p:spPr>
          <a:xfrm rot="5400000">
            <a:off x="16399966" y="6264625"/>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12" name="TextBox 12">
            <a:extLst>
              <a:ext uri="{FF2B5EF4-FFF2-40B4-BE49-F238E27FC236}">
                <a16:creationId xmlns:a16="http://schemas.microsoft.com/office/drawing/2014/main" id="{F4443E06-0B3F-35A5-0E66-4E288DFC91F0}"/>
              </a:ext>
            </a:extLst>
          </p:cNvPr>
          <p:cNvSpPr txBox="1"/>
          <p:nvPr/>
        </p:nvSpPr>
        <p:spPr>
          <a:xfrm rot="-5400000">
            <a:off x="17310518" y="8275412"/>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13" name="TextBox 13">
            <a:extLst>
              <a:ext uri="{FF2B5EF4-FFF2-40B4-BE49-F238E27FC236}">
                <a16:creationId xmlns:a16="http://schemas.microsoft.com/office/drawing/2014/main" id="{26EB6198-F3B1-F53D-A435-7E9B6D2C385B}"/>
              </a:ext>
            </a:extLst>
          </p:cNvPr>
          <p:cNvSpPr txBox="1"/>
          <p:nvPr/>
        </p:nvSpPr>
        <p:spPr>
          <a:xfrm rot="-5400000">
            <a:off x="16161626" y="2739884"/>
            <a:ext cx="3231104" cy="272161"/>
          </a:xfrm>
          <a:prstGeom prst="rect">
            <a:avLst/>
          </a:prstGeom>
        </p:spPr>
        <p:txBody>
          <a:bodyPr lIns="0" tIns="0" rIns="0" bIns="0" rtlCol="0" anchor="t">
            <a:spAutoFit/>
          </a:bodyPr>
          <a:lstStyle/>
          <a:p>
            <a:pPr algn="ctr">
              <a:lnSpc>
                <a:spcPts val="2324"/>
              </a:lnSpc>
            </a:pPr>
            <a:r>
              <a:rPr lang="en-US" sz="1660">
                <a:solidFill>
                  <a:srgbClr val="FFFFFF"/>
                </a:solidFill>
                <a:latin typeface="Quicksand"/>
                <a:ea typeface="Quicksand"/>
                <a:cs typeface="Quicksand"/>
                <a:sym typeface="Quicksand"/>
              </a:rPr>
              <a:t>www.reallygreatsite.com </a:t>
            </a:r>
          </a:p>
        </p:txBody>
      </p:sp>
      <p:sp>
        <p:nvSpPr>
          <p:cNvPr id="14" name="Freeform 14">
            <a:extLst>
              <a:ext uri="{FF2B5EF4-FFF2-40B4-BE49-F238E27FC236}">
                <a16:creationId xmlns:a16="http://schemas.microsoft.com/office/drawing/2014/main" id="{56836D03-0342-1FC8-B43E-B062E095152F}"/>
              </a:ext>
            </a:extLst>
          </p:cNvPr>
          <p:cNvSpPr/>
          <p:nvPr/>
        </p:nvSpPr>
        <p:spPr>
          <a:xfrm>
            <a:off x="1116739" y="764505"/>
            <a:ext cx="207288" cy="169717"/>
          </a:xfrm>
          <a:custGeom>
            <a:avLst/>
            <a:gdLst/>
            <a:ahLst/>
            <a:cxnLst/>
            <a:rect l="l" t="t" r="r" b="b"/>
            <a:pathLst>
              <a:path w="207288" h="169717">
                <a:moveTo>
                  <a:pt x="0" y="0"/>
                </a:moveTo>
                <a:lnTo>
                  <a:pt x="207288" y="0"/>
                </a:lnTo>
                <a:lnTo>
                  <a:pt x="207288" y="169716"/>
                </a:lnTo>
                <a:lnTo>
                  <a:pt x="0" y="1697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TextBox 15">
            <a:extLst>
              <a:ext uri="{FF2B5EF4-FFF2-40B4-BE49-F238E27FC236}">
                <a16:creationId xmlns:a16="http://schemas.microsoft.com/office/drawing/2014/main" id="{0067CD21-9584-B8C8-4AE8-33868B2C90EE}"/>
              </a:ext>
            </a:extLst>
          </p:cNvPr>
          <p:cNvSpPr txBox="1"/>
          <p:nvPr/>
        </p:nvSpPr>
        <p:spPr>
          <a:xfrm>
            <a:off x="6143367" y="331883"/>
            <a:ext cx="5996835" cy="923330"/>
          </a:xfrm>
          <a:prstGeom prst="rect">
            <a:avLst/>
          </a:prstGeom>
          <a:noFill/>
        </p:spPr>
        <p:txBody>
          <a:bodyPr wrap="square" lIns="91440" tIns="45720" rIns="91440" bIns="45720" rtlCol="0" anchor="t">
            <a:spAutoFit/>
          </a:bodyPr>
          <a:lstStyle/>
          <a:p>
            <a:r>
              <a:rPr lang="en-US" sz="5400">
                <a:solidFill>
                  <a:schemeClr val="bg1"/>
                </a:solidFill>
                <a:ea typeface="Calibri"/>
                <a:cs typeface="Calibri"/>
              </a:rPr>
              <a:t>Looking Into DSM</a:t>
            </a:r>
          </a:p>
        </p:txBody>
      </p:sp>
      <p:pic>
        <p:nvPicPr>
          <p:cNvPr id="5" name="Picture 4">
            <a:extLst>
              <a:ext uri="{FF2B5EF4-FFF2-40B4-BE49-F238E27FC236}">
                <a16:creationId xmlns:a16="http://schemas.microsoft.com/office/drawing/2014/main" id="{F58EEE0F-798A-F719-76A7-D29AAEA378FF}"/>
              </a:ext>
            </a:extLst>
          </p:cNvPr>
          <p:cNvPicPr>
            <a:picLocks noChangeAspect="1"/>
          </p:cNvPicPr>
          <p:nvPr/>
        </p:nvPicPr>
        <p:blipFill>
          <a:blip r:embed="rId4"/>
          <a:stretch>
            <a:fillRect/>
          </a:stretch>
        </p:blipFill>
        <p:spPr>
          <a:xfrm>
            <a:off x="3400294" y="2132033"/>
            <a:ext cx="11467579" cy="7718122"/>
          </a:xfrm>
          <a:prstGeom prst="rect">
            <a:avLst/>
          </a:prstGeom>
        </p:spPr>
      </p:pic>
    </p:spTree>
    <p:extLst>
      <p:ext uri="{BB962C8B-B14F-4D97-AF65-F5344CB8AC3E}">
        <p14:creationId xmlns:p14="http://schemas.microsoft.com/office/powerpoint/2010/main" val="3160305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FD4B1-96EF-145C-50D7-B54A62340835}"/>
            </a:ext>
          </a:extLst>
        </p:cNvPr>
        <p:cNvGrpSpPr/>
        <p:nvPr/>
      </p:nvGrpSpPr>
      <p:grpSpPr>
        <a:xfrm>
          <a:off x="0" y="0"/>
          <a:ext cx="0" cy="0"/>
          <a:chOff x="0" y="0"/>
          <a:chExt cx="0" cy="0"/>
        </a:xfrm>
      </p:grpSpPr>
      <p:sp>
        <p:nvSpPr>
          <p:cNvPr id="11" name="AutoShape 11">
            <a:extLst>
              <a:ext uri="{FF2B5EF4-FFF2-40B4-BE49-F238E27FC236}">
                <a16:creationId xmlns:a16="http://schemas.microsoft.com/office/drawing/2014/main" id="{277500E9-2DB5-150C-44A5-5666EADE1C8E}"/>
              </a:ext>
            </a:extLst>
          </p:cNvPr>
          <p:cNvSpPr/>
          <p:nvPr/>
        </p:nvSpPr>
        <p:spPr>
          <a:xfrm rot="5400000">
            <a:off x="16399966" y="6264625"/>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12" name="TextBox 12">
            <a:extLst>
              <a:ext uri="{FF2B5EF4-FFF2-40B4-BE49-F238E27FC236}">
                <a16:creationId xmlns:a16="http://schemas.microsoft.com/office/drawing/2014/main" id="{3FFCF36E-2796-FEA0-A7D5-97D7C19E3772}"/>
              </a:ext>
            </a:extLst>
          </p:cNvPr>
          <p:cNvSpPr txBox="1"/>
          <p:nvPr/>
        </p:nvSpPr>
        <p:spPr>
          <a:xfrm rot="-5400000">
            <a:off x="17310518" y="8275412"/>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13" name="TextBox 13">
            <a:extLst>
              <a:ext uri="{FF2B5EF4-FFF2-40B4-BE49-F238E27FC236}">
                <a16:creationId xmlns:a16="http://schemas.microsoft.com/office/drawing/2014/main" id="{37EFE104-48BC-D8C6-BFA5-3404F95DE3A0}"/>
              </a:ext>
            </a:extLst>
          </p:cNvPr>
          <p:cNvSpPr txBox="1"/>
          <p:nvPr/>
        </p:nvSpPr>
        <p:spPr>
          <a:xfrm rot="-5400000">
            <a:off x="16161626" y="2739884"/>
            <a:ext cx="3231104" cy="272161"/>
          </a:xfrm>
          <a:prstGeom prst="rect">
            <a:avLst/>
          </a:prstGeom>
        </p:spPr>
        <p:txBody>
          <a:bodyPr lIns="0" tIns="0" rIns="0" bIns="0" rtlCol="0" anchor="t">
            <a:spAutoFit/>
          </a:bodyPr>
          <a:lstStyle/>
          <a:p>
            <a:pPr algn="ctr">
              <a:lnSpc>
                <a:spcPts val="2324"/>
              </a:lnSpc>
            </a:pPr>
            <a:r>
              <a:rPr lang="en-US" sz="1660">
                <a:solidFill>
                  <a:srgbClr val="FFFFFF"/>
                </a:solidFill>
                <a:latin typeface="Quicksand"/>
                <a:ea typeface="Quicksand"/>
                <a:cs typeface="Quicksand"/>
                <a:sym typeface="Quicksand"/>
              </a:rPr>
              <a:t>www.reallygreatsite.com </a:t>
            </a:r>
          </a:p>
        </p:txBody>
      </p:sp>
      <p:sp>
        <p:nvSpPr>
          <p:cNvPr id="14" name="Freeform 14">
            <a:extLst>
              <a:ext uri="{FF2B5EF4-FFF2-40B4-BE49-F238E27FC236}">
                <a16:creationId xmlns:a16="http://schemas.microsoft.com/office/drawing/2014/main" id="{6D1910FA-209C-B1E1-EE82-6524B11403D0}"/>
              </a:ext>
            </a:extLst>
          </p:cNvPr>
          <p:cNvSpPr/>
          <p:nvPr/>
        </p:nvSpPr>
        <p:spPr>
          <a:xfrm>
            <a:off x="1116739" y="764505"/>
            <a:ext cx="207288" cy="169717"/>
          </a:xfrm>
          <a:custGeom>
            <a:avLst/>
            <a:gdLst/>
            <a:ahLst/>
            <a:cxnLst/>
            <a:rect l="l" t="t" r="r" b="b"/>
            <a:pathLst>
              <a:path w="207288" h="169717">
                <a:moveTo>
                  <a:pt x="0" y="0"/>
                </a:moveTo>
                <a:lnTo>
                  <a:pt x="207288" y="0"/>
                </a:lnTo>
                <a:lnTo>
                  <a:pt x="207288" y="169716"/>
                </a:lnTo>
                <a:lnTo>
                  <a:pt x="0" y="1697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5" name="Rectangle: Rounded Corners 14">
            <a:extLst>
              <a:ext uri="{FF2B5EF4-FFF2-40B4-BE49-F238E27FC236}">
                <a16:creationId xmlns:a16="http://schemas.microsoft.com/office/drawing/2014/main" id="{EA867E00-C6A9-1AD4-170F-40D5971ADEC2}"/>
              </a:ext>
            </a:extLst>
          </p:cNvPr>
          <p:cNvSpPr/>
          <p:nvPr/>
        </p:nvSpPr>
        <p:spPr>
          <a:xfrm>
            <a:off x="1689015" y="-112994"/>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C73B3A54-65DA-3DBD-CC0B-9759E6D0FCED}"/>
              </a:ext>
            </a:extLst>
          </p:cNvPr>
          <p:cNvSpPr txBox="1"/>
          <p:nvPr/>
        </p:nvSpPr>
        <p:spPr>
          <a:xfrm>
            <a:off x="3760512" y="390486"/>
            <a:ext cx="11617888" cy="923330"/>
          </a:xfrm>
          <a:prstGeom prst="rect">
            <a:avLst/>
          </a:prstGeom>
          <a:noFill/>
        </p:spPr>
        <p:txBody>
          <a:bodyPr wrap="square" lIns="91440" tIns="45720" rIns="91440" bIns="45720" rtlCol="0" anchor="t">
            <a:spAutoFit/>
          </a:bodyPr>
          <a:lstStyle/>
          <a:p>
            <a:r>
              <a:rPr lang="en-US" sz="5400">
                <a:solidFill>
                  <a:schemeClr val="bg1"/>
                </a:solidFill>
                <a:ea typeface="Calibri"/>
                <a:cs typeface="Calibri"/>
              </a:rPr>
              <a:t>Looking Into DSM: Water Cup Analogy</a:t>
            </a:r>
          </a:p>
        </p:txBody>
      </p:sp>
      <p:pic>
        <p:nvPicPr>
          <p:cNvPr id="6" name="Picture 5" descr="Diagram of a water level diagram&#10;&#10;AI-generated content may be incorrect.">
            <a:extLst>
              <a:ext uri="{FF2B5EF4-FFF2-40B4-BE49-F238E27FC236}">
                <a16:creationId xmlns:a16="http://schemas.microsoft.com/office/drawing/2014/main" id="{C19ECF48-01D8-D277-A286-06D19C04EC11}"/>
              </a:ext>
            </a:extLst>
          </p:cNvPr>
          <p:cNvPicPr>
            <a:picLocks noChangeAspect="1"/>
          </p:cNvPicPr>
          <p:nvPr/>
        </p:nvPicPr>
        <p:blipFill>
          <a:blip r:embed="rId4"/>
          <a:stretch>
            <a:fillRect/>
          </a:stretch>
        </p:blipFill>
        <p:spPr>
          <a:xfrm>
            <a:off x="3340273" y="2103329"/>
            <a:ext cx="11859017" cy="7827724"/>
          </a:xfrm>
          <a:prstGeom prst="rect">
            <a:avLst/>
          </a:prstGeom>
        </p:spPr>
      </p:pic>
    </p:spTree>
    <p:extLst>
      <p:ext uri="{BB962C8B-B14F-4D97-AF65-F5344CB8AC3E}">
        <p14:creationId xmlns:p14="http://schemas.microsoft.com/office/powerpoint/2010/main" val="1459598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96735" y="1607010"/>
            <a:ext cx="3497417" cy="2653774"/>
            <a:chOff x="0" y="0"/>
            <a:chExt cx="3839336" cy="3839336"/>
          </a:xfrm>
        </p:grpSpPr>
        <p:sp>
          <p:nvSpPr>
            <p:cNvPr id="3" name="Freeform 3"/>
            <p:cNvSpPr/>
            <p:nvPr/>
          </p:nvSpPr>
          <p:spPr>
            <a:xfrm>
              <a:off x="0" y="0"/>
              <a:ext cx="3839337" cy="3839337"/>
            </a:xfrm>
            <a:custGeom>
              <a:avLst/>
              <a:gdLst/>
              <a:ahLst/>
              <a:cxnLst/>
              <a:rect l="l" t="t" r="r" b="b"/>
              <a:pathLst>
                <a:path w="3839337" h="3839337">
                  <a:moveTo>
                    <a:pt x="3714876" y="3839336"/>
                  </a:moveTo>
                  <a:lnTo>
                    <a:pt x="124460" y="3839336"/>
                  </a:lnTo>
                  <a:cubicBezTo>
                    <a:pt x="55880" y="3839336"/>
                    <a:pt x="0" y="3783456"/>
                    <a:pt x="0" y="3714876"/>
                  </a:cubicBezTo>
                  <a:lnTo>
                    <a:pt x="0" y="124460"/>
                  </a:lnTo>
                  <a:cubicBezTo>
                    <a:pt x="0" y="55880"/>
                    <a:pt x="55880" y="0"/>
                    <a:pt x="124460" y="0"/>
                  </a:cubicBezTo>
                  <a:lnTo>
                    <a:pt x="3714876" y="0"/>
                  </a:lnTo>
                  <a:cubicBezTo>
                    <a:pt x="3783456" y="0"/>
                    <a:pt x="3839337" y="55880"/>
                    <a:pt x="3839337" y="124460"/>
                  </a:cubicBezTo>
                  <a:lnTo>
                    <a:pt x="3839337" y="3714876"/>
                  </a:lnTo>
                  <a:cubicBezTo>
                    <a:pt x="3839337" y="3783456"/>
                    <a:pt x="3783456" y="3839337"/>
                    <a:pt x="3714876" y="3839337"/>
                  </a:cubicBezTo>
                  <a:close/>
                </a:path>
              </a:pathLst>
            </a:custGeom>
            <a:solidFill>
              <a:srgbClr val="FF914D"/>
            </a:solidFill>
          </p:spPr>
          <p:txBody>
            <a:bodyPr/>
            <a:lstStyle/>
            <a:p>
              <a:endParaRPr lang="en-IN"/>
            </a:p>
          </p:txBody>
        </p:sp>
      </p:grpSp>
      <p:grpSp>
        <p:nvGrpSpPr>
          <p:cNvPr id="4" name="Group 4"/>
          <p:cNvGrpSpPr/>
          <p:nvPr/>
        </p:nvGrpSpPr>
        <p:grpSpPr>
          <a:xfrm>
            <a:off x="1083128" y="6199379"/>
            <a:ext cx="3225275" cy="2653775"/>
            <a:chOff x="0" y="0"/>
            <a:chExt cx="3839337" cy="3839337"/>
          </a:xfrm>
        </p:grpSpPr>
        <p:sp>
          <p:nvSpPr>
            <p:cNvPr id="5" name="Freeform 5"/>
            <p:cNvSpPr/>
            <p:nvPr/>
          </p:nvSpPr>
          <p:spPr>
            <a:xfrm>
              <a:off x="0" y="0"/>
              <a:ext cx="3839337" cy="3839337"/>
            </a:xfrm>
            <a:custGeom>
              <a:avLst/>
              <a:gdLst/>
              <a:ahLst/>
              <a:cxnLst/>
              <a:rect l="l" t="t" r="r" b="b"/>
              <a:pathLst>
                <a:path w="3839337" h="3839337">
                  <a:moveTo>
                    <a:pt x="3714876" y="3839336"/>
                  </a:moveTo>
                  <a:lnTo>
                    <a:pt x="124460" y="3839336"/>
                  </a:lnTo>
                  <a:cubicBezTo>
                    <a:pt x="55880" y="3839336"/>
                    <a:pt x="0" y="3783456"/>
                    <a:pt x="0" y="3714876"/>
                  </a:cubicBezTo>
                  <a:lnTo>
                    <a:pt x="0" y="124460"/>
                  </a:lnTo>
                  <a:cubicBezTo>
                    <a:pt x="0" y="55880"/>
                    <a:pt x="55880" y="0"/>
                    <a:pt x="124460" y="0"/>
                  </a:cubicBezTo>
                  <a:lnTo>
                    <a:pt x="3714876" y="0"/>
                  </a:lnTo>
                  <a:cubicBezTo>
                    <a:pt x="3783456" y="0"/>
                    <a:pt x="3839337" y="55880"/>
                    <a:pt x="3839337" y="124460"/>
                  </a:cubicBezTo>
                  <a:lnTo>
                    <a:pt x="3839337" y="3714876"/>
                  </a:lnTo>
                  <a:cubicBezTo>
                    <a:pt x="3839337" y="3783456"/>
                    <a:pt x="3783456" y="3839337"/>
                    <a:pt x="3714876" y="3839337"/>
                  </a:cubicBezTo>
                  <a:close/>
                </a:path>
              </a:pathLst>
            </a:custGeom>
            <a:solidFill>
              <a:srgbClr val="FF914D"/>
            </a:solidFill>
          </p:spPr>
          <p:txBody>
            <a:bodyPr lIns="91440" tIns="45720" rIns="91440" bIns="45720" anchor="t"/>
            <a:lstStyle/>
            <a:p>
              <a:pPr>
                <a:lnSpc>
                  <a:spcPts val="4804"/>
                </a:lnSpc>
              </a:pPr>
              <a:r>
                <a:rPr lang="en-US" sz="3200" b="1">
                  <a:solidFill>
                    <a:schemeClr val="bg1"/>
                  </a:solidFill>
                  <a:latin typeface="Poppins Bold"/>
                  <a:ea typeface="Calibri"/>
                  <a:cs typeface="Poppins Bold"/>
                </a:rPr>
                <a:t>  Digital Pixel      Sensor Array</a:t>
              </a:r>
            </a:p>
            <a:p>
              <a:pPr>
                <a:lnSpc>
                  <a:spcPts val="4804"/>
                </a:lnSpc>
              </a:pPr>
              <a:endParaRPr lang="en-US" sz="3200" b="1">
                <a:solidFill>
                  <a:schemeClr val="bg1"/>
                </a:solidFill>
                <a:latin typeface="Poppins Bold"/>
                <a:ea typeface="Calibri"/>
                <a:cs typeface="Poppins Bold"/>
              </a:endParaRPr>
            </a:p>
            <a:p>
              <a:pPr>
                <a:lnSpc>
                  <a:spcPts val="4804"/>
                </a:lnSpc>
              </a:pPr>
              <a:r>
                <a:rPr lang="en-US" sz="3200" b="1">
                  <a:solidFill>
                    <a:schemeClr val="bg1"/>
                  </a:solidFill>
                  <a:latin typeface="Poppins Bold"/>
                  <a:ea typeface="Calibri"/>
                  <a:cs typeface="Poppins Bold"/>
                </a:rPr>
                <a:t>  Log arch.</a:t>
              </a:r>
            </a:p>
            <a:p>
              <a:endParaRPr lang="en-IN" sz="4400">
                <a:solidFill>
                  <a:schemeClr val="bg1"/>
                </a:solidFill>
                <a:ea typeface="Calibri"/>
                <a:cs typeface="Calibri"/>
              </a:endParaRPr>
            </a:p>
          </p:txBody>
        </p:sp>
      </p:grpSp>
      <p:sp>
        <p:nvSpPr>
          <p:cNvPr id="6" name="TextBox 6"/>
          <p:cNvSpPr txBox="1"/>
          <p:nvPr/>
        </p:nvSpPr>
        <p:spPr>
          <a:xfrm>
            <a:off x="1221334" y="2341795"/>
            <a:ext cx="3081408" cy="1199303"/>
          </a:xfrm>
          <a:prstGeom prst="rect">
            <a:avLst/>
          </a:prstGeom>
        </p:spPr>
        <p:txBody>
          <a:bodyPr wrap="square" lIns="0" tIns="0" rIns="0" bIns="0" rtlCol="0" anchor="t">
            <a:spAutoFit/>
          </a:bodyPr>
          <a:lstStyle/>
          <a:p>
            <a:pPr algn="l">
              <a:lnSpc>
                <a:spcPts val="4804"/>
              </a:lnSpc>
            </a:pPr>
            <a:r>
              <a:rPr lang="en-US" sz="3400" b="1">
                <a:solidFill>
                  <a:schemeClr val="bg1"/>
                </a:solidFill>
                <a:latin typeface="Poppins Bold"/>
                <a:ea typeface="Poppins Bold"/>
                <a:cs typeface="Poppins Bold"/>
                <a:sym typeface="Poppins Bold"/>
              </a:rPr>
              <a:t>Multi-Level</a:t>
            </a:r>
            <a:endParaRPr lang="en-US" sz="3400" b="1">
              <a:solidFill>
                <a:schemeClr val="bg1"/>
              </a:solidFill>
              <a:latin typeface="Poppins Bold"/>
              <a:ea typeface="Poppins Bold"/>
              <a:cs typeface="Poppins Bold"/>
            </a:endParaRPr>
          </a:p>
          <a:p>
            <a:pPr>
              <a:lnSpc>
                <a:spcPts val="4804"/>
              </a:lnSpc>
            </a:pPr>
            <a:r>
              <a:rPr lang="en-US" sz="3400" b="1">
                <a:solidFill>
                  <a:schemeClr val="bg1"/>
                </a:solidFill>
                <a:latin typeface="Poppins Bold"/>
                <a:ea typeface="Poppins Bold"/>
                <a:cs typeface="Poppins Bold"/>
              </a:rPr>
              <a:t>Memory Cells</a:t>
            </a:r>
          </a:p>
        </p:txBody>
      </p:sp>
      <p:sp>
        <p:nvSpPr>
          <p:cNvPr id="13" name="AutoShape 13"/>
          <p:cNvSpPr/>
          <p:nvPr/>
        </p:nvSpPr>
        <p:spPr>
          <a:xfrm>
            <a:off x="0" y="5152748"/>
            <a:ext cx="8080130" cy="0"/>
          </a:xfrm>
          <a:prstGeom prst="line">
            <a:avLst/>
          </a:prstGeom>
          <a:ln w="9525" cap="rnd">
            <a:solidFill>
              <a:srgbClr val="FF914D"/>
            </a:solidFill>
            <a:prstDash val="solid"/>
            <a:headEnd type="none" w="sm" len="sm"/>
            <a:tailEnd type="none" w="sm" len="sm"/>
          </a:ln>
        </p:spPr>
        <p:txBody>
          <a:bodyPr/>
          <a:lstStyle/>
          <a:p>
            <a:endParaRPr lang="en-IN"/>
          </a:p>
        </p:txBody>
      </p:sp>
      <p:grpSp>
        <p:nvGrpSpPr>
          <p:cNvPr id="14" name="Group 14"/>
          <p:cNvGrpSpPr/>
          <p:nvPr/>
        </p:nvGrpSpPr>
        <p:grpSpPr>
          <a:xfrm>
            <a:off x="7815208" y="11714743"/>
            <a:ext cx="2653774" cy="2653774"/>
            <a:chOff x="0" y="0"/>
            <a:chExt cx="3839336" cy="3839336"/>
          </a:xfrm>
        </p:grpSpPr>
        <p:sp>
          <p:nvSpPr>
            <p:cNvPr id="15" name="Freeform 15"/>
            <p:cNvSpPr/>
            <p:nvPr/>
          </p:nvSpPr>
          <p:spPr>
            <a:xfrm>
              <a:off x="0" y="0"/>
              <a:ext cx="3839337" cy="3839337"/>
            </a:xfrm>
            <a:custGeom>
              <a:avLst/>
              <a:gdLst/>
              <a:ahLst/>
              <a:cxnLst/>
              <a:rect l="l" t="t" r="r" b="b"/>
              <a:pathLst>
                <a:path w="3839337" h="3839337">
                  <a:moveTo>
                    <a:pt x="3714876" y="3839336"/>
                  </a:moveTo>
                  <a:lnTo>
                    <a:pt x="124460" y="3839336"/>
                  </a:lnTo>
                  <a:cubicBezTo>
                    <a:pt x="55880" y="3839336"/>
                    <a:pt x="0" y="3783456"/>
                    <a:pt x="0" y="3714876"/>
                  </a:cubicBezTo>
                  <a:lnTo>
                    <a:pt x="0" y="124460"/>
                  </a:lnTo>
                  <a:cubicBezTo>
                    <a:pt x="0" y="55880"/>
                    <a:pt x="55880" y="0"/>
                    <a:pt x="124460" y="0"/>
                  </a:cubicBezTo>
                  <a:lnTo>
                    <a:pt x="3714876" y="0"/>
                  </a:lnTo>
                  <a:cubicBezTo>
                    <a:pt x="3783456" y="0"/>
                    <a:pt x="3839337" y="55880"/>
                    <a:pt x="3839337" y="124460"/>
                  </a:cubicBezTo>
                  <a:lnTo>
                    <a:pt x="3839337" y="3714876"/>
                  </a:lnTo>
                  <a:cubicBezTo>
                    <a:pt x="3839337" y="3783456"/>
                    <a:pt x="3783456" y="3839337"/>
                    <a:pt x="3714876" y="3839337"/>
                  </a:cubicBezTo>
                  <a:close/>
                </a:path>
              </a:pathLst>
            </a:custGeom>
            <a:solidFill>
              <a:srgbClr val="FF914D"/>
            </a:solidFill>
          </p:spPr>
          <p:txBody>
            <a:bodyPr/>
            <a:lstStyle/>
            <a:p>
              <a:endParaRPr lang="en-IN"/>
            </a:p>
          </p:txBody>
        </p:sp>
      </p:grpSp>
      <p:sp>
        <p:nvSpPr>
          <p:cNvPr id="19" name="TextBox 19"/>
          <p:cNvSpPr txBox="1"/>
          <p:nvPr/>
        </p:nvSpPr>
        <p:spPr>
          <a:xfrm rot="-5400000">
            <a:off x="17310518" y="8275412"/>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20" name="TextBox 20"/>
          <p:cNvSpPr txBox="1"/>
          <p:nvPr/>
        </p:nvSpPr>
        <p:spPr>
          <a:xfrm rot="-5400000">
            <a:off x="16161626" y="2739884"/>
            <a:ext cx="3231104" cy="272161"/>
          </a:xfrm>
          <a:prstGeom prst="rect">
            <a:avLst/>
          </a:prstGeom>
        </p:spPr>
        <p:txBody>
          <a:bodyPr lIns="0" tIns="0" rIns="0" bIns="0" rtlCol="0" anchor="t">
            <a:spAutoFit/>
          </a:bodyPr>
          <a:lstStyle/>
          <a:p>
            <a:pPr algn="ctr">
              <a:lnSpc>
                <a:spcPts val="2324"/>
              </a:lnSpc>
            </a:pPr>
            <a:r>
              <a:rPr lang="en-US" sz="1660">
                <a:solidFill>
                  <a:srgbClr val="FFFFFF"/>
                </a:solidFill>
                <a:latin typeface="Quicksand"/>
                <a:ea typeface="Quicksand"/>
                <a:cs typeface="Quicksand"/>
                <a:sym typeface="Quicksand"/>
              </a:rPr>
              <a:t>www.reallygreatsite.com </a:t>
            </a:r>
          </a:p>
        </p:txBody>
      </p:sp>
      <p:pic>
        <p:nvPicPr>
          <p:cNvPr id="26" name="Picture 25" descr="What is Multi-level Cell Technology Realizing Larger Capacity Flash Memory?  | KIOXIA - Japan (English)">
            <a:extLst>
              <a:ext uri="{FF2B5EF4-FFF2-40B4-BE49-F238E27FC236}">
                <a16:creationId xmlns:a16="http://schemas.microsoft.com/office/drawing/2014/main" id="{614DD5D4-045E-B501-06B9-AD1C21FE3E3C}"/>
              </a:ext>
            </a:extLst>
          </p:cNvPr>
          <p:cNvPicPr>
            <a:picLocks noChangeAspect="1"/>
          </p:cNvPicPr>
          <p:nvPr/>
        </p:nvPicPr>
        <p:blipFill>
          <a:blip r:embed="rId2"/>
          <a:stretch>
            <a:fillRect/>
          </a:stretch>
        </p:blipFill>
        <p:spPr>
          <a:xfrm>
            <a:off x="9119508" y="1238745"/>
            <a:ext cx="5818412" cy="3904259"/>
          </a:xfrm>
          <a:prstGeom prst="rect">
            <a:avLst/>
          </a:prstGeom>
        </p:spPr>
      </p:pic>
      <p:pic>
        <p:nvPicPr>
          <p:cNvPr id="28" name="Picture 27" descr="A close-up of a camera&#10;&#10;AI-generated content may be incorrect.">
            <a:extLst>
              <a:ext uri="{FF2B5EF4-FFF2-40B4-BE49-F238E27FC236}">
                <a16:creationId xmlns:a16="http://schemas.microsoft.com/office/drawing/2014/main" id="{84AADAD7-5DED-1224-0F7A-A492BD0D0F9B}"/>
              </a:ext>
            </a:extLst>
          </p:cNvPr>
          <p:cNvPicPr>
            <a:picLocks noChangeAspect="1"/>
          </p:cNvPicPr>
          <p:nvPr/>
        </p:nvPicPr>
        <p:blipFill>
          <a:blip r:embed="rId3"/>
          <a:stretch>
            <a:fillRect/>
          </a:stretch>
        </p:blipFill>
        <p:spPr>
          <a:xfrm>
            <a:off x="9114064" y="5559198"/>
            <a:ext cx="5829300" cy="394471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4CD97-A301-F2E0-B1CE-E86BF7A7109D}"/>
            </a:ext>
          </a:extLst>
        </p:cNvPr>
        <p:cNvGrpSpPr/>
        <p:nvPr/>
      </p:nvGrpSpPr>
      <p:grpSpPr>
        <a:xfrm>
          <a:off x="0" y="0"/>
          <a:ext cx="0" cy="0"/>
          <a:chOff x="0" y="0"/>
          <a:chExt cx="0" cy="0"/>
        </a:xfrm>
      </p:grpSpPr>
      <p:sp>
        <p:nvSpPr>
          <p:cNvPr id="12" name="AutoShape 12">
            <a:extLst>
              <a:ext uri="{FF2B5EF4-FFF2-40B4-BE49-F238E27FC236}">
                <a16:creationId xmlns:a16="http://schemas.microsoft.com/office/drawing/2014/main" id="{3A3A52DF-F208-82B5-C6E9-8021FF558A7F}"/>
              </a:ext>
            </a:extLst>
          </p:cNvPr>
          <p:cNvSpPr/>
          <p:nvPr/>
        </p:nvSpPr>
        <p:spPr>
          <a:xfrm>
            <a:off x="7911107" y="4863601"/>
            <a:ext cx="8080130" cy="0"/>
          </a:xfrm>
          <a:prstGeom prst="line">
            <a:avLst/>
          </a:prstGeom>
          <a:ln w="9525" cap="rnd">
            <a:solidFill>
              <a:srgbClr val="FF914D"/>
            </a:solidFill>
            <a:prstDash val="solid"/>
            <a:headEnd type="none" w="sm" len="sm"/>
            <a:tailEnd type="none" w="sm" len="sm"/>
          </a:ln>
        </p:spPr>
        <p:txBody>
          <a:bodyPr/>
          <a:lstStyle/>
          <a:p>
            <a:endParaRPr lang="en-IN"/>
          </a:p>
        </p:txBody>
      </p:sp>
      <p:sp>
        <p:nvSpPr>
          <p:cNvPr id="17" name="AutoShape 17">
            <a:extLst>
              <a:ext uri="{FF2B5EF4-FFF2-40B4-BE49-F238E27FC236}">
                <a16:creationId xmlns:a16="http://schemas.microsoft.com/office/drawing/2014/main" id="{B95F1190-2E3E-3708-7AAE-C485CF49B252}"/>
              </a:ext>
            </a:extLst>
          </p:cNvPr>
          <p:cNvSpPr/>
          <p:nvPr/>
        </p:nvSpPr>
        <p:spPr>
          <a:xfrm rot="5400000">
            <a:off x="16399966" y="6264625"/>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18" name="TextBox 18">
            <a:extLst>
              <a:ext uri="{FF2B5EF4-FFF2-40B4-BE49-F238E27FC236}">
                <a16:creationId xmlns:a16="http://schemas.microsoft.com/office/drawing/2014/main" id="{5AC82C69-630D-D0EE-B4DC-78E2699BF0DF}"/>
              </a:ext>
            </a:extLst>
          </p:cNvPr>
          <p:cNvSpPr txBox="1"/>
          <p:nvPr/>
        </p:nvSpPr>
        <p:spPr>
          <a:xfrm rot="-5400000">
            <a:off x="17310518" y="8275412"/>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19" name="TextBox 19">
            <a:extLst>
              <a:ext uri="{FF2B5EF4-FFF2-40B4-BE49-F238E27FC236}">
                <a16:creationId xmlns:a16="http://schemas.microsoft.com/office/drawing/2014/main" id="{95B425C9-9DC5-F8ED-379B-AAC0FE6B7132}"/>
              </a:ext>
            </a:extLst>
          </p:cNvPr>
          <p:cNvSpPr txBox="1"/>
          <p:nvPr/>
        </p:nvSpPr>
        <p:spPr>
          <a:xfrm rot="-5400000">
            <a:off x="16161626" y="2739884"/>
            <a:ext cx="3231104" cy="272161"/>
          </a:xfrm>
          <a:prstGeom prst="rect">
            <a:avLst/>
          </a:prstGeom>
        </p:spPr>
        <p:txBody>
          <a:bodyPr lIns="0" tIns="0" rIns="0" bIns="0" rtlCol="0" anchor="t">
            <a:spAutoFit/>
          </a:bodyPr>
          <a:lstStyle/>
          <a:p>
            <a:pPr algn="ctr">
              <a:lnSpc>
                <a:spcPts val="2324"/>
              </a:lnSpc>
            </a:pPr>
            <a:r>
              <a:rPr lang="en-US" sz="1660">
                <a:solidFill>
                  <a:srgbClr val="FFFFFF"/>
                </a:solidFill>
                <a:latin typeface="Quicksand"/>
                <a:ea typeface="Quicksand"/>
                <a:cs typeface="Quicksand"/>
                <a:sym typeface="Quicksand"/>
              </a:rPr>
              <a:t>www.reallygreatsite.com </a:t>
            </a:r>
          </a:p>
        </p:txBody>
      </p:sp>
      <p:sp>
        <p:nvSpPr>
          <p:cNvPr id="20" name="TextBox 19">
            <a:extLst>
              <a:ext uri="{FF2B5EF4-FFF2-40B4-BE49-F238E27FC236}">
                <a16:creationId xmlns:a16="http://schemas.microsoft.com/office/drawing/2014/main" id="{045558D0-1656-FF65-C516-CC6EBBABA7B6}"/>
              </a:ext>
            </a:extLst>
          </p:cNvPr>
          <p:cNvSpPr txBox="1"/>
          <p:nvPr/>
        </p:nvSpPr>
        <p:spPr>
          <a:xfrm>
            <a:off x="10146082" y="6035979"/>
            <a:ext cx="91440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a:solidFill>
                  <a:srgbClr val="FFFFFF"/>
                </a:solidFill>
                <a:latin typeface="Poppins Bold"/>
              </a:rPr>
              <a:t>And many more..</a:t>
            </a:r>
            <a:endParaRPr lang="en-US" sz="4800">
              <a:ea typeface="Calibri"/>
              <a:cs typeface="Calibri"/>
            </a:endParaRPr>
          </a:p>
        </p:txBody>
      </p:sp>
      <p:pic>
        <p:nvPicPr>
          <p:cNvPr id="6" name="Picture 5" descr="An orange arrow pointing to the right&#10;&#10;AI-generated content may be incorrect.">
            <a:extLst>
              <a:ext uri="{FF2B5EF4-FFF2-40B4-BE49-F238E27FC236}">
                <a16:creationId xmlns:a16="http://schemas.microsoft.com/office/drawing/2014/main" id="{5355015B-BAEC-7970-5366-F168F3EED265}"/>
              </a:ext>
            </a:extLst>
          </p:cNvPr>
          <p:cNvPicPr>
            <a:picLocks noChangeAspect="1"/>
          </p:cNvPicPr>
          <p:nvPr/>
        </p:nvPicPr>
        <p:blipFill>
          <a:blip r:embed="rId2"/>
          <a:stretch>
            <a:fillRect/>
          </a:stretch>
        </p:blipFill>
        <p:spPr>
          <a:xfrm>
            <a:off x="3913" y="1504669"/>
            <a:ext cx="18295833" cy="7288326"/>
          </a:xfrm>
          <a:prstGeom prst="rect">
            <a:avLst/>
          </a:prstGeom>
        </p:spPr>
      </p:pic>
    </p:spTree>
    <p:extLst>
      <p:ext uri="{BB962C8B-B14F-4D97-AF65-F5344CB8AC3E}">
        <p14:creationId xmlns:p14="http://schemas.microsoft.com/office/powerpoint/2010/main" val="721991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065C1E-9D9D-7CC2-FEBA-6B7E21BB1FEE}"/>
              </a:ext>
            </a:extLst>
          </p:cNvPr>
          <p:cNvSpPr txBox="1"/>
          <p:nvPr/>
        </p:nvSpPr>
        <p:spPr>
          <a:xfrm>
            <a:off x="4497118" y="3740222"/>
            <a:ext cx="9284916"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i="1">
                <a:latin typeface="Batang"/>
                <a:ea typeface="Batang"/>
              </a:rPr>
              <a:t>"As CMOS clock speeds increase, transistor gain and matching deteriorate—DSM exploits speed instead of precision."</a:t>
            </a:r>
            <a:endParaRPr lang="en-US" sz="4400" i="1">
              <a:latin typeface="Batang"/>
              <a:ea typeface="Batang"/>
              <a:cs typeface="Calibri"/>
            </a:endParaRPr>
          </a:p>
        </p:txBody>
      </p:sp>
    </p:spTree>
    <p:extLst>
      <p:ext uri="{BB962C8B-B14F-4D97-AF65-F5344CB8AC3E}">
        <p14:creationId xmlns:p14="http://schemas.microsoft.com/office/powerpoint/2010/main" val="4293283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10"/>
          <p:cNvSpPr txBox="1"/>
          <p:nvPr/>
        </p:nvSpPr>
        <p:spPr>
          <a:xfrm>
            <a:off x="999969" y="7725095"/>
            <a:ext cx="382092" cy="215263"/>
          </a:xfrm>
          <a:prstGeom prst="rect">
            <a:avLst/>
          </a:prstGeom>
        </p:spPr>
        <p:txBody>
          <a:bodyPr lIns="0" tIns="0" rIns="0" bIns="0" rtlCol="0" anchor="t">
            <a:spAutoFit/>
          </a:bodyPr>
          <a:lstStyle/>
          <a:p>
            <a:pPr algn="ctr">
              <a:lnSpc>
                <a:spcPts val="1579"/>
              </a:lnSpc>
            </a:pPr>
            <a:r>
              <a:rPr lang="en-US" sz="1350" b="1">
                <a:solidFill>
                  <a:srgbClr val="FFFFFF"/>
                </a:solidFill>
                <a:latin typeface="Poppins Bold"/>
                <a:ea typeface="Poppins Bold"/>
                <a:cs typeface="Poppins Bold"/>
                <a:sym typeface="Poppins Bold"/>
              </a:rPr>
              <a:t>01</a:t>
            </a:r>
          </a:p>
        </p:txBody>
      </p:sp>
      <p:sp>
        <p:nvSpPr>
          <p:cNvPr id="14" name="TextBox 14"/>
          <p:cNvSpPr txBox="1"/>
          <p:nvPr/>
        </p:nvSpPr>
        <p:spPr>
          <a:xfrm>
            <a:off x="8821240" y="7725095"/>
            <a:ext cx="434306" cy="215263"/>
          </a:xfrm>
          <a:prstGeom prst="rect">
            <a:avLst/>
          </a:prstGeom>
        </p:spPr>
        <p:txBody>
          <a:bodyPr lIns="0" tIns="0" rIns="0" bIns="0" rtlCol="0" anchor="t">
            <a:spAutoFit/>
          </a:bodyPr>
          <a:lstStyle/>
          <a:p>
            <a:pPr algn="ctr">
              <a:lnSpc>
                <a:spcPts val="1579"/>
              </a:lnSpc>
            </a:pPr>
            <a:r>
              <a:rPr lang="en-US" sz="1350" b="1">
                <a:solidFill>
                  <a:srgbClr val="FFFFFF"/>
                </a:solidFill>
                <a:latin typeface="Poppins Bold"/>
                <a:ea typeface="Poppins Bold"/>
                <a:cs typeface="Poppins Bold"/>
                <a:sym typeface="Poppins Bold"/>
              </a:rPr>
              <a:t>03</a:t>
            </a:r>
          </a:p>
        </p:txBody>
      </p:sp>
      <p:sp>
        <p:nvSpPr>
          <p:cNvPr id="18" name="TextBox 18"/>
          <p:cNvSpPr txBox="1"/>
          <p:nvPr/>
        </p:nvSpPr>
        <p:spPr>
          <a:xfrm>
            <a:off x="4897202" y="7725095"/>
            <a:ext cx="412000" cy="215263"/>
          </a:xfrm>
          <a:prstGeom prst="rect">
            <a:avLst/>
          </a:prstGeom>
        </p:spPr>
        <p:txBody>
          <a:bodyPr lIns="0" tIns="0" rIns="0" bIns="0" rtlCol="0" anchor="t">
            <a:spAutoFit/>
          </a:bodyPr>
          <a:lstStyle/>
          <a:p>
            <a:pPr algn="ctr">
              <a:lnSpc>
                <a:spcPts val="1579"/>
              </a:lnSpc>
            </a:pPr>
            <a:r>
              <a:rPr lang="en-US" sz="1350" b="1">
                <a:solidFill>
                  <a:srgbClr val="FFFFFF"/>
                </a:solidFill>
                <a:latin typeface="Poppins Bold"/>
                <a:ea typeface="Poppins Bold"/>
                <a:cs typeface="Poppins Bold"/>
                <a:sym typeface="Poppins Bold"/>
              </a:rPr>
              <a:t>02</a:t>
            </a:r>
          </a:p>
        </p:txBody>
      </p:sp>
      <p:sp>
        <p:nvSpPr>
          <p:cNvPr id="22" name="TextBox 22"/>
          <p:cNvSpPr txBox="1"/>
          <p:nvPr/>
        </p:nvSpPr>
        <p:spPr>
          <a:xfrm>
            <a:off x="12713586" y="7725095"/>
            <a:ext cx="441245" cy="215263"/>
          </a:xfrm>
          <a:prstGeom prst="rect">
            <a:avLst/>
          </a:prstGeom>
        </p:spPr>
        <p:txBody>
          <a:bodyPr lIns="0" tIns="0" rIns="0" bIns="0" rtlCol="0" anchor="t">
            <a:spAutoFit/>
          </a:bodyPr>
          <a:lstStyle/>
          <a:p>
            <a:pPr algn="ctr">
              <a:lnSpc>
                <a:spcPts val="1579"/>
              </a:lnSpc>
            </a:pPr>
            <a:r>
              <a:rPr lang="en-US" sz="1350" b="1">
                <a:solidFill>
                  <a:srgbClr val="FFFFFF"/>
                </a:solidFill>
                <a:latin typeface="Poppins Bold"/>
                <a:ea typeface="Poppins Bold"/>
                <a:cs typeface="Poppins Bold"/>
                <a:sym typeface="Poppins Bold"/>
              </a:rPr>
              <a:t>04</a:t>
            </a:r>
          </a:p>
        </p:txBody>
      </p:sp>
      <p:sp>
        <p:nvSpPr>
          <p:cNvPr id="23" name="AutoShape 23"/>
          <p:cNvSpPr/>
          <p:nvPr/>
        </p:nvSpPr>
        <p:spPr>
          <a:xfrm>
            <a:off x="1359243" y="11542824"/>
            <a:ext cx="8080130" cy="0"/>
          </a:xfrm>
          <a:prstGeom prst="line">
            <a:avLst/>
          </a:prstGeom>
          <a:ln w="9525" cap="rnd">
            <a:solidFill>
              <a:srgbClr val="FF914D"/>
            </a:solidFill>
            <a:prstDash val="solid"/>
            <a:headEnd type="none" w="sm" len="sm"/>
            <a:tailEnd type="none" w="sm" len="sm"/>
          </a:ln>
        </p:spPr>
        <p:txBody>
          <a:bodyPr/>
          <a:lstStyle/>
          <a:p>
            <a:endParaRPr lang="en-IN"/>
          </a:p>
        </p:txBody>
      </p:sp>
      <p:grpSp>
        <p:nvGrpSpPr>
          <p:cNvPr id="24" name="Group 24"/>
          <p:cNvGrpSpPr/>
          <p:nvPr/>
        </p:nvGrpSpPr>
        <p:grpSpPr>
          <a:xfrm>
            <a:off x="17259300" y="1028700"/>
            <a:ext cx="1952277" cy="8229600"/>
            <a:chOff x="0" y="0"/>
            <a:chExt cx="660400" cy="2783840"/>
          </a:xfrm>
        </p:grpSpPr>
        <p:sp>
          <p:nvSpPr>
            <p:cNvPr id="25" name="Freeform 25"/>
            <p:cNvSpPr/>
            <p:nvPr/>
          </p:nvSpPr>
          <p:spPr>
            <a:xfrm>
              <a:off x="0" y="0"/>
              <a:ext cx="660400" cy="2783840"/>
            </a:xfrm>
            <a:custGeom>
              <a:avLst/>
              <a:gdLst/>
              <a:ahLst/>
              <a:cxnLst/>
              <a:rect l="l" t="t" r="r" b="b"/>
              <a:pathLst>
                <a:path w="660400" h="2783840">
                  <a:moveTo>
                    <a:pt x="535940" y="2783840"/>
                  </a:moveTo>
                  <a:lnTo>
                    <a:pt x="124460" y="2783840"/>
                  </a:lnTo>
                  <a:cubicBezTo>
                    <a:pt x="55880" y="2783840"/>
                    <a:pt x="0" y="2727960"/>
                    <a:pt x="0" y="2659380"/>
                  </a:cubicBezTo>
                  <a:lnTo>
                    <a:pt x="0" y="124460"/>
                  </a:lnTo>
                  <a:cubicBezTo>
                    <a:pt x="0" y="55880"/>
                    <a:pt x="55880" y="0"/>
                    <a:pt x="124460" y="0"/>
                  </a:cubicBezTo>
                  <a:lnTo>
                    <a:pt x="535940" y="0"/>
                  </a:lnTo>
                  <a:cubicBezTo>
                    <a:pt x="604520" y="0"/>
                    <a:pt x="660400" y="55880"/>
                    <a:pt x="660400" y="124460"/>
                  </a:cubicBezTo>
                  <a:lnTo>
                    <a:pt x="660400" y="2659380"/>
                  </a:lnTo>
                  <a:cubicBezTo>
                    <a:pt x="660400" y="2727960"/>
                    <a:pt x="604520" y="2783840"/>
                    <a:pt x="535940" y="2783840"/>
                  </a:cubicBezTo>
                  <a:close/>
                </a:path>
              </a:pathLst>
            </a:custGeom>
            <a:solidFill>
              <a:srgbClr val="FF914D"/>
            </a:solidFill>
          </p:spPr>
          <p:txBody>
            <a:bodyPr/>
            <a:lstStyle/>
            <a:p>
              <a:endParaRPr lang="en-IN"/>
            </a:p>
          </p:txBody>
        </p:sp>
      </p:grpSp>
      <p:grpSp>
        <p:nvGrpSpPr>
          <p:cNvPr id="29" name="Group 29"/>
          <p:cNvGrpSpPr/>
          <p:nvPr/>
        </p:nvGrpSpPr>
        <p:grpSpPr>
          <a:xfrm>
            <a:off x="627106" y="657680"/>
            <a:ext cx="383366" cy="383366"/>
            <a:chOff x="0" y="0"/>
            <a:chExt cx="660400" cy="660400"/>
          </a:xfrm>
        </p:grpSpPr>
        <p:sp>
          <p:nvSpPr>
            <p:cNvPr id="30" name="Freeform 30"/>
            <p:cNvSpPr/>
            <p:nvPr/>
          </p:nvSpPr>
          <p:spPr>
            <a:xfrm>
              <a:off x="0" y="0"/>
              <a:ext cx="660400" cy="660400"/>
            </a:xfrm>
            <a:custGeom>
              <a:avLst/>
              <a:gdLst/>
              <a:ahLst/>
              <a:cxnLst/>
              <a:rect l="l" t="t" r="r" b="b"/>
              <a:pathLst>
                <a:path w="660400" h="660400">
                  <a:moveTo>
                    <a:pt x="535940" y="660400"/>
                  </a:moveTo>
                  <a:lnTo>
                    <a:pt x="124460" y="660400"/>
                  </a:lnTo>
                  <a:cubicBezTo>
                    <a:pt x="55880" y="660400"/>
                    <a:pt x="0" y="604520"/>
                    <a:pt x="0" y="535940"/>
                  </a:cubicBezTo>
                  <a:lnTo>
                    <a:pt x="0" y="124460"/>
                  </a:lnTo>
                  <a:cubicBezTo>
                    <a:pt x="0" y="55880"/>
                    <a:pt x="55880" y="0"/>
                    <a:pt x="124460" y="0"/>
                  </a:cubicBezTo>
                  <a:lnTo>
                    <a:pt x="535940" y="0"/>
                  </a:lnTo>
                  <a:cubicBezTo>
                    <a:pt x="604520" y="0"/>
                    <a:pt x="660400" y="55880"/>
                    <a:pt x="660400" y="124460"/>
                  </a:cubicBezTo>
                  <a:lnTo>
                    <a:pt x="660400" y="535940"/>
                  </a:lnTo>
                  <a:cubicBezTo>
                    <a:pt x="660400" y="604520"/>
                    <a:pt x="604520" y="660400"/>
                    <a:pt x="535940" y="660400"/>
                  </a:cubicBezTo>
                  <a:close/>
                </a:path>
              </a:pathLst>
            </a:custGeom>
            <a:solidFill>
              <a:srgbClr val="FF914D"/>
            </a:solidFill>
          </p:spPr>
          <p:txBody>
            <a:bodyPr/>
            <a:lstStyle/>
            <a:p>
              <a:endParaRPr lang="en-IN"/>
            </a:p>
          </p:txBody>
        </p:sp>
      </p:grpSp>
      <p:sp>
        <p:nvSpPr>
          <p:cNvPr id="33" name="TextBox 32">
            <a:extLst>
              <a:ext uri="{FF2B5EF4-FFF2-40B4-BE49-F238E27FC236}">
                <a16:creationId xmlns:a16="http://schemas.microsoft.com/office/drawing/2014/main" id="{762B73DF-80FF-C888-E716-13DC1EFF619E}"/>
              </a:ext>
            </a:extLst>
          </p:cNvPr>
          <p:cNvSpPr txBox="1"/>
          <p:nvPr/>
        </p:nvSpPr>
        <p:spPr>
          <a:xfrm>
            <a:off x="1189337" y="386148"/>
            <a:ext cx="12665675"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b="1" u="sng">
                <a:solidFill>
                  <a:srgbClr val="545454"/>
                </a:solidFill>
                <a:latin typeface="Quicksand Bold"/>
              </a:rPr>
              <a:t>CT Delta Sigma Modulator</a:t>
            </a:r>
          </a:p>
          <a:p>
            <a:pPr algn="ctr"/>
            <a:endParaRPr lang="en-US" sz="5400" u="sng">
              <a:ea typeface="Calibri"/>
              <a:cs typeface="Calibri"/>
            </a:endParaRPr>
          </a:p>
        </p:txBody>
      </p:sp>
      <p:sp>
        <p:nvSpPr>
          <p:cNvPr id="4" name="TextBox 3">
            <a:extLst>
              <a:ext uri="{FF2B5EF4-FFF2-40B4-BE49-F238E27FC236}">
                <a16:creationId xmlns:a16="http://schemas.microsoft.com/office/drawing/2014/main" id="{95B1754F-09FA-F8CE-E56C-8B8ABB65DC8C}"/>
              </a:ext>
            </a:extLst>
          </p:cNvPr>
          <p:cNvSpPr txBox="1"/>
          <p:nvPr/>
        </p:nvSpPr>
        <p:spPr>
          <a:xfrm>
            <a:off x="1745392" y="2146986"/>
            <a:ext cx="14797215" cy="6186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t>We conducted a comprehensive study and simulation of the Continuous-Time (CT) Delta-Sigma Modulator, exploring the following key aspects:</a:t>
            </a:r>
            <a:endParaRPr lang="en-US" sz="3600">
              <a:ea typeface="Calibri"/>
              <a:cs typeface="Calibri"/>
            </a:endParaRPr>
          </a:p>
          <a:p>
            <a:endParaRPr lang="en-US" sz="3600"/>
          </a:p>
          <a:p>
            <a:pPr marL="228600" indent="-228600">
              <a:buFont typeface=""/>
              <a:buAutoNum type="arabicPeriod"/>
            </a:pPr>
            <a:r>
              <a:rPr lang="en-US" sz="3600"/>
              <a:t> Design and simulation of 2nd, 3rd, and 4th order modulator topologies.</a:t>
            </a:r>
            <a:endParaRPr lang="en-US" sz="3600">
              <a:ea typeface="Calibri"/>
              <a:cs typeface="Calibri"/>
            </a:endParaRPr>
          </a:p>
          <a:p>
            <a:endParaRPr lang="en-US" sz="3600">
              <a:ea typeface="Calibri"/>
              <a:cs typeface="Calibri"/>
            </a:endParaRPr>
          </a:p>
          <a:p>
            <a:r>
              <a:rPr lang="en-US" sz="3600"/>
              <a:t>2. Integration and testing of thermal noise and flicker (1/f) noise sources.</a:t>
            </a:r>
            <a:endParaRPr lang="en-US" sz="3600">
              <a:ea typeface="Calibri"/>
              <a:cs typeface="Calibri"/>
            </a:endParaRPr>
          </a:p>
          <a:p>
            <a:endParaRPr lang="en-US" sz="3600"/>
          </a:p>
          <a:p>
            <a:r>
              <a:rPr lang="en-US" sz="3600"/>
              <a:t>3. Analysis of system performance under clock jitter.</a:t>
            </a:r>
            <a:endParaRPr lang="en-US" sz="3600">
              <a:ea typeface="Calibri"/>
              <a:cs typeface="Calibri"/>
            </a:endParaRPr>
          </a:p>
          <a:p>
            <a:endParaRPr lang="en-US" sz="3600">
              <a:ea typeface="Calibri"/>
              <a:cs typeface="Calibri"/>
            </a:endParaRPr>
          </a:p>
          <a:p>
            <a:r>
              <a:rPr lang="en-US" sz="3600">
                <a:ea typeface="Calibri"/>
                <a:cs typeface="Calibri"/>
              </a:rPr>
              <a:t>4. Implementation and behavioral analysis using non-ideal integrator models.</a:t>
            </a:r>
            <a:endParaRPr lang="en-US"/>
          </a:p>
          <a:p>
            <a:pPr algn="ctr"/>
            <a:endParaRPr lang="en-US" sz="3600">
              <a:ea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08D52D8-E847-EC4A-866A-C73D0F6E047F}"/>
              </a:ext>
            </a:extLst>
          </p:cNvPr>
          <p:cNvSpPr/>
          <p:nvPr/>
        </p:nvSpPr>
        <p:spPr>
          <a:xfrm>
            <a:off x="624988" y="4666237"/>
            <a:ext cx="8929467" cy="5587240"/>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9"/>
          <p:cNvGrpSpPr/>
          <p:nvPr/>
        </p:nvGrpSpPr>
        <p:grpSpPr>
          <a:xfrm>
            <a:off x="1314121" y="6490409"/>
            <a:ext cx="537179" cy="537179"/>
            <a:chOff x="0" y="0"/>
            <a:chExt cx="1913890" cy="1913890"/>
          </a:xfrm>
        </p:grpSpPr>
        <p:sp>
          <p:nvSpPr>
            <p:cNvPr id="10" name="Freeform 10"/>
            <p:cNvSpPr/>
            <p:nvPr/>
          </p:nvSpPr>
          <p:spPr>
            <a:xfrm>
              <a:off x="0" y="0"/>
              <a:ext cx="1913890" cy="1913890"/>
            </a:xfrm>
            <a:custGeom>
              <a:avLst/>
              <a:gdLst/>
              <a:ahLst/>
              <a:cxnLst/>
              <a:rect l="l" t="t" r="r" b="b"/>
              <a:pathLst>
                <a:path w="1913890" h="1913890">
                  <a:moveTo>
                    <a:pt x="1789430" y="1913890"/>
                  </a:moveTo>
                  <a:lnTo>
                    <a:pt x="124460" y="1913890"/>
                  </a:lnTo>
                  <a:cubicBezTo>
                    <a:pt x="55880" y="1913890"/>
                    <a:pt x="0" y="1858010"/>
                    <a:pt x="0" y="1789430"/>
                  </a:cubicBezTo>
                  <a:lnTo>
                    <a:pt x="0" y="124460"/>
                  </a:lnTo>
                  <a:cubicBezTo>
                    <a:pt x="0" y="55880"/>
                    <a:pt x="55880" y="0"/>
                    <a:pt x="124460" y="0"/>
                  </a:cubicBezTo>
                  <a:lnTo>
                    <a:pt x="1789430" y="0"/>
                  </a:lnTo>
                  <a:cubicBezTo>
                    <a:pt x="1858010" y="0"/>
                    <a:pt x="1913890" y="55880"/>
                    <a:pt x="1913890" y="124460"/>
                  </a:cubicBezTo>
                  <a:lnTo>
                    <a:pt x="1913890" y="1789430"/>
                  </a:lnTo>
                  <a:cubicBezTo>
                    <a:pt x="1913890" y="1858010"/>
                    <a:pt x="1858010" y="1913890"/>
                    <a:pt x="1789430" y="1913890"/>
                  </a:cubicBezTo>
                  <a:close/>
                </a:path>
              </a:pathLst>
            </a:custGeom>
            <a:solidFill>
              <a:srgbClr val="FFFFFF"/>
            </a:solidFill>
          </p:spPr>
          <p:txBody>
            <a:bodyPr/>
            <a:lstStyle/>
            <a:p>
              <a:endParaRPr lang="en-IN"/>
            </a:p>
          </p:txBody>
        </p:sp>
      </p:grpSp>
      <p:grpSp>
        <p:nvGrpSpPr>
          <p:cNvPr id="11" name="Group 11"/>
          <p:cNvGrpSpPr/>
          <p:nvPr/>
        </p:nvGrpSpPr>
        <p:grpSpPr>
          <a:xfrm>
            <a:off x="6709462" y="6490409"/>
            <a:ext cx="537179" cy="537179"/>
            <a:chOff x="0" y="0"/>
            <a:chExt cx="1913890" cy="1913890"/>
          </a:xfrm>
        </p:grpSpPr>
        <p:sp>
          <p:nvSpPr>
            <p:cNvPr id="12" name="Freeform 12"/>
            <p:cNvSpPr/>
            <p:nvPr/>
          </p:nvSpPr>
          <p:spPr>
            <a:xfrm>
              <a:off x="0" y="0"/>
              <a:ext cx="1913890" cy="1913890"/>
            </a:xfrm>
            <a:custGeom>
              <a:avLst/>
              <a:gdLst/>
              <a:ahLst/>
              <a:cxnLst/>
              <a:rect l="l" t="t" r="r" b="b"/>
              <a:pathLst>
                <a:path w="1913890" h="1913890">
                  <a:moveTo>
                    <a:pt x="1789430" y="1913890"/>
                  </a:moveTo>
                  <a:lnTo>
                    <a:pt x="124460" y="1913890"/>
                  </a:lnTo>
                  <a:cubicBezTo>
                    <a:pt x="55880" y="1913890"/>
                    <a:pt x="0" y="1858010"/>
                    <a:pt x="0" y="1789430"/>
                  </a:cubicBezTo>
                  <a:lnTo>
                    <a:pt x="0" y="124460"/>
                  </a:lnTo>
                  <a:cubicBezTo>
                    <a:pt x="0" y="55880"/>
                    <a:pt x="55880" y="0"/>
                    <a:pt x="124460" y="0"/>
                  </a:cubicBezTo>
                  <a:lnTo>
                    <a:pt x="1789430" y="0"/>
                  </a:lnTo>
                  <a:cubicBezTo>
                    <a:pt x="1858010" y="0"/>
                    <a:pt x="1913890" y="55880"/>
                    <a:pt x="1913890" y="124460"/>
                  </a:cubicBezTo>
                  <a:lnTo>
                    <a:pt x="1913890" y="1789430"/>
                  </a:lnTo>
                  <a:cubicBezTo>
                    <a:pt x="1913890" y="1858010"/>
                    <a:pt x="1858010" y="1913890"/>
                    <a:pt x="1789430" y="1913890"/>
                  </a:cubicBezTo>
                  <a:close/>
                </a:path>
              </a:pathLst>
            </a:custGeom>
            <a:solidFill>
              <a:srgbClr val="FFFFFF"/>
            </a:solidFill>
          </p:spPr>
          <p:txBody>
            <a:bodyPr/>
            <a:lstStyle/>
            <a:p>
              <a:endParaRPr lang="en-IN"/>
            </a:p>
          </p:txBody>
        </p:sp>
      </p:grpSp>
      <p:sp>
        <p:nvSpPr>
          <p:cNvPr id="20" name="TextBox 20"/>
          <p:cNvSpPr txBox="1"/>
          <p:nvPr/>
        </p:nvSpPr>
        <p:spPr>
          <a:xfrm>
            <a:off x="2109301" y="7287966"/>
            <a:ext cx="4049961" cy="1100407"/>
          </a:xfrm>
          <a:prstGeom prst="rect">
            <a:avLst/>
          </a:prstGeom>
        </p:spPr>
        <p:txBody>
          <a:bodyPr lIns="0" tIns="0" rIns="0" bIns="0" rtlCol="0" anchor="t">
            <a:spAutoFit/>
          </a:bodyPr>
          <a:lstStyle/>
          <a:p>
            <a:pPr algn="l">
              <a:lnSpc>
                <a:spcPts val="1745"/>
              </a:lnSpc>
            </a:pPr>
            <a:r>
              <a:rPr lang="en-US" sz="1246">
                <a:solidFill>
                  <a:srgbClr val="FFFFFF"/>
                </a:solidFill>
                <a:latin typeface="Poppins"/>
                <a:ea typeface="Poppins"/>
                <a:cs typeface="Poppins"/>
                <a:sym typeface="Poppins"/>
              </a:rPr>
              <a:t>Provide the most significant factor that</a:t>
            </a:r>
          </a:p>
          <a:p>
            <a:pPr algn="l">
              <a:lnSpc>
                <a:spcPts val="1745"/>
              </a:lnSpc>
            </a:pPr>
            <a:r>
              <a:rPr lang="en-US" sz="1246">
                <a:solidFill>
                  <a:srgbClr val="FFFFFF"/>
                </a:solidFill>
                <a:latin typeface="Poppins"/>
                <a:ea typeface="Poppins"/>
                <a:cs typeface="Poppins"/>
                <a:sym typeface="Poppins"/>
              </a:rPr>
              <a:t>defines the organization's daily operations.</a:t>
            </a:r>
          </a:p>
          <a:p>
            <a:pPr algn="l">
              <a:lnSpc>
                <a:spcPts val="1745"/>
              </a:lnSpc>
            </a:pPr>
            <a:r>
              <a:rPr lang="en-US" sz="1246">
                <a:solidFill>
                  <a:srgbClr val="FFFFFF"/>
                </a:solidFill>
                <a:latin typeface="Poppins"/>
                <a:ea typeface="Poppins"/>
                <a:cs typeface="Poppins"/>
                <a:sym typeface="Poppins"/>
              </a:rPr>
              <a:t>The majority of individuals assert that the</a:t>
            </a:r>
          </a:p>
          <a:p>
            <a:pPr algn="l">
              <a:lnSpc>
                <a:spcPts val="1745"/>
              </a:lnSpc>
            </a:pPr>
            <a:r>
              <a:rPr lang="en-US" sz="1246">
                <a:solidFill>
                  <a:srgbClr val="FFFFFF"/>
                </a:solidFill>
                <a:latin typeface="Poppins"/>
                <a:ea typeface="Poppins"/>
                <a:cs typeface="Poppins"/>
                <a:sym typeface="Poppins"/>
              </a:rPr>
              <a:t>critical factor is contingent upon primary</a:t>
            </a:r>
          </a:p>
          <a:p>
            <a:pPr algn="l">
              <a:lnSpc>
                <a:spcPts val="1745"/>
              </a:lnSpc>
              <a:spcBef>
                <a:spcPct val="0"/>
              </a:spcBef>
            </a:pPr>
            <a:r>
              <a:rPr lang="en-US" sz="1246">
                <a:solidFill>
                  <a:srgbClr val="FFFFFF"/>
                </a:solidFill>
                <a:latin typeface="Poppins"/>
                <a:ea typeface="Poppins"/>
                <a:cs typeface="Poppins"/>
                <a:sym typeface="Poppins"/>
              </a:rPr>
              <a:t>and secondary product/service data.</a:t>
            </a:r>
          </a:p>
        </p:txBody>
      </p:sp>
      <p:sp>
        <p:nvSpPr>
          <p:cNvPr id="21" name="TextBox 21"/>
          <p:cNvSpPr txBox="1"/>
          <p:nvPr/>
        </p:nvSpPr>
        <p:spPr>
          <a:xfrm>
            <a:off x="2109301" y="6520738"/>
            <a:ext cx="2613054" cy="447947"/>
          </a:xfrm>
          <a:prstGeom prst="rect">
            <a:avLst/>
          </a:prstGeom>
        </p:spPr>
        <p:txBody>
          <a:bodyPr lIns="0" tIns="0" rIns="0" bIns="0" rtlCol="0" anchor="t">
            <a:spAutoFit/>
          </a:bodyPr>
          <a:lstStyle/>
          <a:p>
            <a:pPr algn="l">
              <a:lnSpc>
                <a:spcPts val="3220"/>
              </a:lnSpc>
            </a:pPr>
            <a:r>
              <a:rPr lang="en-US" sz="2752" b="1">
                <a:solidFill>
                  <a:srgbClr val="FFFFFF"/>
                </a:solidFill>
                <a:latin typeface="Poppins Bold"/>
                <a:ea typeface="Poppins Bold"/>
                <a:cs typeface="Poppins Bold"/>
                <a:sym typeface="Poppins Bold"/>
              </a:rPr>
              <a:t>Relations</a:t>
            </a:r>
          </a:p>
        </p:txBody>
      </p:sp>
      <p:sp>
        <p:nvSpPr>
          <p:cNvPr id="23" name="TextBox 23"/>
          <p:cNvSpPr txBox="1"/>
          <p:nvPr/>
        </p:nvSpPr>
        <p:spPr>
          <a:xfrm>
            <a:off x="9087131" y="7699652"/>
            <a:ext cx="4329207" cy="1100407"/>
          </a:xfrm>
          <a:prstGeom prst="rect">
            <a:avLst/>
          </a:prstGeom>
        </p:spPr>
        <p:txBody>
          <a:bodyPr lIns="0" tIns="0" rIns="0" bIns="0" rtlCol="0" anchor="t">
            <a:spAutoFit/>
          </a:bodyPr>
          <a:lstStyle/>
          <a:p>
            <a:pPr algn="l">
              <a:lnSpc>
                <a:spcPts val="1745"/>
              </a:lnSpc>
            </a:pPr>
            <a:r>
              <a:rPr lang="en-US" sz="1246">
                <a:solidFill>
                  <a:srgbClr val="FFFFFF"/>
                </a:solidFill>
                <a:latin typeface="Poppins"/>
                <a:ea typeface="Poppins"/>
                <a:cs typeface="Poppins"/>
                <a:sym typeface="Poppins"/>
              </a:rPr>
              <a:t>Please specify the most critical variable that</a:t>
            </a:r>
          </a:p>
          <a:p>
            <a:pPr algn="l">
              <a:lnSpc>
                <a:spcPts val="1745"/>
              </a:lnSpc>
            </a:pPr>
            <a:r>
              <a:rPr lang="en-US" sz="1246">
                <a:solidFill>
                  <a:srgbClr val="FFFFFF"/>
                </a:solidFill>
                <a:latin typeface="Poppins"/>
                <a:ea typeface="Poppins"/>
                <a:cs typeface="Poppins"/>
                <a:sym typeface="Poppins"/>
              </a:rPr>
              <a:t>determines the organization's daily operations.</a:t>
            </a:r>
          </a:p>
          <a:p>
            <a:pPr algn="l">
              <a:lnSpc>
                <a:spcPts val="1745"/>
              </a:lnSpc>
            </a:pPr>
            <a:r>
              <a:rPr lang="en-US" sz="1246">
                <a:solidFill>
                  <a:srgbClr val="FFFFFF"/>
                </a:solidFill>
                <a:latin typeface="Poppins"/>
                <a:ea typeface="Poppins"/>
                <a:cs typeface="Poppins"/>
                <a:sym typeface="Poppins"/>
              </a:rPr>
              <a:t>Most individuals maintain that the critical factor</a:t>
            </a:r>
          </a:p>
          <a:p>
            <a:pPr algn="l">
              <a:lnSpc>
                <a:spcPts val="1745"/>
              </a:lnSpc>
            </a:pPr>
            <a:r>
              <a:rPr lang="en-US" sz="1246">
                <a:solidFill>
                  <a:srgbClr val="FFFFFF"/>
                </a:solidFill>
                <a:latin typeface="Poppins"/>
                <a:ea typeface="Poppins"/>
                <a:cs typeface="Poppins"/>
                <a:sym typeface="Poppins"/>
              </a:rPr>
              <a:t>is contingent upon primary and secondary</a:t>
            </a:r>
          </a:p>
          <a:p>
            <a:pPr algn="l">
              <a:lnSpc>
                <a:spcPts val="1745"/>
              </a:lnSpc>
              <a:spcBef>
                <a:spcPct val="0"/>
              </a:spcBef>
            </a:pPr>
            <a:r>
              <a:rPr lang="en-US" sz="1246">
                <a:solidFill>
                  <a:srgbClr val="FFFFFF"/>
                </a:solidFill>
                <a:latin typeface="Poppins"/>
                <a:ea typeface="Poppins"/>
                <a:cs typeface="Poppins"/>
                <a:sym typeface="Poppins"/>
              </a:rPr>
              <a:t>product/service data.</a:t>
            </a:r>
          </a:p>
        </p:txBody>
      </p:sp>
      <p:pic>
        <p:nvPicPr>
          <p:cNvPr id="32" name="Picture 31" descr="A diagram of a mathematical algorithm&#10;&#10;AI-generated content may be incorrect.">
            <a:extLst>
              <a:ext uri="{FF2B5EF4-FFF2-40B4-BE49-F238E27FC236}">
                <a16:creationId xmlns:a16="http://schemas.microsoft.com/office/drawing/2014/main" id="{DD89CD93-963B-DDAE-FAD2-A7B33B200685}"/>
              </a:ext>
            </a:extLst>
          </p:cNvPr>
          <p:cNvPicPr>
            <a:picLocks noChangeAspect="1"/>
          </p:cNvPicPr>
          <p:nvPr/>
        </p:nvPicPr>
        <p:blipFill>
          <a:blip r:embed="rId2"/>
          <a:stretch>
            <a:fillRect/>
          </a:stretch>
        </p:blipFill>
        <p:spPr>
          <a:xfrm>
            <a:off x="4231725" y="1577138"/>
            <a:ext cx="10620375" cy="2289810"/>
          </a:xfrm>
          <a:prstGeom prst="rect">
            <a:avLst/>
          </a:prstGeom>
        </p:spPr>
      </p:pic>
      <p:sp>
        <p:nvSpPr>
          <p:cNvPr id="33" name="TextBox 32">
            <a:extLst>
              <a:ext uri="{FF2B5EF4-FFF2-40B4-BE49-F238E27FC236}">
                <a16:creationId xmlns:a16="http://schemas.microsoft.com/office/drawing/2014/main" id="{2CA792AC-B25A-3FD8-1292-22DA48758FC8}"/>
              </a:ext>
            </a:extLst>
          </p:cNvPr>
          <p:cNvSpPr txBox="1"/>
          <p:nvPr/>
        </p:nvSpPr>
        <p:spPr>
          <a:xfrm>
            <a:off x="5719137" y="4007411"/>
            <a:ext cx="766119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Poppins"/>
                <a:cs typeface="Poppins"/>
              </a:rPr>
              <a:t>Fig. 1 </a:t>
            </a:r>
            <a:r>
              <a:rPr lang="en-US" sz="2000" dirty="0">
                <a:latin typeface="Poppins"/>
                <a:cs typeface="Poppins"/>
              </a:rPr>
              <a:t>Architecture of Second Order Delta Sigma Modulator</a:t>
            </a:r>
          </a:p>
        </p:txBody>
      </p:sp>
      <p:sp>
        <p:nvSpPr>
          <p:cNvPr id="35" name="TextBox 34">
            <a:extLst>
              <a:ext uri="{FF2B5EF4-FFF2-40B4-BE49-F238E27FC236}">
                <a16:creationId xmlns:a16="http://schemas.microsoft.com/office/drawing/2014/main" id="{A2309702-4DB8-FD10-9B86-2370E4E4E2ED}"/>
              </a:ext>
            </a:extLst>
          </p:cNvPr>
          <p:cNvSpPr txBox="1"/>
          <p:nvPr/>
        </p:nvSpPr>
        <p:spPr>
          <a:xfrm>
            <a:off x="1854006" y="9008609"/>
            <a:ext cx="599364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latin typeface="Poppins"/>
                <a:cs typeface="Poppins"/>
              </a:rPr>
              <a:t>Fig. 2 </a:t>
            </a:r>
            <a:r>
              <a:rPr lang="en-US" sz="2000" dirty="0">
                <a:latin typeface="Poppins"/>
                <a:cs typeface="Poppins"/>
              </a:rPr>
              <a:t>The Spectrum Analysis of 2nd Order CT Modulator after Filter In Ideal Condition</a:t>
            </a:r>
            <a:endParaRPr lang="en-US" dirty="0"/>
          </a:p>
        </p:txBody>
      </p:sp>
      <p:pic>
        <p:nvPicPr>
          <p:cNvPr id="8" name="Picture 7">
            <a:extLst>
              <a:ext uri="{FF2B5EF4-FFF2-40B4-BE49-F238E27FC236}">
                <a16:creationId xmlns:a16="http://schemas.microsoft.com/office/drawing/2014/main" id="{1E03CACD-699D-74D4-C04B-AC5ADC0D8CF2}"/>
              </a:ext>
            </a:extLst>
          </p:cNvPr>
          <p:cNvPicPr>
            <a:picLocks noChangeAspect="1"/>
          </p:cNvPicPr>
          <p:nvPr/>
        </p:nvPicPr>
        <p:blipFill>
          <a:blip r:embed="rId3"/>
          <a:stretch>
            <a:fillRect/>
          </a:stretch>
        </p:blipFill>
        <p:spPr>
          <a:xfrm>
            <a:off x="1060881" y="5308759"/>
            <a:ext cx="8335161" cy="3533216"/>
          </a:xfrm>
          <a:prstGeom prst="rect">
            <a:avLst/>
          </a:prstGeom>
        </p:spPr>
      </p:pic>
      <p:sp>
        <p:nvSpPr>
          <p:cNvPr id="22" name="Rectangle 21">
            <a:extLst>
              <a:ext uri="{FF2B5EF4-FFF2-40B4-BE49-F238E27FC236}">
                <a16:creationId xmlns:a16="http://schemas.microsoft.com/office/drawing/2014/main" id="{52376861-3D08-B02D-3480-948A7E65EAEF}"/>
              </a:ext>
            </a:extLst>
          </p:cNvPr>
          <p:cNvSpPr/>
          <p:nvPr/>
        </p:nvSpPr>
        <p:spPr>
          <a:xfrm>
            <a:off x="9563280" y="4656902"/>
            <a:ext cx="8181619" cy="5582493"/>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A30225A7-E751-02C9-F483-B2511B0AB1BC}"/>
              </a:ext>
            </a:extLst>
          </p:cNvPr>
          <p:cNvSpPr txBox="1"/>
          <p:nvPr/>
        </p:nvSpPr>
        <p:spPr>
          <a:xfrm>
            <a:off x="9658994" y="5547063"/>
            <a:ext cx="8085045" cy="24314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gn="just">
              <a:buFont typeface=""/>
              <a:buChar char="•"/>
            </a:pPr>
            <a:r>
              <a:rPr lang="en-US" sz="2800" b="1" baseline="0">
                <a:latin typeface="Calibri"/>
                <a:ea typeface="Arial"/>
                <a:cs typeface="Arial"/>
              </a:rPr>
              <a:t>System Validation:</a:t>
            </a:r>
            <a:r>
              <a:rPr lang="en-US" sz="2400" baseline="0">
                <a:latin typeface="Calibri"/>
                <a:ea typeface="Arial"/>
                <a:cs typeface="Arial"/>
              </a:rPr>
              <a:t> Confirmed the </a:t>
            </a:r>
            <a:r>
              <a:rPr lang="en-US" sz="2400">
                <a:latin typeface="Calibri"/>
                <a:ea typeface="Arial"/>
                <a:cs typeface="Arial"/>
              </a:rPr>
              <a:t>Continuous-Time loop</a:t>
            </a:r>
            <a:r>
              <a:rPr lang="en-US" sz="2400" baseline="0">
                <a:latin typeface="Calibri"/>
                <a:ea typeface="Arial"/>
                <a:cs typeface="Arial"/>
              </a:rPr>
              <a:t> is functional</a:t>
            </a:r>
            <a:r>
              <a:rPr lang="en-US" sz="2400">
                <a:latin typeface="Calibri"/>
                <a:ea typeface="Arial"/>
                <a:cs typeface="Arial"/>
              </a:rPr>
              <a:t>.</a:t>
            </a:r>
            <a:endParaRPr lang="en-US"/>
          </a:p>
          <a:p>
            <a:pPr algn="just"/>
            <a:endParaRPr lang="en-US" sz="2400">
              <a:latin typeface="Calibri"/>
              <a:ea typeface="Arial"/>
              <a:cs typeface="Arial"/>
            </a:endParaRPr>
          </a:p>
          <a:p>
            <a:pPr marL="228600" indent="-228600" algn="just">
              <a:buFont typeface=""/>
              <a:buChar char="•"/>
            </a:pPr>
            <a:r>
              <a:rPr lang="en-US" sz="2800" b="1" baseline="0">
                <a:latin typeface="Calibri"/>
                <a:ea typeface="Arial"/>
                <a:cs typeface="Arial"/>
              </a:rPr>
              <a:t>Conclusion:</a:t>
            </a:r>
            <a:r>
              <a:rPr lang="en-US" sz="2400" baseline="0">
                <a:latin typeface="Calibri"/>
                <a:ea typeface="Arial"/>
                <a:cs typeface="Arial"/>
              </a:rPr>
              <a:t> </a:t>
            </a:r>
            <a:r>
              <a:rPr lang="en-US" sz="2400">
                <a:ea typeface="+mn-lt"/>
                <a:cs typeface="+mn-lt"/>
              </a:rPr>
              <a:t>The spectrum exhibits the expected </a:t>
            </a:r>
            <a:r>
              <a:rPr lang="en-US" sz="2400" baseline="0">
                <a:ea typeface="+mn-lt"/>
                <a:cs typeface="+mn-lt"/>
              </a:rPr>
              <a:t>2nd-order noise </a:t>
            </a:r>
            <a:r>
              <a:rPr lang="en-US" sz="2400">
                <a:ea typeface="+mn-lt"/>
                <a:cs typeface="+mn-lt"/>
              </a:rPr>
              <a:t>shaping slope, confirming the loop filter is correctly pushing quantization noise out of the</a:t>
            </a:r>
            <a:r>
              <a:rPr lang="en-US" sz="2400" baseline="0">
                <a:ea typeface="+mn-lt"/>
                <a:cs typeface="+mn-lt"/>
              </a:rPr>
              <a:t> </a:t>
            </a:r>
            <a:r>
              <a:rPr lang="en-US" sz="2400">
                <a:ea typeface="+mn-lt"/>
                <a:cs typeface="+mn-lt"/>
              </a:rPr>
              <a:t>signal band</a:t>
            </a:r>
            <a:r>
              <a:rPr lang="en-US" sz="2400" baseline="0">
                <a:ea typeface="+mn-lt"/>
                <a:cs typeface="+mn-lt"/>
              </a:rPr>
              <a:t>.</a:t>
            </a:r>
            <a:endParaRPr lang="en-US" sz="2400">
              <a:ea typeface="+mn-lt"/>
              <a:cs typeface="+mn-lt"/>
            </a:endParaRPr>
          </a:p>
        </p:txBody>
      </p:sp>
      <p:sp>
        <p:nvSpPr>
          <p:cNvPr id="3" name="Rectangle 25">
            <a:extLst>
              <a:ext uri="{FF2B5EF4-FFF2-40B4-BE49-F238E27FC236}">
                <a16:creationId xmlns:a16="http://schemas.microsoft.com/office/drawing/2014/main" id="{A984BFC4-600E-7B22-F080-E23DE7C4CCCB}"/>
              </a:ext>
            </a:extLst>
          </p:cNvPr>
          <p:cNvSpPr/>
          <p:nvPr/>
        </p:nvSpPr>
        <p:spPr>
          <a:xfrm>
            <a:off x="12219962" y="8418593"/>
            <a:ext cx="3546557" cy="1295729"/>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r>
              <a:rPr lang="en-US" sz="2600" b="1">
                <a:solidFill>
                  <a:schemeClr val="tx1"/>
                </a:solidFill>
                <a:latin typeface="Poppins"/>
                <a:ea typeface="Segoe UI"/>
                <a:cs typeface="Segoe UI"/>
              </a:rPr>
              <a:t>Observation :</a:t>
            </a:r>
            <a:r>
              <a:rPr lang="en-US" sz="2600">
                <a:solidFill>
                  <a:schemeClr val="tx1"/>
                </a:solidFill>
                <a:latin typeface="Poppins"/>
                <a:ea typeface="Segoe UI"/>
                <a:cs typeface="Segoe UI"/>
              </a:rPr>
              <a:t>​</a:t>
            </a:r>
            <a:endParaRPr lang="en-US"/>
          </a:p>
          <a:p>
            <a:pPr algn="ctr" rtl="0"/>
            <a:r>
              <a:rPr lang="en-US" sz="2600" baseline="0">
                <a:solidFill>
                  <a:schemeClr val="tx1"/>
                </a:solidFill>
                <a:latin typeface="Poppins"/>
                <a:ea typeface="Segoe UI"/>
                <a:cs typeface="Segoe UI"/>
              </a:rPr>
              <a:t>SNR = </a:t>
            </a:r>
            <a:r>
              <a:rPr lang="en-US" sz="2600">
                <a:solidFill>
                  <a:schemeClr val="tx1"/>
                </a:solidFill>
                <a:latin typeface="Poppins"/>
                <a:ea typeface="Segoe UI"/>
                <a:cs typeface="Segoe UI"/>
              </a:rPr>
              <a:t>51.40</a:t>
            </a:r>
            <a:endParaRPr lang="en-US">
              <a:solidFill>
                <a:schemeClr val="tx1"/>
              </a:solidFill>
              <a:ea typeface="Calibri"/>
              <a:cs typeface="Calibri"/>
            </a:endParaRPr>
          </a:p>
        </p:txBody>
      </p:sp>
      <p:sp>
        <p:nvSpPr>
          <p:cNvPr id="4" name="Rectangle: Rounded Corners 3">
            <a:extLst>
              <a:ext uri="{FF2B5EF4-FFF2-40B4-BE49-F238E27FC236}">
                <a16:creationId xmlns:a16="http://schemas.microsoft.com/office/drawing/2014/main" id="{0F605BCE-CA9C-5CB8-B9C1-AEDB5C82DEA0}"/>
              </a:ext>
            </a:extLst>
          </p:cNvPr>
          <p:cNvSpPr/>
          <p:nvPr/>
        </p:nvSpPr>
        <p:spPr>
          <a:xfrm>
            <a:off x="1581407" y="-311569"/>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6" name="TextBox 5">
            <a:extLst>
              <a:ext uri="{FF2B5EF4-FFF2-40B4-BE49-F238E27FC236}">
                <a16:creationId xmlns:a16="http://schemas.microsoft.com/office/drawing/2014/main" id="{C2F4898A-FD0E-F62C-2F41-F6F2AF32ABAA}"/>
              </a:ext>
            </a:extLst>
          </p:cNvPr>
          <p:cNvSpPr txBox="1"/>
          <p:nvPr/>
        </p:nvSpPr>
        <p:spPr>
          <a:xfrm>
            <a:off x="7138090" y="140268"/>
            <a:ext cx="407523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solidFill>
                  <a:schemeClr val="bg1"/>
                </a:solidFill>
                <a:ea typeface="Calibri"/>
                <a:cs typeface="Calibri"/>
              </a:rPr>
              <a:t>CT Modulator</a:t>
            </a:r>
            <a:endParaRPr lang="en-US" sz="540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AC5E5-719C-79B0-26A6-08CA11EEF7C0}"/>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D26CAD10-8496-995B-730C-400C6EBD73ED}"/>
              </a:ext>
            </a:extLst>
          </p:cNvPr>
          <p:cNvSpPr/>
          <p:nvPr/>
        </p:nvSpPr>
        <p:spPr>
          <a:xfrm>
            <a:off x="540035" y="1781747"/>
            <a:ext cx="8585565" cy="8509900"/>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B84BC6F-B456-A6B2-6A69-7A632EC8F899}"/>
              </a:ext>
            </a:extLst>
          </p:cNvPr>
          <p:cNvSpPr/>
          <p:nvPr/>
        </p:nvSpPr>
        <p:spPr>
          <a:xfrm>
            <a:off x="3182651" y="9290749"/>
            <a:ext cx="3260808" cy="959555"/>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1F03E23-BF2B-270F-AFE9-A8F5C40A3D55}"/>
              </a:ext>
            </a:extLst>
          </p:cNvPr>
          <p:cNvSpPr/>
          <p:nvPr/>
        </p:nvSpPr>
        <p:spPr>
          <a:xfrm>
            <a:off x="9124350" y="1787652"/>
            <a:ext cx="8629632" cy="8499446"/>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DFA3DCC5-27B6-3117-354B-F832FC55459F}"/>
              </a:ext>
            </a:extLst>
          </p:cNvPr>
          <p:cNvSpPr txBox="1"/>
          <p:nvPr/>
        </p:nvSpPr>
        <p:spPr>
          <a:xfrm>
            <a:off x="1581883" y="4566991"/>
            <a:ext cx="5962753"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latin typeface="Poppins"/>
                <a:cs typeface="Poppins"/>
              </a:rPr>
              <a:t>Fig. 3 </a:t>
            </a:r>
            <a:r>
              <a:rPr lang="en-US" sz="2000" dirty="0">
                <a:latin typeface="Poppins"/>
                <a:cs typeface="Poppins"/>
              </a:rPr>
              <a:t>The Spectrum Analysis of 2nd Order CT Modulator after Filter with Flicker Noise</a:t>
            </a:r>
            <a:endParaRPr lang="en-US" dirty="0"/>
          </a:p>
        </p:txBody>
      </p:sp>
      <p:sp>
        <p:nvSpPr>
          <p:cNvPr id="38" name="TextBox 37">
            <a:extLst>
              <a:ext uri="{FF2B5EF4-FFF2-40B4-BE49-F238E27FC236}">
                <a16:creationId xmlns:a16="http://schemas.microsoft.com/office/drawing/2014/main" id="{69BC5DA0-C8F4-112A-ED2A-FB6862469D4F}"/>
              </a:ext>
            </a:extLst>
          </p:cNvPr>
          <p:cNvSpPr txBox="1"/>
          <p:nvPr/>
        </p:nvSpPr>
        <p:spPr>
          <a:xfrm>
            <a:off x="3590881" y="9297753"/>
            <a:ext cx="2455906" cy="12850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550" b="1">
                <a:latin typeface="Poppins"/>
                <a:cs typeface="Segoe UI"/>
              </a:rPr>
              <a:t>Observation :</a:t>
            </a:r>
          </a:p>
          <a:p>
            <a:r>
              <a:rPr lang="en-US" sz="2550">
                <a:latin typeface="Poppins"/>
                <a:cs typeface="Segoe UI"/>
              </a:rPr>
              <a:t>SNR = 46.48</a:t>
            </a:r>
          </a:p>
          <a:p>
            <a:endParaRPr lang="en-US" sz="2550">
              <a:latin typeface="Poppins"/>
              <a:cs typeface="Segoe UI"/>
            </a:endParaRPr>
          </a:p>
        </p:txBody>
      </p:sp>
      <p:sp>
        <p:nvSpPr>
          <p:cNvPr id="4" name="TextBox 3">
            <a:extLst>
              <a:ext uri="{FF2B5EF4-FFF2-40B4-BE49-F238E27FC236}">
                <a16:creationId xmlns:a16="http://schemas.microsoft.com/office/drawing/2014/main" id="{B4B9403F-94CE-B5F9-CD31-AD8FA043859E}"/>
              </a:ext>
            </a:extLst>
          </p:cNvPr>
          <p:cNvSpPr txBox="1"/>
          <p:nvPr/>
        </p:nvSpPr>
        <p:spPr>
          <a:xfrm>
            <a:off x="10040319" y="4567001"/>
            <a:ext cx="724415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latin typeface="Poppins"/>
                <a:ea typeface="Segoe UI"/>
                <a:cs typeface="Segoe UI"/>
              </a:rPr>
              <a:t>Fig. 4 </a:t>
            </a:r>
            <a:r>
              <a:rPr lang="en-US" sz="2000" dirty="0">
                <a:latin typeface="Poppins"/>
                <a:ea typeface="Segoe UI"/>
                <a:cs typeface="Segoe UI"/>
              </a:rPr>
              <a:t>The</a:t>
            </a:r>
            <a:r>
              <a:rPr lang="en-US" sz="2000" baseline="0" dirty="0">
                <a:latin typeface="Poppins"/>
                <a:ea typeface="Segoe UI"/>
                <a:cs typeface="Segoe UI"/>
              </a:rPr>
              <a:t> Spectrum Analysis of 2nd Order CT </a:t>
            </a:r>
            <a:r>
              <a:rPr lang="en-US" sz="2000" dirty="0">
                <a:latin typeface="Poppins"/>
                <a:ea typeface="Segoe UI"/>
                <a:cs typeface="Segoe UI"/>
              </a:rPr>
              <a:t>Modulator after Filter with</a:t>
            </a:r>
            <a:r>
              <a:rPr lang="en-US" sz="2000" baseline="0" dirty="0">
                <a:latin typeface="Poppins"/>
                <a:ea typeface="Segoe UI"/>
                <a:cs typeface="Segoe UI"/>
              </a:rPr>
              <a:t> </a:t>
            </a:r>
            <a:r>
              <a:rPr lang="en-US" sz="2000" dirty="0">
                <a:latin typeface="Poppins"/>
                <a:ea typeface="Segoe UI"/>
                <a:cs typeface="Segoe UI"/>
              </a:rPr>
              <a:t>Thermal </a:t>
            </a:r>
            <a:r>
              <a:rPr lang="en-US" sz="2000" baseline="0" dirty="0">
                <a:latin typeface="Poppins"/>
                <a:ea typeface="Segoe UI"/>
                <a:cs typeface="Segoe UI"/>
              </a:rPr>
              <a:t>Noise</a:t>
            </a:r>
            <a:r>
              <a:rPr sz="2000" dirty="0">
                <a:latin typeface="Poppins"/>
                <a:ea typeface="Poppins"/>
                <a:cs typeface="Poppins"/>
              </a:rPr>
              <a:t>​</a:t>
            </a:r>
            <a:endParaRPr lang="en-US" dirty="0">
              <a:ea typeface="Calibri"/>
              <a:cs typeface="Calibri"/>
            </a:endParaRPr>
          </a:p>
        </p:txBody>
      </p:sp>
      <p:sp>
        <p:nvSpPr>
          <p:cNvPr id="7" name="TextBox 6">
            <a:extLst>
              <a:ext uri="{FF2B5EF4-FFF2-40B4-BE49-F238E27FC236}">
                <a16:creationId xmlns:a16="http://schemas.microsoft.com/office/drawing/2014/main" id="{4F5E20D6-A51E-C956-CD34-1C51126EDC97}"/>
              </a:ext>
            </a:extLst>
          </p:cNvPr>
          <p:cNvSpPr txBox="1"/>
          <p:nvPr/>
        </p:nvSpPr>
        <p:spPr>
          <a:xfrm>
            <a:off x="9814536" y="5854467"/>
            <a:ext cx="7707528"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gn="just">
              <a:buFont typeface=""/>
              <a:buChar char="•"/>
            </a:pPr>
            <a:r>
              <a:rPr lang="en-US" sz="2800" b="1"/>
              <a:t>Observation:</a:t>
            </a:r>
            <a:r>
              <a:rPr lang="en-US" sz="2400"/>
              <a:t> The in-band noise floor is raised uniformly (flat increase) compared to the ideal baseline.</a:t>
            </a:r>
            <a:endParaRPr lang="en-US" sz="2400">
              <a:ea typeface="Calibri"/>
              <a:cs typeface="Calibri"/>
            </a:endParaRPr>
          </a:p>
          <a:p>
            <a:pPr marL="228600" indent="-228600" algn="just">
              <a:buFont typeface=""/>
              <a:buChar char="•"/>
            </a:pPr>
            <a:r>
              <a:rPr lang="en-US" sz="2800" b="1"/>
              <a:t>Impact:</a:t>
            </a:r>
            <a:r>
              <a:rPr lang="en-US" sz="2800"/>
              <a:t> </a:t>
            </a:r>
            <a:r>
              <a:rPr lang="en-US" sz="2400"/>
              <a:t>Unlike quantization noise, thermal noise cannot be shaped or pushed to high frequencies by the loop filter.</a:t>
            </a:r>
            <a:endParaRPr lang="en-US" sz="2400">
              <a:ea typeface="Calibri"/>
              <a:cs typeface="Calibri"/>
            </a:endParaRPr>
          </a:p>
          <a:p>
            <a:pPr marL="228600" indent="-228600" algn="just">
              <a:buFont typeface=""/>
              <a:buChar char="•"/>
            </a:pPr>
            <a:r>
              <a:rPr lang="en-US" sz="2800" b="1"/>
              <a:t>Conclusion:</a:t>
            </a:r>
            <a:r>
              <a:rPr lang="en-US" sz="2400"/>
              <a:t> This establishes a physical "hard floor" for performance; the SNR is now limited by the analog noise power rather than the modulator's loop order.</a:t>
            </a:r>
            <a:endParaRPr lang="en-US" sz="2400">
              <a:ea typeface="Calibri"/>
              <a:cs typeface="Calibri"/>
            </a:endParaRPr>
          </a:p>
        </p:txBody>
      </p:sp>
      <p:sp>
        <p:nvSpPr>
          <p:cNvPr id="8" name="TextBox 7">
            <a:extLst>
              <a:ext uri="{FF2B5EF4-FFF2-40B4-BE49-F238E27FC236}">
                <a16:creationId xmlns:a16="http://schemas.microsoft.com/office/drawing/2014/main" id="{ED8700CE-2927-F918-4C42-9A8979217F6D}"/>
              </a:ext>
            </a:extLst>
          </p:cNvPr>
          <p:cNvSpPr txBox="1"/>
          <p:nvPr/>
        </p:nvSpPr>
        <p:spPr>
          <a:xfrm>
            <a:off x="7046531" y="8900045"/>
            <a:ext cx="9144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Poppins"/>
                <a:ea typeface="Poppins"/>
                <a:cs typeface="Poppins"/>
              </a:rPr>
              <a:t>​</a:t>
            </a:r>
            <a:endParaRPr lang="en-US"/>
          </a:p>
          <a:p>
            <a:pPr algn="ctr"/>
            <a:endParaRPr lang="en-US"/>
          </a:p>
        </p:txBody>
      </p:sp>
      <p:sp>
        <p:nvSpPr>
          <p:cNvPr id="34" name="Rectangle 25">
            <a:extLst>
              <a:ext uri="{FF2B5EF4-FFF2-40B4-BE49-F238E27FC236}">
                <a16:creationId xmlns:a16="http://schemas.microsoft.com/office/drawing/2014/main" id="{F0A714D5-3823-E64A-5721-1E5F0588E686}"/>
              </a:ext>
            </a:extLst>
          </p:cNvPr>
          <p:cNvSpPr/>
          <p:nvPr/>
        </p:nvSpPr>
        <p:spPr>
          <a:xfrm>
            <a:off x="12393887" y="9223514"/>
            <a:ext cx="2874204" cy="1009981"/>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3">
            <a:extLst>
              <a:ext uri="{FF2B5EF4-FFF2-40B4-BE49-F238E27FC236}">
                <a16:creationId xmlns:a16="http://schemas.microsoft.com/office/drawing/2014/main" id="{C61E4FB1-BD76-FCD0-02D3-E2FAC3236FD1}"/>
              </a:ext>
            </a:extLst>
          </p:cNvPr>
          <p:cNvSpPr txBox="1"/>
          <p:nvPr/>
        </p:nvSpPr>
        <p:spPr>
          <a:xfrm>
            <a:off x="12616984" y="9372358"/>
            <a:ext cx="2661045" cy="818229"/>
          </a:xfrm>
          <a:prstGeom prst="rect">
            <a:avLst/>
          </a:prstGeom>
        </p:spPr>
        <p:txBody>
          <a:bodyPr wrap="square" lIns="0" tIns="0" rIns="0" bIns="0" rtlCol="0" anchor="t">
            <a:spAutoFit/>
          </a:bodyPr>
          <a:lstStyle/>
          <a:p>
            <a:pPr>
              <a:lnSpc>
                <a:spcPts val="1745"/>
              </a:lnSpc>
            </a:pPr>
            <a:r>
              <a:rPr lang="en-US" sz="1200">
                <a:solidFill>
                  <a:srgbClr val="FFFFFF"/>
                </a:solidFill>
                <a:latin typeface="Poppins"/>
                <a:ea typeface="Calibri"/>
                <a:cs typeface="Poppins"/>
              </a:rPr>
              <a:t> </a:t>
            </a:r>
            <a:r>
              <a:rPr lang="en-US" sz="2600" b="1">
                <a:solidFill>
                  <a:srgbClr val="000000"/>
                </a:solidFill>
                <a:latin typeface="Poppins"/>
                <a:ea typeface="Calibri"/>
                <a:cs typeface="Poppins"/>
              </a:rPr>
              <a:t>Observation :</a:t>
            </a:r>
            <a:endParaRPr lang="en-US" sz="2600">
              <a:solidFill>
                <a:srgbClr val="000000"/>
              </a:solidFill>
              <a:latin typeface="Poppins"/>
              <a:ea typeface="Calibri"/>
              <a:cs typeface="Poppins"/>
            </a:endParaRPr>
          </a:p>
          <a:p>
            <a:r>
              <a:rPr lang="en-US" sz="2600">
                <a:solidFill>
                  <a:srgbClr val="000000"/>
                </a:solidFill>
                <a:latin typeface="Poppins"/>
                <a:ea typeface="Calibri"/>
                <a:cs typeface="Poppins"/>
              </a:rPr>
              <a:t>SNR = 46.47</a:t>
            </a:r>
          </a:p>
          <a:p>
            <a:endParaRPr lang="en-US" sz="1200">
              <a:solidFill>
                <a:srgbClr val="FFFFFF"/>
              </a:solidFill>
              <a:latin typeface="Poppins"/>
              <a:ea typeface="Calibri"/>
              <a:cs typeface="Poppins"/>
            </a:endParaRPr>
          </a:p>
        </p:txBody>
      </p:sp>
      <p:sp>
        <p:nvSpPr>
          <p:cNvPr id="43" name="TextBox 42">
            <a:extLst>
              <a:ext uri="{FF2B5EF4-FFF2-40B4-BE49-F238E27FC236}">
                <a16:creationId xmlns:a16="http://schemas.microsoft.com/office/drawing/2014/main" id="{072F2B16-ECC2-9B51-CE67-003BD479878B}"/>
              </a:ext>
            </a:extLst>
          </p:cNvPr>
          <p:cNvSpPr txBox="1"/>
          <p:nvPr/>
        </p:nvSpPr>
        <p:spPr>
          <a:xfrm>
            <a:off x="915398" y="5665028"/>
            <a:ext cx="7791572" cy="32316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gn="just">
              <a:buFont typeface=""/>
              <a:buChar char="•"/>
            </a:pPr>
            <a:r>
              <a:rPr lang="en-US" sz="2800" b="1"/>
              <a:t>Observation:</a:t>
            </a:r>
            <a:r>
              <a:rPr lang="en-US" sz="2400"/>
              <a:t> The low-frequency noise notch is elevated and "filled in" compared to the ideal baseline.</a:t>
            </a:r>
            <a:endParaRPr lang="en-US" sz="2400">
              <a:ea typeface="Calibri"/>
              <a:cs typeface="Calibri"/>
            </a:endParaRPr>
          </a:p>
          <a:p>
            <a:pPr marL="228600" indent="-228600" algn="just">
              <a:buFont typeface=""/>
              <a:buChar char="•"/>
            </a:pPr>
            <a:r>
              <a:rPr lang="en-US" sz="2800" b="1"/>
              <a:t>Impact:</a:t>
            </a:r>
            <a:r>
              <a:rPr lang="en-US" sz="2800"/>
              <a:t> </a:t>
            </a:r>
            <a:r>
              <a:rPr lang="en-US" sz="2400"/>
              <a:t>This noise source dominates over quantization noise at low frequencies, creating a higher noise floor that the loop filter cannot shape away.</a:t>
            </a:r>
            <a:endParaRPr lang="en-US" sz="2400">
              <a:ea typeface="Calibri"/>
              <a:cs typeface="Calibri"/>
            </a:endParaRPr>
          </a:p>
          <a:p>
            <a:pPr marL="228600" indent="-228600" algn="just">
              <a:buFont typeface=""/>
              <a:buChar char="•"/>
            </a:pPr>
            <a:r>
              <a:rPr lang="en-US" sz="2800" b="1"/>
              <a:t>Conclusion:</a:t>
            </a:r>
            <a:r>
              <a:rPr lang="en-US" sz="2400"/>
              <a:t> Simulation confirms that for high-resolution DC-accurate designs, device noise sets the fundamental performance limit, regardless of loop order.</a:t>
            </a:r>
            <a:endParaRPr lang="en-US" sz="2400">
              <a:ea typeface="Calibri"/>
              <a:cs typeface="Calibri"/>
            </a:endParaRPr>
          </a:p>
        </p:txBody>
      </p:sp>
      <p:pic>
        <p:nvPicPr>
          <p:cNvPr id="5" name="Picture 4" descr="A screen shot of a graph&#10;&#10;AI-generated content may be incorrect.">
            <a:extLst>
              <a:ext uri="{FF2B5EF4-FFF2-40B4-BE49-F238E27FC236}">
                <a16:creationId xmlns:a16="http://schemas.microsoft.com/office/drawing/2014/main" id="{D6986B60-A89D-D84C-5A66-6B2E36AF8E18}"/>
              </a:ext>
            </a:extLst>
          </p:cNvPr>
          <p:cNvPicPr>
            <a:picLocks noChangeAspect="1"/>
          </p:cNvPicPr>
          <p:nvPr/>
        </p:nvPicPr>
        <p:blipFill>
          <a:blip r:embed="rId2"/>
          <a:stretch>
            <a:fillRect/>
          </a:stretch>
        </p:blipFill>
        <p:spPr>
          <a:xfrm>
            <a:off x="720169" y="1807108"/>
            <a:ext cx="8195208" cy="2754966"/>
          </a:xfrm>
          <a:prstGeom prst="rect">
            <a:avLst/>
          </a:prstGeom>
        </p:spPr>
      </p:pic>
      <p:pic>
        <p:nvPicPr>
          <p:cNvPr id="6" name="Picture 5" descr="A screen shot of a graph&#10;&#10;AI-generated content may be incorrect.">
            <a:extLst>
              <a:ext uri="{FF2B5EF4-FFF2-40B4-BE49-F238E27FC236}">
                <a16:creationId xmlns:a16="http://schemas.microsoft.com/office/drawing/2014/main" id="{5AD24CF3-EBAF-D93E-8A99-447FA6FB5051}"/>
              </a:ext>
            </a:extLst>
          </p:cNvPr>
          <p:cNvPicPr>
            <a:picLocks noChangeAspect="1"/>
          </p:cNvPicPr>
          <p:nvPr/>
        </p:nvPicPr>
        <p:blipFill>
          <a:blip r:embed="rId3"/>
          <a:stretch>
            <a:fillRect/>
          </a:stretch>
        </p:blipFill>
        <p:spPr>
          <a:xfrm>
            <a:off x="9427795" y="1810636"/>
            <a:ext cx="8090769" cy="2745183"/>
          </a:xfrm>
          <a:prstGeom prst="rect">
            <a:avLst/>
          </a:prstGeom>
        </p:spPr>
      </p:pic>
      <p:cxnSp>
        <p:nvCxnSpPr>
          <p:cNvPr id="2" name="Straight Arrow Connector 1">
            <a:extLst>
              <a:ext uri="{FF2B5EF4-FFF2-40B4-BE49-F238E27FC236}">
                <a16:creationId xmlns:a16="http://schemas.microsoft.com/office/drawing/2014/main" id="{E412C8CF-CB30-5130-0ABC-CFC172F3E826}"/>
              </a:ext>
            </a:extLst>
          </p:cNvPr>
          <p:cNvCxnSpPr/>
          <p:nvPr/>
        </p:nvCxnSpPr>
        <p:spPr>
          <a:xfrm>
            <a:off x="5779570" y="2852110"/>
            <a:ext cx="2541166" cy="191112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 name="Straight Arrow Connector 2">
            <a:extLst>
              <a:ext uri="{FF2B5EF4-FFF2-40B4-BE49-F238E27FC236}">
                <a16:creationId xmlns:a16="http://schemas.microsoft.com/office/drawing/2014/main" id="{9ABA76D0-B430-5FD2-9BA0-262FA9553D75}"/>
              </a:ext>
            </a:extLst>
          </p:cNvPr>
          <p:cNvCxnSpPr>
            <a:cxnSpLocks/>
          </p:cNvCxnSpPr>
          <p:nvPr/>
        </p:nvCxnSpPr>
        <p:spPr>
          <a:xfrm flipH="1">
            <a:off x="9110753" y="3255521"/>
            <a:ext cx="3308304" cy="149090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3" name="TextBox 12">
            <a:extLst>
              <a:ext uri="{FF2B5EF4-FFF2-40B4-BE49-F238E27FC236}">
                <a16:creationId xmlns:a16="http://schemas.microsoft.com/office/drawing/2014/main" id="{12DD9458-D25C-CB8B-8CDC-EFB80DF8572A}"/>
              </a:ext>
            </a:extLst>
          </p:cNvPr>
          <p:cNvSpPr txBox="1"/>
          <p:nvPr/>
        </p:nvSpPr>
        <p:spPr>
          <a:xfrm>
            <a:off x="8081296" y="4918706"/>
            <a:ext cx="26883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We see an increase in noise floor</a:t>
            </a:r>
            <a:endParaRPr lang="en-US"/>
          </a:p>
        </p:txBody>
      </p:sp>
      <p:sp>
        <p:nvSpPr>
          <p:cNvPr id="10" name="Rectangle: Rounded Corners 9">
            <a:extLst>
              <a:ext uri="{FF2B5EF4-FFF2-40B4-BE49-F238E27FC236}">
                <a16:creationId xmlns:a16="http://schemas.microsoft.com/office/drawing/2014/main" id="{3553EDAA-3044-C80E-6C0D-3C5B7D22D8D9}"/>
              </a:ext>
            </a:extLst>
          </p:cNvPr>
          <p:cNvSpPr/>
          <p:nvPr/>
        </p:nvSpPr>
        <p:spPr>
          <a:xfrm>
            <a:off x="1581407" y="-311569"/>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12" name="TextBox 11">
            <a:extLst>
              <a:ext uri="{FF2B5EF4-FFF2-40B4-BE49-F238E27FC236}">
                <a16:creationId xmlns:a16="http://schemas.microsoft.com/office/drawing/2014/main" id="{8ADD52BD-D3F2-AF54-DC10-CE13A8B12E23}"/>
              </a:ext>
            </a:extLst>
          </p:cNvPr>
          <p:cNvSpPr txBox="1"/>
          <p:nvPr/>
        </p:nvSpPr>
        <p:spPr>
          <a:xfrm>
            <a:off x="7138090" y="140268"/>
            <a:ext cx="407523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solidFill>
                  <a:schemeClr val="bg1"/>
                </a:solidFill>
                <a:ea typeface="Calibri"/>
                <a:cs typeface="Calibri"/>
              </a:rPr>
              <a:t>CT Modulator</a:t>
            </a:r>
            <a:endParaRPr lang="en-US" sz="5400">
              <a:solidFill>
                <a:schemeClr val="bg1"/>
              </a:solidFill>
            </a:endParaRPr>
          </a:p>
        </p:txBody>
      </p:sp>
    </p:spTree>
    <p:extLst>
      <p:ext uri="{BB962C8B-B14F-4D97-AF65-F5344CB8AC3E}">
        <p14:creationId xmlns:p14="http://schemas.microsoft.com/office/powerpoint/2010/main" val="2740828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46714-8D2B-CFC1-C5D4-A18FCE43EECB}"/>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1A69E90-16CB-9BDE-7009-248EA903C9D9}"/>
              </a:ext>
            </a:extLst>
          </p:cNvPr>
          <p:cNvGrpSpPr/>
          <p:nvPr/>
        </p:nvGrpSpPr>
        <p:grpSpPr>
          <a:xfrm>
            <a:off x="1506564" y="4295470"/>
            <a:ext cx="537179" cy="537179"/>
            <a:chOff x="0" y="0"/>
            <a:chExt cx="1913890" cy="1913890"/>
          </a:xfrm>
        </p:grpSpPr>
        <p:sp>
          <p:nvSpPr>
            <p:cNvPr id="6" name="Freeform 6">
              <a:extLst>
                <a:ext uri="{FF2B5EF4-FFF2-40B4-BE49-F238E27FC236}">
                  <a16:creationId xmlns:a16="http://schemas.microsoft.com/office/drawing/2014/main" id="{A33931BC-1066-FF87-390D-2D35649D4DA6}"/>
                </a:ext>
              </a:extLst>
            </p:cNvPr>
            <p:cNvSpPr/>
            <p:nvPr/>
          </p:nvSpPr>
          <p:spPr>
            <a:xfrm>
              <a:off x="0" y="0"/>
              <a:ext cx="1913890" cy="1913890"/>
            </a:xfrm>
            <a:custGeom>
              <a:avLst/>
              <a:gdLst/>
              <a:ahLst/>
              <a:cxnLst/>
              <a:rect l="l" t="t" r="r" b="b"/>
              <a:pathLst>
                <a:path w="1913890" h="1913890">
                  <a:moveTo>
                    <a:pt x="1789430" y="1913890"/>
                  </a:moveTo>
                  <a:lnTo>
                    <a:pt x="124460" y="1913890"/>
                  </a:lnTo>
                  <a:cubicBezTo>
                    <a:pt x="55880" y="1913890"/>
                    <a:pt x="0" y="1858010"/>
                    <a:pt x="0" y="1789430"/>
                  </a:cubicBezTo>
                  <a:lnTo>
                    <a:pt x="0" y="124460"/>
                  </a:lnTo>
                  <a:cubicBezTo>
                    <a:pt x="0" y="55880"/>
                    <a:pt x="55880" y="0"/>
                    <a:pt x="124460" y="0"/>
                  </a:cubicBezTo>
                  <a:lnTo>
                    <a:pt x="1789430" y="0"/>
                  </a:lnTo>
                  <a:cubicBezTo>
                    <a:pt x="1858010" y="0"/>
                    <a:pt x="1913890" y="55880"/>
                    <a:pt x="1913890" y="124460"/>
                  </a:cubicBezTo>
                  <a:lnTo>
                    <a:pt x="1913890" y="1789430"/>
                  </a:lnTo>
                  <a:cubicBezTo>
                    <a:pt x="1913890" y="1858010"/>
                    <a:pt x="1858010" y="1913890"/>
                    <a:pt x="1789430" y="1913890"/>
                  </a:cubicBezTo>
                  <a:close/>
                </a:path>
              </a:pathLst>
            </a:custGeom>
            <a:solidFill>
              <a:srgbClr val="FFFFFF"/>
            </a:solidFill>
          </p:spPr>
          <p:txBody>
            <a:bodyPr/>
            <a:lstStyle/>
            <a:p>
              <a:endParaRPr lang="en-IN"/>
            </a:p>
          </p:txBody>
        </p:sp>
      </p:grpSp>
      <p:grpSp>
        <p:nvGrpSpPr>
          <p:cNvPr id="9" name="Group 9">
            <a:extLst>
              <a:ext uri="{FF2B5EF4-FFF2-40B4-BE49-F238E27FC236}">
                <a16:creationId xmlns:a16="http://schemas.microsoft.com/office/drawing/2014/main" id="{C1C9F87E-F73A-7B68-C160-2F71ED5B0BA2}"/>
              </a:ext>
            </a:extLst>
          </p:cNvPr>
          <p:cNvGrpSpPr/>
          <p:nvPr/>
        </p:nvGrpSpPr>
        <p:grpSpPr>
          <a:xfrm>
            <a:off x="1505832" y="6035208"/>
            <a:ext cx="537179" cy="537179"/>
            <a:chOff x="0" y="0"/>
            <a:chExt cx="1913890" cy="1913890"/>
          </a:xfrm>
        </p:grpSpPr>
        <p:sp>
          <p:nvSpPr>
            <p:cNvPr id="10" name="Freeform 10">
              <a:extLst>
                <a:ext uri="{FF2B5EF4-FFF2-40B4-BE49-F238E27FC236}">
                  <a16:creationId xmlns:a16="http://schemas.microsoft.com/office/drawing/2014/main" id="{579A111A-40F1-9779-06D3-51AF8839FB6E}"/>
                </a:ext>
              </a:extLst>
            </p:cNvPr>
            <p:cNvSpPr/>
            <p:nvPr/>
          </p:nvSpPr>
          <p:spPr>
            <a:xfrm>
              <a:off x="0" y="0"/>
              <a:ext cx="1913890" cy="1913890"/>
            </a:xfrm>
            <a:custGeom>
              <a:avLst/>
              <a:gdLst/>
              <a:ahLst/>
              <a:cxnLst/>
              <a:rect l="l" t="t" r="r" b="b"/>
              <a:pathLst>
                <a:path w="1913890" h="1913890">
                  <a:moveTo>
                    <a:pt x="1789430" y="1913890"/>
                  </a:moveTo>
                  <a:lnTo>
                    <a:pt x="124460" y="1913890"/>
                  </a:lnTo>
                  <a:cubicBezTo>
                    <a:pt x="55880" y="1913890"/>
                    <a:pt x="0" y="1858010"/>
                    <a:pt x="0" y="1789430"/>
                  </a:cubicBezTo>
                  <a:lnTo>
                    <a:pt x="0" y="124460"/>
                  </a:lnTo>
                  <a:cubicBezTo>
                    <a:pt x="0" y="55880"/>
                    <a:pt x="55880" y="0"/>
                    <a:pt x="124460" y="0"/>
                  </a:cubicBezTo>
                  <a:lnTo>
                    <a:pt x="1789430" y="0"/>
                  </a:lnTo>
                  <a:cubicBezTo>
                    <a:pt x="1858010" y="0"/>
                    <a:pt x="1913890" y="55880"/>
                    <a:pt x="1913890" y="124460"/>
                  </a:cubicBezTo>
                  <a:lnTo>
                    <a:pt x="1913890" y="1789430"/>
                  </a:lnTo>
                  <a:cubicBezTo>
                    <a:pt x="1913890" y="1858010"/>
                    <a:pt x="1858010" y="1913890"/>
                    <a:pt x="1789430" y="1913890"/>
                  </a:cubicBezTo>
                  <a:close/>
                </a:path>
              </a:pathLst>
            </a:custGeom>
            <a:solidFill>
              <a:srgbClr val="FFFFFF"/>
            </a:solidFill>
          </p:spPr>
          <p:txBody>
            <a:bodyPr/>
            <a:lstStyle/>
            <a:p>
              <a:endParaRPr lang="en-IN"/>
            </a:p>
          </p:txBody>
        </p:sp>
      </p:grpSp>
      <p:grpSp>
        <p:nvGrpSpPr>
          <p:cNvPr id="11" name="Group 11">
            <a:extLst>
              <a:ext uri="{FF2B5EF4-FFF2-40B4-BE49-F238E27FC236}">
                <a16:creationId xmlns:a16="http://schemas.microsoft.com/office/drawing/2014/main" id="{62200565-7C66-C3D4-F462-863546A21275}"/>
              </a:ext>
            </a:extLst>
          </p:cNvPr>
          <p:cNvGrpSpPr/>
          <p:nvPr/>
        </p:nvGrpSpPr>
        <p:grpSpPr>
          <a:xfrm>
            <a:off x="6581806" y="6220105"/>
            <a:ext cx="537179" cy="537179"/>
            <a:chOff x="0" y="0"/>
            <a:chExt cx="1913890" cy="1913890"/>
          </a:xfrm>
        </p:grpSpPr>
        <p:sp>
          <p:nvSpPr>
            <p:cNvPr id="12" name="Freeform 12">
              <a:extLst>
                <a:ext uri="{FF2B5EF4-FFF2-40B4-BE49-F238E27FC236}">
                  <a16:creationId xmlns:a16="http://schemas.microsoft.com/office/drawing/2014/main" id="{3425512F-15C3-859A-A3E3-B765FDAD70DD}"/>
                </a:ext>
              </a:extLst>
            </p:cNvPr>
            <p:cNvSpPr/>
            <p:nvPr/>
          </p:nvSpPr>
          <p:spPr>
            <a:xfrm>
              <a:off x="0" y="0"/>
              <a:ext cx="1913890" cy="1913890"/>
            </a:xfrm>
            <a:custGeom>
              <a:avLst/>
              <a:gdLst/>
              <a:ahLst/>
              <a:cxnLst/>
              <a:rect l="l" t="t" r="r" b="b"/>
              <a:pathLst>
                <a:path w="1913890" h="1913890">
                  <a:moveTo>
                    <a:pt x="1789430" y="1913890"/>
                  </a:moveTo>
                  <a:lnTo>
                    <a:pt x="124460" y="1913890"/>
                  </a:lnTo>
                  <a:cubicBezTo>
                    <a:pt x="55880" y="1913890"/>
                    <a:pt x="0" y="1858010"/>
                    <a:pt x="0" y="1789430"/>
                  </a:cubicBezTo>
                  <a:lnTo>
                    <a:pt x="0" y="124460"/>
                  </a:lnTo>
                  <a:cubicBezTo>
                    <a:pt x="0" y="55880"/>
                    <a:pt x="55880" y="0"/>
                    <a:pt x="124460" y="0"/>
                  </a:cubicBezTo>
                  <a:lnTo>
                    <a:pt x="1789430" y="0"/>
                  </a:lnTo>
                  <a:cubicBezTo>
                    <a:pt x="1858010" y="0"/>
                    <a:pt x="1913890" y="55880"/>
                    <a:pt x="1913890" y="124460"/>
                  </a:cubicBezTo>
                  <a:lnTo>
                    <a:pt x="1913890" y="1789430"/>
                  </a:lnTo>
                  <a:cubicBezTo>
                    <a:pt x="1913890" y="1858010"/>
                    <a:pt x="1858010" y="1913890"/>
                    <a:pt x="1789430" y="1913890"/>
                  </a:cubicBezTo>
                  <a:close/>
                </a:path>
              </a:pathLst>
            </a:custGeom>
            <a:solidFill>
              <a:srgbClr val="FFFFFF"/>
            </a:solidFill>
          </p:spPr>
          <p:txBody>
            <a:bodyPr/>
            <a:lstStyle/>
            <a:p>
              <a:endParaRPr lang="en-IN"/>
            </a:p>
          </p:txBody>
        </p:sp>
      </p:grpSp>
      <p:sp>
        <p:nvSpPr>
          <p:cNvPr id="15" name="TextBox 15">
            <a:extLst>
              <a:ext uri="{FF2B5EF4-FFF2-40B4-BE49-F238E27FC236}">
                <a16:creationId xmlns:a16="http://schemas.microsoft.com/office/drawing/2014/main" id="{3E0E3B19-D2CE-8EA8-FE50-416208FC1E2A}"/>
              </a:ext>
            </a:extLst>
          </p:cNvPr>
          <p:cNvSpPr txBox="1"/>
          <p:nvPr/>
        </p:nvSpPr>
        <p:spPr>
          <a:xfrm>
            <a:off x="2301012" y="4325799"/>
            <a:ext cx="2439624" cy="447947"/>
          </a:xfrm>
          <a:prstGeom prst="rect">
            <a:avLst/>
          </a:prstGeom>
        </p:spPr>
        <p:txBody>
          <a:bodyPr lIns="0" tIns="0" rIns="0" bIns="0" rtlCol="0" anchor="t">
            <a:spAutoFit/>
          </a:bodyPr>
          <a:lstStyle/>
          <a:p>
            <a:pPr algn="l">
              <a:lnSpc>
                <a:spcPts val="3220"/>
              </a:lnSpc>
            </a:pPr>
            <a:r>
              <a:rPr lang="en-US" sz="2752" b="1">
                <a:solidFill>
                  <a:srgbClr val="FFFFFF"/>
                </a:solidFill>
                <a:latin typeface="Poppins Bold"/>
                <a:ea typeface="Poppins Bold"/>
                <a:cs typeface="Poppins Bold"/>
                <a:sym typeface="Poppins Bold"/>
              </a:rPr>
              <a:t>Desire</a:t>
            </a:r>
          </a:p>
        </p:txBody>
      </p:sp>
      <p:sp>
        <p:nvSpPr>
          <p:cNvPr id="20" name="TextBox 20">
            <a:extLst>
              <a:ext uri="{FF2B5EF4-FFF2-40B4-BE49-F238E27FC236}">
                <a16:creationId xmlns:a16="http://schemas.microsoft.com/office/drawing/2014/main" id="{F9525E45-CC02-0571-F5A5-E0CFC8ECCA59}"/>
              </a:ext>
            </a:extLst>
          </p:cNvPr>
          <p:cNvSpPr txBox="1"/>
          <p:nvPr/>
        </p:nvSpPr>
        <p:spPr>
          <a:xfrm>
            <a:off x="2301012" y="6832765"/>
            <a:ext cx="4049961" cy="1100407"/>
          </a:xfrm>
          <a:prstGeom prst="rect">
            <a:avLst/>
          </a:prstGeom>
        </p:spPr>
        <p:txBody>
          <a:bodyPr lIns="0" tIns="0" rIns="0" bIns="0" rtlCol="0" anchor="t">
            <a:spAutoFit/>
          </a:bodyPr>
          <a:lstStyle/>
          <a:p>
            <a:pPr algn="l">
              <a:lnSpc>
                <a:spcPts val="1745"/>
              </a:lnSpc>
            </a:pPr>
            <a:r>
              <a:rPr lang="en-US" sz="1246">
                <a:solidFill>
                  <a:srgbClr val="FFFFFF"/>
                </a:solidFill>
                <a:latin typeface="Poppins"/>
                <a:ea typeface="Poppins"/>
                <a:cs typeface="Poppins"/>
                <a:sym typeface="Poppins"/>
              </a:rPr>
              <a:t>Provide the most significant factor that</a:t>
            </a:r>
          </a:p>
          <a:p>
            <a:pPr algn="l">
              <a:lnSpc>
                <a:spcPts val="1745"/>
              </a:lnSpc>
            </a:pPr>
            <a:r>
              <a:rPr lang="en-US" sz="1246">
                <a:solidFill>
                  <a:srgbClr val="FFFFFF"/>
                </a:solidFill>
                <a:latin typeface="Poppins"/>
                <a:ea typeface="Poppins"/>
                <a:cs typeface="Poppins"/>
                <a:sym typeface="Poppins"/>
              </a:rPr>
              <a:t>defines the organization's daily operations.</a:t>
            </a:r>
          </a:p>
          <a:p>
            <a:pPr algn="l">
              <a:lnSpc>
                <a:spcPts val="1745"/>
              </a:lnSpc>
            </a:pPr>
            <a:r>
              <a:rPr lang="en-US" sz="1246">
                <a:solidFill>
                  <a:srgbClr val="FFFFFF"/>
                </a:solidFill>
                <a:latin typeface="Poppins"/>
                <a:ea typeface="Poppins"/>
                <a:cs typeface="Poppins"/>
                <a:sym typeface="Poppins"/>
              </a:rPr>
              <a:t>The majority of individuals assert that the</a:t>
            </a:r>
          </a:p>
          <a:p>
            <a:pPr algn="l">
              <a:lnSpc>
                <a:spcPts val="1745"/>
              </a:lnSpc>
            </a:pPr>
            <a:r>
              <a:rPr lang="en-US" sz="1246">
                <a:solidFill>
                  <a:srgbClr val="FFFFFF"/>
                </a:solidFill>
                <a:latin typeface="Poppins"/>
                <a:ea typeface="Poppins"/>
                <a:cs typeface="Poppins"/>
                <a:sym typeface="Poppins"/>
              </a:rPr>
              <a:t>critical factor is contingent upon primary</a:t>
            </a:r>
          </a:p>
          <a:p>
            <a:pPr algn="l">
              <a:lnSpc>
                <a:spcPts val="1745"/>
              </a:lnSpc>
              <a:spcBef>
                <a:spcPct val="0"/>
              </a:spcBef>
            </a:pPr>
            <a:r>
              <a:rPr lang="en-US" sz="1246">
                <a:solidFill>
                  <a:srgbClr val="FFFFFF"/>
                </a:solidFill>
                <a:latin typeface="Poppins"/>
                <a:ea typeface="Poppins"/>
                <a:cs typeface="Poppins"/>
                <a:sym typeface="Poppins"/>
              </a:rPr>
              <a:t>and secondary product/service data.</a:t>
            </a:r>
          </a:p>
        </p:txBody>
      </p:sp>
      <p:sp>
        <p:nvSpPr>
          <p:cNvPr id="21" name="TextBox 21">
            <a:extLst>
              <a:ext uri="{FF2B5EF4-FFF2-40B4-BE49-F238E27FC236}">
                <a16:creationId xmlns:a16="http://schemas.microsoft.com/office/drawing/2014/main" id="{49B2598F-4298-6B62-60DA-090DEBFCB53C}"/>
              </a:ext>
            </a:extLst>
          </p:cNvPr>
          <p:cNvSpPr txBox="1"/>
          <p:nvPr/>
        </p:nvSpPr>
        <p:spPr>
          <a:xfrm>
            <a:off x="2301012" y="6065537"/>
            <a:ext cx="2613054" cy="447947"/>
          </a:xfrm>
          <a:prstGeom prst="rect">
            <a:avLst/>
          </a:prstGeom>
        </p:spPr>
        <p:txBody>
          <a:bodyPr lIns="0" tIns="0" rIns="0" bIns="0" rtlCol="0" anchor="t">
            <a:spAutoFit/>
          </a:bodyPr>
          <a:lstStyle/>
          <a:p>
            <a:pPr algn="l">
              <a:lnSpc>
                <a:spcPts val="3220"/>
              </a:lnSpc>
            </a:pPr>
            <a:r>
              <a:rPr lang="en-US" sz="2752" b="1">
                <a:solidFill>
                  <a:srgbClr val="FFFFFF"/>
                </a:solidFill>
                <a:latin typeface="Poppins Bold"/>
                <a:ea typeface="Poppins Bold"/>
                <a:cs typeface="Poppins Bold"/>
                <a:sym typeface="Poppins Bold"/>
              </a:rPr>
              <a:t>Relations</a:t>
            </a:r>
          </a:p>
        </p:txBody>
      </p:sp>
      <p:sp>
        <p:nvSpPr>
          <p:cNvPr id="28" name="AutoShape 28">
            <a:extLst>
              <a:ext uri="{FF2B5EF4-FFF2-40B4-BE49-F238E27FC236}">
                <a16:creationId xmlns:a16="http://schemas.microsoft.com/office/drawing/2014/main" id="{74C1D3A9-2B49-14F2-E105-02C8AB4F4ADF}"/>
              </a:ext>
            </a:extLst>
          </p:cNvPr>
          <p:cNvSpPr/>
          <p:nvPr/>
        </p:nvSpPr>
        <p:spPr>
          <a:xfrm rot="5400000">
            <a:off x="16399966" y="6264625"/>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29" name="TextBox 29">
            <a:extLst>
              <a:ext uri="{FF2B5EF4-FFF2-40B4-BE49-F238E27FC236}">
                <a16:creationId xmlns:a16="http://schemas.microsoft.com/office/drawing/2014/main" id="{4A9D8089-14E5-61D3-773E-65F51308BE07}"/>
              </a:ext>
            </a:extLst>
          </p:cNvPr>
          <p:cNvSpPr txBox="1"/>
          <p:nvPr/>
        </p:nvSpPr>
        <p:spPr>
          <a:xfrm rot="-5400000">
            <a:off x="17310518" y="8275412"/>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24" name="Rectangle 23">
            <a:extLst>
              <a:ext uri="{FF2B5EF4-FFF2-40B4-BE49-F238E27FC236}">
                <a16:creationId xmlns:a16="http://schemas.microsoft.com/office/drawing/2014/main" id="{E661CB72-C53A-30CD-16A5-3DF7382F087F}"/>
              </a:ext>
            </a:extLst>
          </p:cNvPr>
          <p:cNvSpPr/>
          <p:nvPr/>
        </p:nvSpPr>
        <p:spPr>
          <a:xfrm>
            <a:off x="219305" y="1622744"/>
            <a:ext cx="8687333" cy="8664353"/>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aseline="0">
                <a:latin typeface="Calibri"/>
              </a:rPr>
              <a:t>Increase In the Noise Floor</a:t>
            </a:r>
            <a:r>
              <a:rPr lang="en-US" sz="2800" baseline="0">
                <a:latin typeface="Calibri"/>
              </a:rPr>
              <a:t> </a:t>
            </a:r>
            <a:r>
              <a:rPr lang="en-US" sz="2800">
                <a:latin typeface="Calibri"/>
                <a:ea typeface="Calibri"/>
                <a:cs typeface="Calibri"/>
              </a:rPr>
              <a:t>​</a:t>
            </a:r>
            <a:endParaRPr lang="en-US"/>
          </a:p>
        </p:txBody>
      </p:sp>
      <p:sp>
        <p:nvSpPr>
          <p:cNvPr id="4" name="TextBox 3">
            <a:extLst>
              <a:ext uri="{FF2B5EF4-FFF2-40B4-BE49-F238E27FC236}">
                <a16:creationId xmlns:a16="http://schemas.microsoft.com/office/drawing/2014/main" id="{1F42C1FD-07AD-7E79-AF2C-8C1779181AFD}"/>
              </a:ext>
            </a:extLst>
          </p:cNvPr>
          <p:cNvSpPr txBox="1"/>
          <p:nvPr/>
        </p:nvSpPr>
        <p:spPr>
          <a:xfrm>
            <a:off x="495632" y="5582801"/>
            <a:ext cx="8135471" cy="36009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gn="just">
              <a:buFont typeface=""/>
              <a:buChar char="•"/>
            </a:pPr>
            <a:r>
              <a:rPr lang="en-US" sz="2800" b="1"/>
              <a:t>Observation</a:t>
            </a:r>
            <a:r>
              <a:rPr lang="en-US" sz="2400" b="1"/>
              <a:t>: </a:t>
            </a:r>
            <a:r>
              <a:rPr lang="en-US" sz="2400"/>
              <a:t>Introducing clock jitter unexpectedly deepened the noise notch to </a:t>
            </a:r>
            <a:r>
              <a:rPr lang="en-US" sz="2400" b="1"/>
              <a:t>-40 dB</a:t>
            </a:r>
            <a:r>
              <a:rPr lang="en-US" sz="2400"/>
              <a:t> (vs. -35 dB in the ideal baseline).</a:t>
            </a:r>
            <a:endParaRPr lang="en-US" sz="2400">
              <a:ea typeface="Calibri"/>
              <a:cs typeface="Calibri"/>
            </a:endParaRPr>
          </a:p>
          <a:p>
            <a:pPr marL="228600" indent="-228600" algn="just">
              <a:buFont typeface=""/>
              <a:buChar char="•"/>
            </a:pPr>
            <a:r>
              <a:rPr lang="en-US" sz="2800" b="1"/>
              <a:t>Mechanism (Jitter as Dither)</a:t>
            </a:r>
            <a:r>
              <a:rPr lang="en-US" sz="2400" b="1"/>
              <a:t>:</a:t>
            </a:r>
            <a:r>
              <a:rPr lang="en-US" sz="2400"/>
              <a:t> The timing jitter acted as natural </a:t>
            </a:r>
            <a:r>
              <a:rPr lang="en-US" sz="2400" b="1"/>
              <a:t>dither</a:t>
            </a:r>
            <a:r>
              <a:rPr lang="en-US" sz="2400"/>
              <a:t>, breaking up the periodic "idle tones" inherent in the ideal 2nd-order loop.</a:t>
            </a:r>
            <a:endParaRPr lang="en-US" sz="2400">
              <a:ea typeface="Calibri"/>
              <a:cs typeface="Calibri"/>
            </a:endParaRPr>
          </a:p>
          <a:p>
            <a:pPr marL="228600" indent="-228600" algn="just">
              <a:buFont typeface=""/>
              <a:buChar char="•"/>
            </a:pPr>
            <a:r>
              <a:rPr lang="en-US" sz="2800" b="1"/>
              <a:t>Result:</a:t>
            </a:r>
            <a:r>
              <a:rPr lang="en-US" sz="2400"/>
              <a:t> This process "whitened" the spectrum, removing tonal spikes and smoothing the noise floor, though at the cost of total SNR.</a:t>
            </a:r>
            <a:endParaRPr lang="en-US" sz="2400">
              <a:ea typeface="Calibri"/>
              <a:cs typeface="Calibri"/>
            </a:endParaRPr>
          </a:p>
        </p:txBody>
      </p:sp>
      <p:pic>
        <p:nvPicPr>
          <p:cNvPr id="2" name="Picture 1" descr="A screen shot of a graph&#10;&#10;AI-generated content may be incorrect.">
            <a:extLst>
              <a:ext uri="{FF2B5EF4-FFF2-40B4-BE49-F238E27FC236}">
                <a16:creationId xmlns:a16="http://schemas.microsoft.com/office/drawing/2014/main" id="{167EDE85-042F-5222-40E0-0F1C3DBEBEAA}"/>
              </a:ext>
            </a:extLst>
          </p:cNvPr>
          <p:cNvPicPr>
            <a:picLocks noChangeAspect="1"/>
          </p:cNvPicPr>
          <p:nvPr/>
        </p:nvPicPr>
        <p:blipFill>
          <a:blip r:embed="rId2"/>
          <a:stretch>
            <a:fillRect/>
          </a:stretch>
        </p:blipFill>
        <p:spPr>
          <a:xfrm>
            <a:off x="688205" y="1634644"/>
            <a:ext cx="8226714" cy="2847975"/>
          </a:xfrm>
          <a:prstGeom prst="rect">
            <a:avLst/>
          </a:prstGeom>
        </p:spPr>
      </p:pic>
      <p:sp>
        <p:nvSpPr>
          <p:cNvPr id="35" name="TextBox 34">
            <a:extLst>
              <a:ext uri="{FF2B5EF4-FFF2-40B4-BE49-F238E27FC236}">
                <a16:creationId xmlns:a16="http://schemas.microsoft.com/office/drawing/2014/main" id="{D262BBA5-9633-D531-752D-EED706B743E1}"/>
              </a:ext>
            </a:extLst>
          </p:cNvPr>
          <p:cNvSpPr txBox="1"/>
          <p:nvPr/>
        </p:nvSpPr>
        <p:spPr>
          <a:xfrm>
            <a:off x="1854503" y="4451098"/>
            <a:ext cx="588552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latin typeface="Poppins"/>
                <a:cs typeface="Poppins"/>
              </a:rPr>
              <a:t>Fig 5. </a:t>
            </a:r>
            <a:r>
              <a:rPr lang="en-US" sz="2000" dirty="0">
                <a:latin typeface="Poppins"/>
                <a:cs typeface="Poppins"/>
              </a:rPr>
              <a:t>The Spectrum Analysis of 2nd Order CT Modulator with Clock Jitter</a:t>
            </a:r>
            <a:endParaRPr lang="en-US" dirty="0"/>
          </a:p>
        </p:txBody>
      </p:sp>
      <p:sp>
        <p:nvSpPr>
          <p:cNvPr id="25" name="Rectangle 24">
            <a:extLst>
              <a:ext uri="{FF2B5EF4-FFF2-40B4-BE49-F238E27FC236}">
                <a16:creationId xmlns:a16="http://schemas.microsoft.com/office/drawing/2014/main" id="{FF8D77BF-B454-36A9-EEFD-79B236E09CB4}"/>
              </a:ext>
            </a:extLst>
          </p:cNvPr>
          <p:cNvSpPr/>
          <p:nvPr/>
        </p:nvSpPr>
        <p:spPr>
          <a:xfrm>
            <a:off x="8900381" y="1638187"/>
            <a:ext cx="9170242" cy="8650276"/>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rtl="0"/>
            <a:r>
              <a:rPr lang="en-US" sz="2000" baseline="0">
                <a:latin typeface="Calibri"/>
                <a:ea typeface="Segoe UI"/>
                <a:cs typeface="Segoe UI"/>
              </a:rPr>
              <a:t>noise floor increased and filled this place</a:t>
            </a:r>
            <a:r>
              <a:rPr lang="en-US" sz="2000">
                <a:latin typeface="Calibri"/>
                <a:ea typeface="Segoe UI"/>
                <a:cs typeface="Segoe UI"/>
              </a:rPr>
              <a:t>​</a:t>
            </a:r>
          </a:p>
          <a:p>
            <a:pPr algn="ctr" rtl="0"/>
            <a:r>
              <a:rPr lang="en-US" sz="1800">
                <a:latin typeface="Calibri"/>
                <a:ea typeface="Segoe UI"/>
                <a:cs typeface="Segoe UI"/>
              </a:rPr>
              <a:t>​</a:t>
            </a:r>
            <a:endParaRPr lang="en-US"/>
          </a:p>
        </p:txBody>
      </p:sp>
      <p:pic>
        <p:nvPicPr>
          <p:cNvPr id="3" name="Picture 2">
            <a:extLst>
              <a:ext uri="{FF2B5EF4-FFF2-40B4-BE49-F238E27FC236}">
                <a16:creationId xmlns:a16="http://schemas.microsoft.com/office/drawing/2014/main" id="{618314F1-6E9C-56C7-66AD-FE1EDC1A77D3}"/>
              </a:ext>
            </a:extLst>
          </p:cNvPr>
          <p:cNvPicPr>
            <a:picLocks noChangeAspect="1"/>
          </p:cNvPicPr>
          <p:nvPr/>
        </p:nvPicPr>
        <p:blipFill>
          <a:blip r:embed="rId3"/>
          <a:stretch>
            <a:fillRect/>
          </a:stretch>
        </p:blipFill>
        <p:spPr>
          <a:xfrm>
            <a:off x="9432866" y="1642990"/>
            <a:ext cx="8269656" cy="2867127"/>
          </a:xfrm>
          <a:prstGeom prst="rect">
            <a:avLst/>
          </a:prstGeom>
        </p:spPr>
      </p:pic>
      <p:sp>
        <p:nvSpPr>
          <p:cNvPr id="7" name="TextBox 6">
            <a:extLst>
              <a:ext uri="{FF2B5EF4-FFF2-40B4-BE49-F238E27FC236}">
                <a16:creationId xmlns:a16="http://schemas.microsoft.com/office/drawing/2014/main" id="{B639585E-25B9-45A1-8A54-89C0D80E297D}"/>
              </a:ext>
            </a:extLst>
          </p:cNvPr>
          <p:cNvSpPr txBox="1"/>
          <p:nvPr/>
        </p:nvSpPr>
        <p:spPr>
          <a:xfrm>
            <a:off x="9431112" y="5583709"/>
            <a:ext cx="8122751" cy="32316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2800" b="1"/>
              <a:t>The Problem</a:t>
            </a:r>
            <a:r>
              <a:rPr lang="en-US" sz="2400" b="1"/>
              <a:t>:</a:t>
            </a:r>
            <a:r>
              <a:rPr lang="en-US" sz="2400"/>
              <a:t> Despite the clean look, the </a:t>
            </a:r>
            <a:r>
              <a:rPr lang="en-US" sz="2400" b="1"/>
              <a:t>SNR collapsed to 10 dB </a:t>
            </a:r>
            <a:r>
              <a:rPr lang="en-US" sz="2400"/>
              <a:t>.</a:t>
            </a:r>
            <a:endParaRPr lang="en-US" sz="2400">
              <a:ea typeface="Calibri"/>
              <a:cs typeface="Calibri"/>
            </a:endParaRPr>
          </a:p>
          <a:p>
            <a:pPr marL="457200" indent="-457200" algn="just">
              <a:buFont typeface="Arial"/>
              <a:buChar char="•"/>
            </a:pPr>
            <a:r>
              <a:rPr lang="en-US" sz="2800" b="1"/>
              <a:t>Reason</a:t>
            </a:r>
            <a:r>
              <a:rPr lang="en-US" sz="2400" b="1"/>
              <a:t>:</a:t>
            </a:r>
            <a:r>
              <a:rPr lang="en-US" sz="2400"/>
              <a:t> Jitter converts timing errors into amplitude errors. This adds a "blanket" of random white noise across the entire frequency band.</a:t>
            </a:r>
            <a:endParaRPr lang="en-US" sz="2400">
              <a:ea typeface="Calibri"/>
              <a:cs typeface="Calibri"/>
            </a:endParaRPr>
          </a:p>
          <a:p>
            <a:pPr marL="457200" indent="-457200" algn="just">
              <a:buFont typeface="Arial"/>
              <a:buChar char="•"/>
            </a:pPr>
            <a:r>
              <a:rPr lang="en-US" sz="2800" b="1"/>
              <a:t>Conclusion</a:t>
            </a:r>
            <a:r>
              <a:rPr lang="en-US" sz="2400" b="1"/>
              <a:t>:</a:t>
            </a:r>
            <a:r>
              <a:rPr lang="en-US" sz="2400"/>
              <a:t> </a:t>
            </a:r>
            <a:r>
              <a:rPr lang="en-US" sz="2400">
                <a:ea typeface="+mn-lt"/>
                <a:cs typeface="+mn-lt"/>
              </a:rPr>
              <a:t>The jitter smoothed out the sharp distortion spikes, but it created so much background noise that it completely drowned out the signal.</a:t>
            </a:r>
          </a:p>
        </p:txBody>
      </p:sp>
      <p:sp>
        <p:nvSpPr>
          <p:cNvPr id="8" name="TextBox 7">
            <a:extLst>
              <a:ext uri="{FF2B5EF4-FFF2-40B4-BE49-F238E27FC236}">
                <a16:creationId xmlns:a16="http://schemas.microsoft.com/office/drawing/2014/main" id="{BD7F07D6-94F9-F853-AAC3-9F65B6DB6909}"/>
              </a:ext>
            </a:extLst>
          </p:cNvPr>
          <p:cNvSpPr txBox="1"/>
          <p:nvPr/>
        </p:nvSpPr>
        <p:spPr>
          <a:xfrm>
            <a:off x="10611365" y="4492953"/>
            <a:ext cx="590035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baseline="0" dirty="0">
                <a:latin typeface="Poppins"/>
                <a:ea typeface="Segoe UI"/>
                <a:cs typeface="Segoe UI"/>
              </a:rPr>
              <a:t>Fig </a:t>
            </a:r>
            <a:r>
              <a:rPr lang="en-US" sz="2000" b="1" dirty="0">
                <a:latin typeface="Poppins"/>
                <a:ea typeface="Segoe UI"/>
                <a:cs typeface="Segoe UI"/>
              </a:rPr>
              <a:t>6</a:t>
            </a:r>
            <a:r>
              <a:rPr lang="en-US" sz="2000" b="1" baseline="0" dirty="0">
                <a:latin typeface="Poppins"/>
                <a:ea typeface="Segoe UI"/>
                <a:cs typeface="Segoe UI"/>
              </a:rPr>
              <a:t>. </a:t>
            </a:r>
            <a:r>
              <a:rPr lang="en-US" sz="2000" baseline="0" dirty="0">
                <a:latin typeface="Poppins"/>
                <a:ea typeface="Segoe UI"/>
                <a:cs typeface="Segoe UI"/>
              </a:rPr>
              <a:t>The Spectrum Analysis of 2nd Order </a:t>
            </a:r>
            <a:r>
              <a:rPr lang="en-US" sz="2000" dirty="0">
                <a:latin typeface="Poppins"/>
                <a:ea typeface="Segoe UI"/>
                <a:cs typeface="Segoe UI"/>
              </a:rPr>
              <a:t>CT Modulator</a:t>
            </a:r>
            <a:r>
              <a:rPr lang="en-US" sz="2000" baseline="0" dirty="0">
                <a:latin typeface="Poppins"/>
                <a:ea typeface="Segoe UI"/>
                <a:cs typeface="Segoe UI"/>
              </a:rPr>
              <a:t> </a:t>
            </a:r>
            <a:r>
              <a:rPr lang="en-US" sz="2000" dirty="0">
                <a:latin typeface="Poppins"/>
                <a:ea typeface="Segoe UI"/>
                <a:cs typeface="Segoe UI"/>
              </a:rPr>
              <a:t>after Filter with</a:t>
            </a:r>
            <a:r>
              <a:rPr lang="en-US" sz="2000" baseline="0" dirty="0">
                <a:latin typeface="Poppins"/>
                <a:ea typeface="Segoe UI"/>
                <a:cs typeface="Segoe UI"/>
              </a:rPr>
              <a:t> Clock Jitter</a:t>
            </a:r>
            <a:r>
              <a:rPr sz="2000" dirty="0">
                <a:latin typeface="Poppins"/>
                <a:ea typeface="Poppins"/>
                <a:cs typeface="Poppins"/>
              </a:rPr>
              <a:t>​</a:t>
            </a:r>
            <a:endParaRPr lang="en-US" dirty="0">
              <a:ea typeface="Calibri"/>
              <a:cs typeface="Calibri"/>
            </a:endParaRPr>
          </a:p>
        </p:txBody>
      </p:sp>
      <p:sp>
        <p:nvSpPr>
          <p:cNvPr id="13" name="Rectangle 25">
            <a:extLst>
              <a:ext uri="{FF2B5EF4-FFF2-40B4-BE49-F238E27FC236}">
                <a16:creationId xmlns:a16="http://schemas.microsoft.com/office/drawing/2014/main" id="{24B78FDD-333E-4132-50DC-69802A1F37F0}"/>
              </a:ext>
            </a:extLst>
          </p:cNvPr>
          <p:cNvSpPr/>
          <p:nvPr/>
        </p:nvSpPr>
        <p:spPr>
          <a:xfrm>
            <a:off x="7373682" y="8999263"/>
            <a:ext cx="3546557" cy="1295729"/>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r>
              <a:rPr lang="en-US" sz="2600" b="1">
                <a:solidFill>
                  <a:schemeClr val="tx1"/>
                </a:solidFill>
                <a:latin typeface="Poppins"/>
                <a:ea typeface="Segoe UI"/>
                <a:cs typeface="Segoe UI"/>
              </a:rPr>
              <a:t>Observation :</a:t>
            </a:r>
            <a:r>
              <a:rPr lang="en-US" sz="2600">
                <a:solidFill>
                  <a:schemeClr val="tx1"/>
                </a:solidFill>
                <a:latin typeface="Poppins"/>
                <a:ea typeface="Segoe UI"/>
                <a:cs typeface="Segoe UI"/>
              </a:rPr>
              <a:t>​</a:t>
            </a:r>
            <a:endParaRPr lang="en-US"/>
          </a:p>
          <a:p>
            <a:pPr algn="ctr" rtl="0"/>
            <a:r>
              <a:rPr lang="en-US" sz="2600" baseline="0">
                <a:solidFill>
                  <a:schemeClr val="tx1"/>
                </a:solidFill>
                <a:latin typeface="Poppins"/>
                <a:ea typeface="Segoe UI"/>
                <a:cs typeface="Segoe UI"/>
              </a:rPr>
              <a:t>SNR = </a:t>
            </a:r>
            <a:r>
              <a:rPr lang="en-US" sz="2600">
                <a:solidFill>
                  <a:schemeClr val="tx1"/>
                </a:solidFill>
                <a:latin typeface="Poppins"/>
                <a:ea typeface="Segoe UI"/>
                <a:cs typeface="Segoe UI"/>
              </a:rPr>
              <a:t>10.87</a:t>
            </a:r>
            <a:endParaRPr lang="en-US">
              <a:solidFill>
                <a:schemeClr val="tx1"/>
              </a:solidFill>
              <a:ea typeface="Calibri"/>
              <a:cs typeface="Calibri"/>
            </a:endParaRPr>
          </a:p>
        </p:txBody>
      </p:sp>
      <p:cxnSp>
        <p:nvCxnSpPr>
          <p:cNvPr id="17" name="Straight Arrow Connector 16">
            <a:extLst>
              <a:ext uri="{FF2B5EF4-FFF2-40B4-BE49-F238E27FC236}">
                <a16:creationId xmlns:a16="http://schemas.microsoft.com/office/drawing/2014/main" id="{0090173C-E7BA-11B2-CAB8-F5E3201EDD16}"/>
              </a:ext>
            </a:extLst>
          </p:cNvPr>
          <p:cNvCxnSpPr/>
          <p:nvPr/>
        </p:nvCxnSpPr>
        <p:spPr>
          <a:xfrm>
            <a:off x="6385501" y="3818984"/>
            <a:ext cx="2980216" cy="149665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7C940DDD-E9D4-AFF3-A05B-FE9E2C017137}"/>
              </a:ext>
            </a:extLst>
          </p:cNvPr>
          <p:cNvSpPr txBox="1"/>
          <p:nvPr/>
        </p:nvSpPr>
        <p:spPr>
          <a:xfrm>
            <a:off x="6848914" y="5198469"/>
            <a:ext cx="585401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latin typeface="Calibri"/>
                <a:ea typeface="Segoe UI"/>
                <a:cs typeface="Segoe UI"/>
              </a:rPr>
              <a:t>Ideal tones are broken and we observe a grassy nature</a:t>
            </a:r>
          </a:p>
        </p:txBody>
      </p:sp>
      <p:sp>
        <p:nvSpPr>
          <p:cNvPr id="22" name="Rectangle: Rounded Corners 21">
            <a:extLst>
              <a:ext uri="{FF2B5EF4-FFF2-40B4-BE49-F238E27FC236}">
                <a16:creationId xmlns:a16="http://schemas.microsoft.com/office/drawing/2014/main" id="{CD31CC59-5F64-4D49-AC7B-C0A211D482F6}"/>
              </a:ext>
            </a:extLst>
          </p:cNvPr>
          <p:cNvSpPr/>
          <p:nvPr/>
        </p:nvSpPr>
        <p:spPr>
          <a:xfrm>
            <a:off x="1581407" y="-311569"/>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26" name="TextBox 25">
            <a:extLst>
              <a:ext uri="{FF2B5EF4-FFF2-40B4-BE49-F238E27FC236}">
                <a16:creationId xmlns:a16="http://schemas.microsoft.com/office/drawing/2014/main" id="{D4A106EC-7514-ACEF-E9FD-6BFA3C6FF37D}"/>
              </a:ext>
            </a:extLst>
          </p:cNvPr>
          <p:cNvSpPr txBox="1"/>
          <p:nvPr/>
        </p:nvSpPr>
        <p:spPr>
          <a:xfrm>
            <a:off x="7138090" y="140268"/>
            <a:ext cx="407523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solidFill>
                  <a:schemeClr val="bg1"/>
                </a:solidFill>
                <a:ea typeface="Calibri"/>
                <a:cs typeface="Calibri"/>
              </a:rPr>
              <a:t>CT Modulator</a:t>
            </a:r>
            <a:endParaRPr lang="en-US" sz="5400">
              <a:solidFill>
                <a:schemeClr val="bg1"/>
              </a:solidFill>
            </a:endParaRPr>
          </a:p>
        </p:txBody>
      </p:sp>
    </p:spTree>
    <p:extLst>
      <p:ext uri="{BB962C8B-B14F-4D97-AF65-F5344CB8AC3E}">
        <p14:creationId xmlns:p14="http://schemas.microsoft.com/office/powerpoint/2010/main" val="1145191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61ADF-1466-8EC1-8296-783139CD6A13}"/>
            </a:ext>
          </a:extLst>
        </p:cNvPr>
        <p:cNvGrpSpPr/>
        <p:nvPr/>
      </p:nvGrpSpPr>
      <p:grpSpPr>
        <a:xfrm>
          <a:off x="0" y="0"/>
          <a:ext cx="0" cy="0"/>
          <a:chOff x="0" y="0"/>
          <a:chExt cx="0" cy="0"/>
        </a:xfrm>
      </p:grpSpPr>
      <p:pic>
        <p:nvPicPr>
          <p:cNvPr id="8" name="Picture 7" descr="A diagram of a block diagram&#10;&#10;AI-generated content may be incorrect.">
            <a:extLst>
              <a:ext uri="{FF2B5EF4-FFF2-40B4-BE49-F238E27FC236}">
                <a16:creationId xmlns:a16="http://schemas.microsoft.com/office/drawing/2014/main" id="{CDF44742-3F71-E8C9-6465-BA50246EFA90}"/>
              </a:ext>
            </a:extLst>
          </p:cNvPr>
          <p:cNvPicPr>
            <a:picLocks noChangeAspect="1"/>
          </p:cNvPicPr>
          <p:nvPr/>
        </p:nvPicPr>
        <p:blipFill>
          <a:blip r:embed="rId2"/>
          <a:stretch>
            <a:fillRect/>
          </a:stretch>
        </p:blipFill>
        <p:spPr>
          <a:xfrm>
            <a:off x="4477076" y="1881338"/>
            <a:ext cx="8828221" cy="2131315"/>
          </a:xfrm>
          <a:prstGeom prst="rect">
            <a:avLst/>
          </a:prstGeom>
        </p:spPr>
      </p:pic>
      <p:sp>
        <p:nvSpPr>
          <p:cNvPr id="26" name="Rectangle 25">
            <a:extLst>
              <a:ext uri="{FF2B5EF4-FFF2-40B4-BE49-F238E27FC236}">
                <a16:creationId xmlns:a16="http://schemas.microsoft.com/office/drawing/2014/main" id="{39439E51-ECC8-F816-6AFE-6B6B4BCFE47A}"/>
              </a:ext>
            </a:extLst>
          </p:cNvPr>
          <p:cNvSpPr/>
          <p:nvPr/>
        </p:nvSpPr>
        <p:spPr>
          <a:xfrm>
            <a:off x="380574" y="4876386"/>
            <a:ext cx="8693692" cy="5426161"/>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9">
            <a:extLst>
              <a:ext uri="{FF2B5EF4-FFF2-40B4-BE49-F238E27FC236}">
                <a16:creationId xmlns:a16="http://schemas.microsoft.com/office/drawing/2014/main" id="{81B96735-CC31-93BD-7840-B3E2F5890A2A}"/>
              </a:ext>
            </a:extLst>
          </p:cNvPr>
          <p:cNvGrpSpPr/>
          <p:nvPr/>
        </p:nvGrpSpPr>
        <p:grpSpPr>
          <a:xfrm>
            <a:off x="1337744" y="6505855"/>
            <a:ext cx="537179" cy="537179"/>
            <a:chOff x="0" y="0"/>
            <a:chExt cx="1913890" cy="1913890"/>
          </a:xfrm>
        </p:grpSpPr>
        <p:sp>
          <p:nvSpPr>
            <p:cNvPr id="10" name="Freeform 10">
              <a:extLst>
                <a:ext uri="{FF2B5EF4-FFF2-40B4-BE49-F238E27FC236}">
                  <a16:creationId xmlns:a16="http://schemas.microsoft.com/office/drawing/2014/main" id="{BD8283A7-5202-B14D-FBE8-F20E2A1EB991}"/>
                </a:ext>
              </a:extLst>
            </p:cNvPr>
            <p:cNvSpPr/>
            <p:nvPr/>
          </p:nvSpPr>
          <p:spPr>
            <a:xfrm>
              <a:off x="0" y="0"/>
              <a:ext cx="1913890" cy="1913890"/>
            </a:xfrm>
            <a:custGeom>
              <a:avLst/>
              <a:gdLst/>
              <a:ahLst/>
              <a:cxnLst/>
              <a:rect l="l" t="t" r="r" b="b"/>
              <a:pathLst>
                <a:path w="1913890" h="1913890">
                  <a:moveTo>
                    <a:pt x="1789430" y="1913890"/>
                  </a:moveTo>
                  <a:lnTo>
                    <a:pt x="124460" y="1913890"/>
                  </a:lnTo>
                  <a:cubicBezTo>
                    <a:pt x="55880" y="1913890"/>
                    <a:pt x="0" y="1858010"/>
                    <a:pt x="0" y="1789430"/>
                  </a:cubicBezTo>
                  <a:lnTo>
                    <a:pt x="0" y="124460"/>
                  </a:lnTo>
                  <a:cubicBezTo>
                    <a:pt x="0" y="55880"/>
                    <a:pt x="55880" y="0"/>
                    <a:pt x="124460" y="0"/>
                  </a:cubicBezTo>
                  <a:lnTo>
                    <a:pt x="1789430" y="0"/>
                  </a:lnTo>
                  <a:cubicBezTo>
                    <a:pt x="1858010" y="0"/>
                    <a:pt x="1913890" y="55880"/>
                    <a:pt x="1913890" y="124460"/>
                  </a:cubicBezTo>
                  <a:lnTo>
                    <a:pt x="1913890" y="1789430"/>
                  </a:lnTo>
                  <a:cubicBezTo>
                    <a:pt x="1913890" y="1858010"/>
                    <a:pt x="1858010" y="1913890"/>
                    <a:pt x="1789430" y="1913890"/>
                  </a:cubicBezTo>
                  <a:close/>
                </a:path>
              </a:pathLst>
            </a:custGeom>
            <a:solidFill>
              <a:srgbClr val="FFFFFF"/>
            </a:solidFill>
          </p:spPr>
          <p:txBody>
            <a:bodyPr/>
            <a:lstStyle/>
            <a:p>
              <a:endParaRPr lang="en-IN"/>
            </a:p>
          </p:txBody>
        </p:sp>
      </p:grpSp>
      <p:grpSp>
        <p:nvGrpSpPr>
          <p:cNvPr id="11" name="Group 11">
            <a:extLst>
              <a:ext uri="{FF2B5EF4-FFF2-40B4-BE49-F238E27FC236}">
                <a16:creationId xmlns:a16="http://schemas.microsoft.com/office/drawing/2014/main" id="{7D62FC29-A2CD-B70E-20B4-4F0FBD0917EA}"/>
              </a:ext>
            </a:extLst>
          </p:cNvPr>
          <p:cNvGrpSpPr/>
          <p:nvPr/>
        </p:nvGrpSpPr>
        <p:grpSpPr>
          <a:xfrm>
            <a:off x="6581806" y="6505855"/>
            <a:ext cx="537179" cy="537179"/>
            <a:chOff x="0" y="0"/>
            <a:chExt cx="1913890" cy="1913890"/>
          </a:xfrm>
        </p:grpSpPr>
        <p:sp>
          <p:nvSpPr>
            <p:cNvPr id="12" name="Freeform 12">
              <a:extLst>
                <a:ext uri="{FF2B5EF4-FFF2-40B4-BE49-F238E27FC236}">
                  <a16:creationId xmlns:a16="http://schemas.microsoft.com/office/drawing/2014/main" id="{F35A89E4-A0EF-5B6D-7559-48405629B0B3}"/>
                </a:ext>
              </a:extLst>
            </p:cNvPr>
            <p:cNvSpPr/>
            <p:nvPr/>
          </p:nvSpPr>
          <p:spPr>
            <a:xfrm>
              <a:off x="0" y="0"/>
              <a:ext cx="1913890" cy="1913890"/>
            </a:xfrm>
            <a:custGeom>
              <a:avLst/>
              <a:gdLst/>
              <a:ahLst/>
              <a:cxnLst/>
              <a:rect l="l" t="t" r="r" b="b"/>
              <a:pathLst>
                <a:path w="1913890" h="1913890">
                  <a:moveTo>
                    <a:pt x="1789430" y="1913890"/>
                  </a:moveTo>
                  <a:lnTo>
                    <a:pt x="124460" y="1913890"/>
                  </a:lnTo>
                  <a:cubicBezTo>
                    <a:pt x="55880" y="1913890"/>
                    <a:pt x="0" y="1858010"/>
                    <a:pt x="0" y="1789430"/>
                  </a:cubicBezTo>
                  <a:lnTo>
                    <a:pt x="0" y="124460"/>
                  </a:lnTo>
                  <a:cubicBezTo>
                    <a:pt x="0" y="55880"/>
                    <a:pt x="55880" y="0"/>
                    <a:pt x="124460" y="0"/>
                  </a:cubicBezTo>
                  <a:lnTo>
                    <a:pt x="1789430" y="0"/>
                  </a:lnTo>
                  <a:cubicBezTo>
                    <a:pt x="1858010" y="0"/>
                    <a:pt x="1913890" y="55880"/>
                    <a:pt x="1913890" y="124460"/>
                  </a:cubicBezTo>
                  <a:lnTo>
                    <a:pt x="1913890" y="1789430"/>
                  </a:lnTo>
                  <a:cubicBezTo>
                    <a:pt x="1913890" y="1858010"/>
                    <a:pt x="1858010" y="1913890"/>
                    <a:pt x="1789430" y="1913890"/>
                  </a:cubicBezTo>
                  <a:close/>
                </a:path>
              </a:pathLst>
            </a:custGeom>
            <a:solidFill>
              <a:srgbClr val="FFFFFF"/>
            </a:solidFill>
          </p:spPr>
          <p:txBody>
            <a:bodyPr/>
            <a:lstStyle/>
            <a:p>
              <a:endParaRPr lang="en-IN"/>
            </a:p>
          </p:txBody>
        </p:sp>
      </p:grpSp>
      <p:sp>
        <p:nvSpPr>
          <p:cNvPr id="18" name="TextBox 18">
            <a:extLst>
              <a:ext uri="{FF2B5EF4-FFF2-40B4-BE49-F238E27FC236}">
                <a16:creationId xmlns:a16="http://schemas.microsoft.com/office/drawing/2014/main" id="{CD410145-B403-6970-6F25-DCAA2485E76A}"/>
              </a:ext>
            </a:extLst>
          </p:cNvPr>
          <p:cNvSpPr txBox="1"/>
          <p:nvPr/>
        </p:nvSpPr>
        <p:spPr>
          <a:xfrm>
            <a:off x="7376987" y="3569402"/>
            <a:ext cx="3308739" cy="447947"/>
          </a:xfrm>
          <a:prstGeom prst="rect">
            <a:avLst/>
          </a:prstGeom>
        </p:spPr>
        <p:txBody>
          <a:bodyPr lIns="0" tIns="0" rIns="0" bIns="0" rtlCol="0" anchor="t">
            <a:spAutoFit/>
          </a:bodyPr>
          <a:lstStyle/>
          <a:p>
            <a:pPr algn="l">
              <a:lnSpc>
                <a:spcPts val="3220"/>
              </a:lnSpc>
            </a:pPr>
            <a:r>
              <a:rPr lang="en-US" sz="2752" b="1">
                <a:solidFill>
                  <a:srgbClr val="FFFFFF"/>
                </a:solidFill>
                <a:latin typeface="Poppins Bold"/>
                <a:ea typeface="Poppins Bold"/>
                <a:cs typeface="Poppins Bold"/>
                <a:sym typeface="Poppins Bold"/>
              </a:rPr>
              <a:t>Responsibility</a:t>
            </a:r>
          </a:p>
        </p:txBody>
      </p:sp>
      <p:sp>
        <p:nvSpPr>
          <p:cNvPr id="20" name="TextBox 20">
            <a:extLst>
              <a:ext uri="{FF2B5EF4-FFF2-40B4-BE49-F238E27FC236}">
                <a16:creationId xmlns:a16="http://schemas.microsoft.com/office/drawing/2014/main" id="{DEC0C821-42E6-B39C-3D02-59CEC486515F}"/>
              </a:ext>
            </a:extLst>
          </p:cNvPr>
          <p:cNvSpPr txBox="1"/>
          <p:nvPr/>
        </p:nvSpPr>
        <p:spPr>
          <a:xfrm>
            <a:off x="2132924" y="7303412"/>
            <a:ext cx="4049961" cy="1100407"/>
          </a:xfrm>
          <a:prstGeom prst="rect">
            <a:avLst/>
          </a:prstGeom>
        </p:spPr>
        <p:txBody>
          <a:bodyPr lIns="0" tIns="0" rIns="0" bIns="0" rtlCol="0" anchor="t">
            <a:spAutoFit/>
          </a:bodyPr>
          <a:lstStyle/>
          <a:p>
            <a:pPr algn="l">
              <a:lnSpc>
                <a:spcPts val="1745"/>
              </a:lnSpc>
            </a:pPr>
            <a:r>
              <a:rPr lang="en-US" sz="1246">
                <a:solidFill>
                  <a:srgbClr val="FFFFFF"/>
                </a:solidFill>
                <a:latin typeface="Poppins"/>
                <a:ea typeface="Poppins"/>
                <a:cs typeface="Poppins"/>
                <a:sym typeface="Poppins"/>
              </a:rPr>
              <a:t>Provide the most significant factor that</a:t>
            </a:r>
          </a:p>
          <a:p>
            <a:pPr algn="l">
              <a:lnSpc>
                <a:spcPts val="1745"/>
              </a:lnSpc>
            </a:pPr>
            <a:r>
              <a:rPr lang="en-US" sz="1246">
                <a:solidFill>
                  <a:srgbClr val="FFFFFF"/>
                </a:solidFill>
                <a:latin typeface="Poppins"/>
                <a:ea typeface="Poppins"/>
                <a:cs typeface="Poppins"/>
                <a:sym typeface="Poppins"/>
              </a:rPr>
              <a:t>defines the organization's daily operations.</a:t>
            </a:r>
          </a:p>
          <a:p>
            <a:pPr algn="l">
              <a:lnSpc>
                <a:spcPts val="1745"/>
              </a:lnSpc>
            </a:pPr>
            <a:r>
              <a:rPr lang="en-US" sz="1246">
                <a:solidFill>
                  <a:srgbClr val="FFFFFF"/>
                </a:solidFill>
                <a:latin typeface="Poppins"/>
                <a:ea typeface="Poppins"/>
                <a:cs typeface="Poppins"/>
                <a:sym typeface="Poppins"/>
              </a:rPr>
              <a:t>The majority of individuals assert that the</a:t>
            </a:r>
          </a:p>
          <a:p>
            <a:pPr algn="l">
              <a:lnSpc>
                <a:spcPts val="1745"/>
              </a:lnSpc>
            </a:pPr>
            <a:r>
              <a:rPr lang="en-US" sz="1246">
                <a:solidFill>
                  <a:srgbClr val="FFFFFF"/>
                </a:solidFill>
                <a:latin typeface="Poppins"/>
                <a:ea typeface="Poppins"/>
                <a:cs typeface="Poppins"/>
                <a:sym typeface="Poppins"/>
              </a:rPr>
              <a:t>critical factor is contingent upon primary</a:t>
            </a:r>
          </a:p>
          <a:p>
            <a:pPr algn="l">
              <a:lnSpc>
                <a:spcPts val="1745"/>
              </a:lnSpc>
              <a:spcBef>
                <a:spcPct val="0"/>
              </a:spcBef>
            </a:pPr>
            <a:r>
              <a:rPr lang="en-US" sz="1246">
                <a:solidFill>
                  <a:srgbClr val="FFFFFF"/>
                </a:solidFill>
                <a:latin typeface="Poppins"/>
                <a:ea typeface="Poppins"/>
                <a:cs typeface="Poppins"/>
                <a:sym typeface="Poppins"/>
              </a:rPr>
              <a:t>and secondary product/service data.</a:t>
            </a:r>
          </a:p>
        </p:txBody>
      </p:sp>
      <p:sp>
        <p:nvSpPr>
          <p:cNvPr id="21" name="TextBox 21">
            <a:extLst>
              <a:ext uri="{FF2B5EF4-FFF2-40B4-BE49-F238E27FC236}">
                <a16:creationId xmlns:a16="http://schemas.microsoft.com/office/drawing/2014/main" id="{1339ABAE-8D82-76A5-90E8-8E1D63809FFB}"/>
              </a:ext>
            </a:extLst>
          </p:cNvPr>
          <p:cNvSpPr txBox="1"/>
          <p:nvPr/>
        </p:nvSpPr>
        <p:spPr>
          <a:xfrm>
            <a:off x="2132924" y="6536184"/>
            <a:ext cx="2613054" cy="447947"/>
          </a:xfrm>
          <a:prstGeom prst="rect">
            <a:avLst/>
          </a:prstGeom>
        </p:spPr>
        <p:txBody>
          <a:bodyPr lIns="0" tIns="0" rIns="0" bIns="0" rtlCol="0" anchor="t">
            <a:spAutoFit/>
          </a:bodyPr>
          <a:lstStyle/>
          <a:p>
            <a:pPr algn="l">
              <a:lnSpc>
                <a:spcPts val="3220"/>
              </a:lnSpc>
            </a:pPr>
            <a:r>
              <a:rPr lang="en-US" sz="2752" b="1">
                <a:solidFill>
                  <a:srgbClr val="FFFFFF"/>
                </a:solidFill>
                <a:latin typeface="Poppins Bold"/>
                <a:ea typeface="Poppins Bold"/>
                <a:cs typeface="Poppins Bold"/>
                <a:sym typeface="Poppins Bold"/>
              </a:rPr>
              <a:t>Relations</a:t>
            </a:r>
          </a:p>
        </p:txBody>
      </p:sp>
      <p:sp>
        <p:nvSpPr>
          <p:cNvPr id="23" name="TextBox 23">
            <a:extLst>
              <a:ext uri="{FF2B5EF4-FFF2-40B4-BE49-F238E27FC236}">
                <a16:creationId xmlns:a16="http://schemas.microsoft.com/office/drawing/2014/main" id="{A0E5A861-47D5-E281-3E81-3889BAE63B2A}"/>
              </a:ext>
            </a:extLst>
          </p:cNvPr>
          <p:cNvSpPr txBox="1"/>
          <p:nvPr/>
        </p:nvSpPr>
        <p:spPr>
          <a:xfrm>
            <a:off x="8825459" y="7918167"/>
            <a:ext cx="4329207" cy="1100407"/>
          </a:xfrm>
          <a:prstGeom prst="rect">
            <a:avLst/>
          </a:prstGeom>
        </p:spPr>
        <p:txBody>
          <a:bodyPr lIns="0" tIns="0" rIns="0" bIns="0" rtlCol="0" anchor="t">
            <a:spAutoFit/>
          </a:bodyPr>
          <a:lstStyle/>
          <a:p>
            <a:pPr algn="l">
              <a:lnSpc>
                <a:spcPts val="1745"/>
              </a:lnSpc>
            </a:pPr>
            <a:r>
              <a:rPr lang="en-US" sz="1246">
                <a:solidFill>
                  <a:srgbClr val="FFFFFF"/>
                </a:solidFill>
                <a:latin typeface="Poppins"/>
                <a:ea typeface="Poppins"/>
                <a:cs typeface="Poppins"/>
                <a:sym typeface="Poppins"/>
              </a:rPr>
              <a:t>Please specify the most critical variable that</a:t>
            </a:r>
          </a:p>
          <a:p>
            <a:pPr algn="l">
              <a:lnSpc>
                <a:spcPts val="1745"/>
              </a:lnSpc>
            </a:pPr>
            <a:r>
              <a:rPr lang="en-US" sz="1246">
                <a:solidFill>
                  <a:srgbClr val="FFFFFF"/>
                </a:solidFill>
                <a:latin typeface="Poppins"/>
                <a:ea typeface="Poppins"/>
                <a:cs typeface="Poppins"/>
                <a:sym typeface="Poppins"/>
              </a:rPr>
              <a:t>determines the organization's daily operations.</a:t>
            </a:r>
          </a:p>
          <a:p>
            <a:pPr algn="l">
              <a:lnSpc>
                <a:spcPts val="1745"/>
              </a:lnSpc>
            </a:pPr>
            <a:r>
              <a:rPr lang="en-US" sz="1246">
                <a:solidFill>
                  <a:srgbClr val="FFFFFF"/>
                </a:solidFill>
                <a:latin typeface="Poppins"/>
                <a:ea typeface="Poppins"/>
                <a:cs typeface="Poppins"/>
                <a:sym typeface="Poppins"/>
              </a:rPr>
              <a:t>Most individuals maintain that the critical factor</a:t>
            </a:r>
          </a:p>
          <a:p>
            <a:pPr algn="l">
              <a:lnSpc>
                <a:spcPts val="1745"/>
              </a:lnSpc>
            </a:pPr>
            <a:r>
              <a:rPr lang="en-US" sz="1246">
                <a:solidFill>
                  <a:srgbClr val="FFFFFF"/>
                </a:solidFill>
                <a:latin typeface="Poppins"/>
                <a:ea typeface="Poppins"/>
                <a:cs typeface="Poppins"/>
                <a:sym typeface="Poppins"/>
              </a:rPr>
              <a:t>is contingent upon primary and secondary</a:t>
            </a:r>
          </a:p>
          <a:p>
            <a:pPr algn="l">
              <a:lnSpc>
                <a:spcPts val="1745"/>
              </a:lnSpc>
              <a:spcBef>
                <a:spcPct val="0"/>
              </a:spcBef>
            </a:pPr>
            <a:r>
              <a:rPr lang="en-US" sz="1246">
                <a:solidFill>
                  <a:srgbClr val="FFFFFF"/>
                </a:solidFill>
                <a:latin typeface="Poppins"/>
                <a:ea typeface="Poppins"/>
                <a:cs typeface="Poppins"/>
                <a:sym typeface="Poppins"/>
              </a:rPr>
              <a:t>product/service data.</a:t>
            </a:r>
          </a:p>
        </p:txBody>
      </p:sp>
      <p:sp>
        <p:nvSpPr>
          <p:cNvPr id="28" name="AutoShape 28">
            <a:extLst>
              <a:ext uri="{FF2B5EF4-FFF2-40B4-BE49-F238E27FC236}">
                <a16:creationId xmlns:a16="http://schemas.microsoft.com/office/drawing/2014/main" id="{F7E8EE58-BEB1-9635-6DDE-986752E2DBA0}"/>
              </a:ext>
            </a:extLst>
          </p:cNvPr>
          <p:cNvSpPr/>
          <p:nvPr/>
        </p:nvSpPr>
        <p:spPr>
          <a:xfrm rot="5400000">
            <a:off x="16399966" y="6264625"/>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29" name="TextBox 29">
            <a:extLst>
              <a:ext uri="{FF2B5EF4-FFF2-40B4-BE49-F238E27FC236}">
                <a16:creationId xmlns:a16="http://schemas.microsoft.com/office/drawing/2014/main" id="{88A22E32-CECA-C678-AA30-B269AA577044}"/>
              </a:ext>
            </a:extLst>
          </p:cNvPr>
          <p:cNvSpPr txBox="1"/>
          <p:nvPr/>
        </p:nvSpPr>
        <p:spPr>
          <a:xfrm rot="-5400000">
            <a:off x="17310518" y="8275412"/>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33" name="TextBox 32">
            <a:extLst>
              <a:ext uri="{FF2B5EF4-FFF2-40B4-BE49-F238E27FC236}">
                <a16:creationId xmlns:a16="http://schemas.microsoft.com/office/drawing/2014/main" id="{25EA1E1E-947B-FC98-8C8F-FB275ADD04EA}"/>
              </a:ext>
            </a:extLst>
          </p:cNvPr>
          <p:cNvSpPr txBox="1"/>
          <p:nvPr/>
        </p:nvSpPr>
        <p:spPr>
          <a:xfrm>
            <a:off x="5401405" y="4241306"/>
            <a:ext cx="727504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Poppins"/>
                <a:cs typeface="Poppins"/>
              </a:rPr>
              <a:t>Fig 7. </a:t>
            </a:r>
            <a:r>
              <a:rPr lang="en-US" sz="2000" dirty="0">
                <a:latin typeface="Poppins"/>
                <a:cs typeface="Poppins"/>
              </a:rPr>
              <a:t>Architecture of Third Order Delta Sigma Modulator</a:t>
            </a:r>
          </a:p>
        </p:txBody>
      </p:sp>
      <p:sp>
        <p:nvSpPr>
          <p:cNvPr id="35" name="TextBox 34">
            <a:extLst>
              <a:ext uri="{FF2B5EF4-FFF2-40B4-BE49-F238E27FC236}">
                <a16:creationId xmlns:a16="http://schemas.microsoft.com/office/drawing/2014/main" id="{20165DE0-7B06-9AAA-E388-85420623B87C}"/>
              </a:ext>
            </a:extLst>
          </p:cNvPr>
          <p:cNvSpPr txBox="1"/>
          <p:nvPr/>
        </p:nvSpPr>
        <p:spPr>
          <a:xfrm>
            <a:off x="1846734" y="8651989"/>
            <a:ext cx="5808295"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latin typeface="Poppins"/>
                <a:cs typeface="Poppins"/>
              </a:rPr>
              <a:t>Fig 8. </a:t>
            </a:r>
            <a:r>
              <a:rPr lang="en-US" sz="2000" dirty="0">
                <a:latin typeface="Poppins"/>
                <a:cs typeface="Poppins"/>
              </a:rPr>
              <a:t>The Spectrum Analysis of 3rd Order CT Modulator In Ideal Condition after Filter</a:t>
            </a:r>
            <a:endParaRPr lang="en-US" dirty="0"/>
          </a:p>
        </p:txBody>
      </p:sp>
      <p:sp>
        <p:nvSpPr>
          <p:cNvPr id="25" name="Rectangle 24">
            <a:extLst>
              <a:ext uri="{FF2B5EF4-FFF2-40B4-BE49-F238E27FC236}">
                <a16:creationId xmlns:a16="http://schemas.microsoft.com/office/drawing/2014/main" id="{31C8435F-9FF6-24D8-F9E9-B6771D56B542}"/>
              </a:ext>
            </a:extLst>
          </p:cNvPr>
          <p:cNvSpPr/>
          <p:nvPr/>
        </p:nvSpPr>
        <p:spPr>
          <a:xfrm>
            <a:off x="9053478" y="4867758"/>
            <a:ext cx="8849963" cy="5440697"/>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25">
            <a:extLst>
              <a:ext uri="{FF2B5EF4-FFF2-40B4-BE49-F238E27FC236}">
                <a16:creationId xmlns:a16="http://schemas.microsoft.com/office/drawing/2014/main" id="{728A5484-F6E7-F52D-CF80-071DC0788A87}"/>
              </a:ext>
            </a:extLst>
          </p:cNvPr>
          <p:cNvSpPr/>
          <p:nvPr/>
        </p:nvSpPr>
        <p:spPr>
          <a:xfrm>
            <a:off x="11707549" y="8994097"/>
            <a:ext cx="3546557" cy="1295729"/>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r>
              <a:rPr lang="en-US" sz="2600" b="1">
                <a:solidFill>
                  <a:schemeClr val="tx1"/>
                </a:solidFill>
                <a:latin typeface="Poppins"/>
                <a:ea typeface="Segoe UI"/>
                <a:cs typeface="Segoe UI"/>
              </a:rPr>
              <a:t>Observation :</a:t>
            </a:r>
            <a:r>
              <a:rPr lang="en-US" sz="2600">
                <a:solidFill>
                  <a:schemeClr val="tx1"/>
                </a:solidFill>
                <a:latin typeface="Poppins"/>
                <a:ea typeface="Segoe UI"/>
                <a:cs typeface="Segoe UI"/>
              </a:rPr>
              <a:t>​</a:t>
            </a:r>
            <a:endParaRPr lang="en-US"/>
          </a:p>
          <a:p>
            <a:pPr algn="ctr" rtl="0"/>
            <a:r>
              <a:rPr lang="en-US" sz="2600" baseline="0">
                <a:solidFill>
                  <a:schemeClr val="tx1"/>
                </a:solidFill>
                <a:latin typeface="Poppins"/>
                <a:ea typeface="Segoe UI"/>
                <a:cs typeface="Segoe UI"/>
              </a:rPr>
              <a:t>SNR = </a:t>
            </a:r>
            <a:r>
              <a:rPr lang="en-US" sz="2600">
                <a:solidFill>
                  <a:schemeClr val="tx1"/>
                </a:solidFill>
                <a:latin typeface="Poppins"/>
                <a:ea typeface="Segoe UI"/>
                <a:cs typeface="Segoe UI"/>
              </a:rPr>
              <a:t>78.51</a:t>
            </a:r>
            <a:endParaRPr lang="en-US">
              <a:solidFill>
                <a:schemeClr val="tx1"/>
              </a:solidFill>
              <a:ea typeface="Calibri"/>
              <a:cs typeface="Calibri"/>
            </a:endParaRPr>
          </a:p>
        </p:txBody>
      </p:sp>
      <p:sp>
        <p:nvSpPr>
          <p:cNvPr id="7" name="TextBox 6">
            <a:extLst>
              <a:ext uri="{FF2B5EF4-FFF2-40B4-BE49-F238E27FC236}">
                <a16:creationId xmlns:a16="http://schemas.microsoft.com/office/drawing/2014/main" id="{07D7F0C9-528C-36BD-8CA8-283F934B998F}"/>
              </a:ext>
            </a:extLst>
          </p:cNvPr>
          <p:cNvSpPr txBox="1"/>
          <p:nvPr/>
        </p:nvSpPr>
        <p:spPr>
          <a:xfrm>
            <a:off x="9150814" y="5700464"/>
            <a:ext cx="8508445"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2800" b="1">
                <a:ea typeface="+mn-lt"/>
                <a:cs typeface="+mn-lt"/>
              </a:rPr>
              <a:t>Observation</a:t>
            </a:r>
            <a:r>
              <a:rPr lang="en-US" sz="2400" b="1">
                <a:ea typeface="+mn-lt"/>
                <a:cs typeface="+mn-lt"/>
              </a:rPr>
              <a:t>:</a:t>
            </a:r>
            <a:r>
              <a:rPr lang="en-US" sz="2400">
                <a:ea typeface="+mn-lt"/>
                <a:cs typeface="+mn-lt"/>
              </a:rPr>
              <a:t> The spectrum displays correct 3rd-order noise shaping with a deep notch at low frequencies, confirming the loop effectively suppresses in-band quantization noise.</a:t>
            </a:r>
          </a:p>
          <a:p>
            <a:endParaRPr lang="en-US" sz="2400">
              <a:ea typeface="+mn-lt"/>
              <a:cs typeface="+mn-lt"/>
            </a:endParaRPr>
          </a:p>
          <a:p>
            <a:pPr>
              <a:buFont typeface="Arial"/>
              <a:buChar char="•"/>
            </a:pPr>
            <a:r>
              <a:rPr lang="en-US" sz="2800" b="1">
                <a:ea typeface="+mn-lt"/>
                <a:cs typeface="+mn-lt"/>
              </a:rPr>
              <a:t>Noise Shaping:</a:t>
            </a:r>
            <a:r>
              <a:rPr lang="en-US" sz="2400">
                <a:ea typeface="+mn-lt"/>
                <a:cs typeface="+mn-lt"/>
              </a:rPr>
              <a:t> The steep high-frequency noise rise is intentional, shifting quantization noise away from the signal band to be removed by digital filtering.</a:t>
            </a:r>
            <a:endParaRPr lang="en-US">
              <a:ea typeface="+mn-lt"/>
              <a:cs typeface="+mn-lt"/>
            </a:endParaRPr>
          </a:p>
          <a:p>
            <a:endParaRPr lang="en-US" sz="2400">
              <a:ea typeface="Calibri"/>
              <a:cs typeface="Calibri"/>
            </a:endParaRPr>
          </a:p>
        </p:txBody>
      </p:sp>
      <p:pic>
        <p:nvPicPr>
          <p:cNvPr id="2" name="Picture 1">
            <a:extLst>
              <a:ext uri="{FF2B5EF4-FFF2-40B4-BE49-F238E27FC236}">
                <a16:creationId xmlns:a16="http://schemas.microsoft.com/office/drawing/2014/main" id="{EDD80B3B-8293-84D9-A2F4-BBE3219F8AD6}"/>
              </a:ext>
            </a:extLst>
          </p:cNvPr>
          <p:cNvPicPr>
            <a:picLocks noChangeAspect="1"/>
          </p:cNvPicPr>
          <p:nvPr/>
        </p:nvPicPr>
        <p:blipFill>
          <a:blip r:embed="rId3"/>
          <a:stretch>
            <a:fillRect/>
          </a:stretch>
        </p:blipFill>
        <p:spPr>
          <a:xfrm>
            <a:off x="801645" y="5500678"/>
            <a:ext cx="7834184" cy="3145311"/>
          </a:xfrm>
          <a:prstGeom prst="rect">
            <a:avLst/>
          </a:prstGeom>
        </p:spPr>
      </p:pic>
      <p:sp>
        <p:nvSpPr>
          <p:cNvPr id="4" name="Rectangle: Rounded Corners 3">
            <a:extLst>
              <a:ext uri="{FF2B5EF4-FFF2-40B4-BE49-F238E27FC236}">
                <a16:creationId xmlns:a16="http://schemas.microsoft.com/office/drawing/2014/main" id="{61ADB566-DFF8-99F7-7287-DA94B7E88B2D}"/>
              </a:ext>
            </a:extLst>
          </p:cNvPr>
          <p:cNvSpPr/>
          <p:nvPr/>
        </p:nvSpPr>
        <p:spPr>
          <a:xfrm>
            <a:off x="1581407" y="-311569"/>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6" name="TextBox 5">
            <a:extLst>
              <a:ext uri="{FF2B5EF4-FFF2-40B4-BE49-F238E27FC236}">
                <a16:creationId xmlns:a16="http://schemas.microsoft.com/office/drawing/2014/main" id="{EA3CE01C-72D2-6B37-AA69-3ECFBFBDCC4F}"/>
              </a:ext>
            </a:extLst>
          </p:cNvPr>
          <p:cNvSpPr txBox="1"/>
          <p:nvPr/>
        </p:nvSpPr>
        <p:spPr>
          <a:xfrm>
            <a:off x="7138090" y="140268"/>
            <a:ext cx="407523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solidFill>
                  <a:schemeClr val="bg1"/>
                </a:solidFill>
                <a:ea typeface="Calibri"/>
                <a:cs typeface="Calibri"/>
              </a:rPr>
              <a:t>CT Modulator</a:t>
            </a:r>
            <a:endParaRPr lang="en-US" sz="5400">
              <a:solidFill>
                <a:schemeClr val="bg1"/>
              </a:solidFill>
            </a:endParaRPr>
          </a:p>
        </p:txBody>
      </p:sp>
    </p:spTree>
    <p:extLst>
      <p:ext uri="{BB962C8B-B14F-4D97-AF65-F5344CB8AC3E}">
        <p14:creationId xmlns:p14="http://schemas.microsoft.com/office/powerpoint/2010/main" val="34446828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A90C8-A0D9-CE2F-0889-33211BE9D268}"/>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D22174A7-B1B9-E573-8717-02E822F3DD56}"/>
              </a:ext>
            </a:extLst>
          </p:cNvPr>
          <p:cNvSpPr/>
          <p:nvPr/>
        </p:nvSpPr>
        <p:spPr>
          <a:xfrm>
            <a:off x="377607" y="1993239"/>
            <a:ext cx="8768333" cy="8288867"/>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utoShape 28">
            <a:extLst>
              <a:ext uri="{FF2B5EF4-FFF2-40B4-BE49-F238E27FC236}">
                <a16:creationId xmlns:a16="http://schemas.microsoft.com/office/drawing/2014/main" id="{281DA08D-44BC-2BE9-4ADA-97DF46CC5AE8}"/>
              </a:ext>
            </a:extLst>
          </p:cNvPr>
          <p:cNvSpPr/>
          <p:nvPr/>
        </p:nvSpPr>
        <p:spPr>
          <a:xfrm rot="5400000">
            <a:off x="16416531" y="5568886"/>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29" name="TextBox 29">
            <a:extLst>
              <a:ext uri="{FF2B5EF4-FFF2-40B4-BE49-F238E27FC236}">
                <a16:creationId xmlns:a16="http://schemas.microsoft.com/office/drawing/2014/main" id="{EAE111B4-C221-9B1C-82AC-0E051D686FC6}"/>
              </a:ext>
            </a:extLst>
          </p:cNvPr>
          <p:cNvSpPr txBox="1"/>
          <p:nvPr/>
        </p:nvSpPr>
        <p:spPr>
          <a:xfrm rot="16200000">
            <a:off x="17327083" y="7579673"/>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30" name="TextBox 30">
            <a:extLst>
              <a:ext uri="{FF2B5EF4-FFF2-40B4-BE49-F238E27FC236}">
                <a16:creationId xmlns:a16="http://schemas.microsoft.com/office/drawing/2014/main" id="{E69113FF-C29B-B2FD-F373-23E18BCC551B}"/>
              </a:ext>
            </a:extLst>
          </p:cNvPr>
          <p:cNvSpPr txBox="1"/>
          <p:nvPr/>
        </p:nvSpPr>
        <p:spPr>
          <a:xfrm rot="16200000">
            <a:off x="16178191" y="2044145"/>
            <a:ext cx="3231104" cy="272161"/>
          </a:xfrm>
          <a:prstGeom prst="rect">
            <a:avLst/>
          </a:prstGeom>
        </p:spPr>
        <p:txBody>
          <a:bodyPr lIns="0" tIns="0" rIns="0" bIns="0" rtlCol="0" anchor="t">
            <a:spAutoFit/>
          </a:bodyPr>
          <a:lstStyle/>
          <a:p>
            <a:pPr algn="ctr">
              <a:lnSpc>
                <a:spcPts val="2324"/>
              </a:lnSpc>
            </a:pPr>
            <a:r>
              <a:rPr lang="en-US" sz="1660">
                <a:solidFill>
                  <a:srgbClr val="FFFFFF"/>
                </a:solidFill>
                <a:latin typeface="Quicksand"/>
                <a:ea typeface="Quicksand"/>
                <a:cs typeface="Quicksand"/>
                <a:sym typeface="Quicksand"/>
              </a:rPr>
              <a:t>www.reallygreatsite.com </a:t>
            </a:r>
          </a:p>
        </p:txBody>
      </p:sp>
      <p:sp>
        <p:nvSpPr>
          <p:cNvPr id="35" name="TextBox 34">
            <a:extLst>
              <a:ext uri="{FF2B5EF4-FFF2-40B4-BE49-F238E27FC236}">
                <a16:creationId xmlns:a16="http://schemas.microsoft.com/office/drawing/2014/main" id="{F699F3F2-B359-4BB3-49CC-FFA8153E2FE9}"/>
              </a:ext>
            </a:extLst>
          </p:cNvPr>
          <p:cNvSpPr txBox="1"/>
          <p:nvPr/>
        </p:nvSpPr>
        <p:spPr>
          <a:xfrm>
            <a:off x="1684554" y="7233351"/>
            <a:ext cx="580193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baseline="0" dirty="0">
                <a:latin typeface="Poppins"/>
                <a:ea typeface="Segoe UI"/>
                <a:cs typeface="Segoe UI"/>
              </a:rPr>
              <a:t>Fig </a:t>
            </a:r>
            <a:r>
              <a:rPr lang="en-US" sz="2000" b="1" dirty="0">
                <a:latin typeface="Poppins"/>
                <a:ea typeface="Segoe UI"/>
                <a:cs typeface="Segoe UI"/>
              </a:rPr>
              <a:t>9</a:t>
            </a:r>
            <a:r>
              <a:rPr lang="en-US" sz="2000" baseline="0" dirty="0">
                <a:latin typeface="Poppins"/>
                <a:ea typeface="Segoe UI"/>
                <a:cs typeface="Segoe UI"/>
              </a:rPr>
              <a:t>. The Spectrum Analysis of </a:t>
            </a:r>
            <a:r>
              <a:rPr lang="en-US" sz="2000" dirty="0">
                <a:latin typeface="Poppins"/>
                <a:ea typeface="Segoe UI"/>
                <a:cs typeface="Segoe UI"/>
              </a:rPr>
              <a:t>3rd</a:t>
            </a:r>
            <a:r>
              <a:rPr lang="en-US" sz="2000" baseline="0" dirty="0">
                <a:latin typeface="Poppins"/>
                <a:ea typeface="Segoe UI"/>
                <a:cs typeface="Segoe UI"/>
              </a:rPr>
              <a:t> Order </a:t>
            </a:r>
            <a:r>
              <a:rPr lang="en-US" sz="2000" dirty="0">
                <a:latin typeface="Poppins"/>
                <a:ea typeface="Segoe UI"/>
                <a:cs typeface="Segoe UI"/>
              </a:rPr>
              <a:t>CT Modulator</a:t>
            </a:r>
            <a:r>
              <a:rPr lang="en-US" sz="2000" baseline="0" dirty="0">
                <a:latin typeface="Poppins"/>
                <a:ea typeface="Segoe UI"/>
                <a:cs typeface="Segoe UI"/>
              </a:rPr>
              <a:t> with Clock Jitter</a:t>
            </a:r>
            <a:r>
              <a:rPr lang="en-US" sz="2000" dirty="0">
                <a:latin typeface="Poppins"/>
                <a:ea typeface="Poppins"/>
                <a:cs typeface="Poppins"/>
              </a:rPr>
              <a:t>​</a:t>
            </a:r>
            <a:endParaRPr lang="en-US" dirty="0">
              <a:ea typeface="Calibri"/>
              <a:cs typeface="Calibri"/>
            </a:endParaRPr>
          </a:p>
        </p:txBody>
      </p:sp>
      <p:pic>
        <p:nvPicPr>
          <p:cNvPr id="4" name="Picture 3">
            <a:extLst>
              <a:ext uri="{FF2B5EF4-FFF2-40B4-BE49-F238E27FC236}">
                <a16:creationId xmlns:a16="http://schemas.microsoft.com/office/drawing/2014/main" id="{ACF96B95-ECFB-52A8-C197-B02E625948BD}"/>
              </a:ext>
            </a:extLst>
          </p:cNvPr>
          <p:cNvPicPr>
            <a:picLocks noChangeAspect="1"/>
          </p:cNvPicPr>
          <p:nvPr/>
        </p:nvPicPr>
        <p:blipFill>
          <a:blip r:embed="rId2"/>
          <a:stretch>
            <a:fillRect/>
          </a:stretch>
        </p:blipFill>
        <p:spPr>
          <a:xfrm>
            <a:off x="645215" y="4191112"/>
            <a:ext cx="7886700" cy="2788509"/>
          </a:xfrm>
          <a:prstGeom prst="rect">
            <a:avLst/>
          </a:prstGeom>
        </p:spPr>
      </p:pic>
      <p:sp>
        <p:nvSpPr>
          <p:cNvPr id="16" name="Rectangle 15">
            <a:extLst>
              <a:ext uri="{FF2B5EF4-FFF2-40B4-BE49-F238E27FC236}">
                <a16:creationId xmlns:a16="http://schemas.microsoft.com/office/drawing/2014/main" id="{5D7FEC95-3D66-A5E0-746D-01D77419F11D}"/>
              </a:ext>
            </a:extLst>
          </p:cNvPr>
          <p:cNvSpPr/>
          <p:nvPr/>
        </p:nvSpPr>
        <p:spPr>
          <a:xfrm>
            <a:off x="9144691" y="1995510"/>
            <a:ext cx="8767382" cy="8290229"/>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8EC5C60-A0B9-9A45-D8E8-009B25B0C508}"/>
              </a:ext>
            </a:extLst>
          </p:cNvPr>
          <p:cNvSpPr txBox="1"/>
          <p:nvPr/>
        </p:nvSpPr>
        <p:spPr>
          <a:xfrm>
            <a:off x="9160564" y="2851225"/>
            <a:ext cx="8680622" cy="54476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gn="just">
              <a:buFont typeface=""/>
              <a:buChar char="•"/>
            </a:pPr>
            <a:r>
              <a:rPr lang="en-US" sz="2800" b="1"/>
              <a:t>Measured Comparison:</a:t>
            </a:r>
            <a:r>
              <a:rPr lang="en-US" sz="2400"/>
              <a:t> Under identical clock jitter conditions, the 3rd-Order loop achieved a higher SNR compared to the 2nd-Order loop (</a:t>
            </a:r>
            <a:r>
              <a:rPr lang="en-US" sz="2400" b="1"/>
              <a:t>~10 dB</a:t>
            </a:r>
            <a:r>
              <a:rPr lang="en-US" sz="2400"/>
              <a:t>).</a:t>
            </a:r>
            <a:endParaRPr lang="en-US" sz="2400">
              <a:ea typeface="Calibri"/>
              <a:cs typeface="Calibri"/>
            </a:endParaRPr>
          </a:p>
          <a:p>
            <a:pPr marL="228600" indent="-228600" algn="just">
              <a:buFont typeface=""/>
              <a:buChar char="•"/>
            </a:pPr>
            <a:endParaRPr lang="en-US" sz="2400">
              <a:ea typeface="Calibri"/>
              <a:cs typeface="Calibri"/>
            </a:endParaRPr>
          </a:p>
          <a:p>
            <a:pPr marL="228600" indent="-228600" algn="just">
              <a:buFont typeface=""/>
              <a:buChar char="•"/>
            </a:pPr>
            <a:r>
              <a:rPr lang="en-US" sz="2800" b="1">
                <a:ea typeface="Calibri"/>
                <a:cs typeface="Calibri"/>
              </a:rPr>
              <a:t>Reason (Loop Gain Dominance):</a:t>
            </a:r>
            <a:r>
              <a:rPr lang="en-US" sz="2400">
                <a:ea typeface="Calibri"/>
                <a:cs typeface="Calibri"/>
              </a:rPr>
              <a:t> The 3rd-order filter provides significantly higher open-loop gain at low frequencies. This extra gain helps suppress all in-band error sources—including the base-band component of the jitter noise—more effectively than the weaker 2nd-order loop. </a:t>
            </a:r>
          </a:p>
          <a:p>
            <a:pPr marL="228600" indent="-228600" algn="just">
              <a:buFont typeface=""/>
              <a:buChar char="•"/>
            </a:pPr>
            <a:endParaRPr lang="en-US" sz="2400">
              <a:ea typeface="Calibri"/>
              <a:cs typeface="Calibri"/>
            </a:endParaRPr>
          </a:p>
          <a:p>
            <a:pPr marL="228600" indent="-228600" algn="just">
              <a:buFont typeface=""/>
              <a:buChar char="•"/>
            </a:pPr>
            <a:r>
              <a:rPr lang="en-US" sz="2800" b="1">
                <a:ea typeface="Calibri"/>
                <a:cs typeface="Calibri"/>
              </a:rPr>
              <a:t>Verdict:</a:t>
            </a:r>
            <a:r>
              <a:rPr lang="en-US" sz="2400">
                <a:ea typeface="Calibri"/>
                <a:cs typeface="Calibri"/>
              </a:rPr>
              <a:t> Although the 3rd-order performed better, both designs failed to meet the target resolution (20-bit), confirming that clock jitter remains a critical bottleneck that loop order alone cannot resolve. </a:t>
            </a:r>
          </a:p>
        </p:txBody>
      </p:sp>
      <p:sp>
        <p:nvSpPr>
          <p:cNvPr id="13" name="Rectangle 25">
            <a:extLst>
              <a:ext uri="{FF2B5EF4-FFF2-40B4-BE49-F238E27FC236}">
                <a16:creationId xmlns:a16="http://schemas.microsoft.com/office/drawing/2014/main" id="{3C98FC68-E95F-D956-844D-4A52C2316366}"/>
              </a:ext>
            </a:extLst>
          </p:cNvPr>
          <p:cNvSpPr/>
          <p:nvPr/>
        </p:nvSpPr>
        <p:spPr>
          <a:xfrm>
            <a:off x="11728203" y="8999549"/>
            <a:ext cx="3546557" cy="1295729"/>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r>
              <a:rPr lang="en-US" sz="2600" b="1">
                <a:solidFill>
                  <a:schemeClr val="tx1"/>
                </a:solidFill>
                <a:latin typeface="Poppins"/>
                <a:ea typeface="Segoe UI"/>
                <a:cs typeface="Segoe UI"/>
              </a:rPr>
              <a:t>Observation :</a:t>
            </a:r>
            <a:r>
              <a:rPr lang="en-US" sz="2600">
                <a:solidFill>
                  <a:schemeClr val="tx1"/>
                </a:solidFill>
                <a:latin typeface="Poppins"/>
                <a:ea typeface="Segoe UI"/>
                <a:cs typeface="Segoe UI"/>
              </a:rPr>
              <a:t>​</a:t>
            </a:r>
            <a:endParaRPr lang="en-US">
              <a:solidFill>
                <a:schemeClr val="tx1"/>
              </a:solidFill>
            </a:endParaRPr>
          </a:p>
          <a:p>
            <a:pPr algn="ctr" rtl="0"/>
            <a:r>
              <a:rPr lang="en-US" sz="2600" baseline="0">
                <a:solidFill>
                  <a:schemeClr val="tx1"/>
                </a:solidFill>
                <a:latin typeface="Poppins"/>
                <a:ea typeface="Segoe UI"/>
                <a:cs typeface="Segoe UI"/>
              </a:rPr>
              <a:t>SNR = </a:t>
            </a:r>
            <a:r>
              <a:rPr lang="en-US" sz="2600">
                <a:solidFill>
                  <a:schemeClr val="tx1"/>
                </a:solidFill>
                <a:latin typeface="Poppins"/>
                <a:ea typeface="Segoe UI"/>
                <a:cs typeface="Segoe UI"/>
              </a:rPr>
              <a:t>25.62</a:t>
            </a:r>
            <a:endParaRPr lang="en-US">
              <a:solidFill>
                <a:schemeClr val="tx1"/>
              </a:solidFill>
              <a:ea typeface="Calibri"/>
              <a:cs typeface="Calibri"/>
            </a:endParaRPr>
          </a:p>
        </p:txBody>
      </p:sp>
      <p:sp>
        <p:nvSpPr>
          <p:cNvPr id="5" name="Rectangle: Rounded Corners 4">
            <a:extLst>
              <a:ext uri="{FF2B5EF4-FFF2-40B4-BE49-F238E27FC236}">
                <a16:creationId xmlns:a16="http://schemas.microsoft.com/office/drawing/2014/main" id="{DEE8D2ED-9761-9C50-5896-2169919164A2}"/>
              </a:ext>
            </a:extLst>
          </p:cNvPr>
          <p:cNvSpPr/>
          <p:nvPr/>
        </p:nvSpPr>
        <p:spPr>
          <a:xfrm>
            <a:off x="1581407" y="-311569"/>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7" name="TextBox 6">
            <a:extLst>
              <a:ext uri="{FF2B5EF4-FFF2-40B4-BE49-F238E27FC236}">
                <a16:creationId xmlns:a16="http://schemas.microsoft.com/office/drawing/2014/main" id="{B6ACF141-0FBE-3998-28FE-765D191F9884}"/>
              </a:ext>
            </a:extLst>
          </p:cNvPr>
          <p:cNvSpPr txBox="1"/>
          <p:nvPr/>
        </p:nvSpPr>
        <p:spPr>
          <a:xfrm>
            <a:off x="7138090" y="140268"/>
            <a:ext cx="407523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solidFill>
                  <a:schemeClr val="bg1"/>
                </a:solidFill>
                <a:ea typeface="Calibri"/>
                <a:cs typeface="Calibri"/>
              </a:rPr>
              <a:t>CT Modulator</a:t>
            </a:r>
            <a:endParaRPr lang="en-US" sz="5400">
              <a:solidFill>
                <a:schemeClr val="bg1"/>
              </a:solidFill>
            </a:endParaRPr>
          </a:p>
        </p:txBody>
      </p:sp>
    </p:spTree>
    <p:extLst>
      <p:ext uri="{BB962C8B-B14F-4D97-AF65-F5344CB8AC3E}">
        <p14:creationId xmlns:p14="http://schemas.microsoft.com/office/powerpoint/2010/main" val="30726975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BA7B5-7CF5-A834-8008-016FC84DD8D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D65811C-D4FF-FA5A-2166-989886DFEBC1}"/>
              </a:ext>
            </a:extLst>
          </p:cNvPr>
          <p:cNvSpPr/>
          <p:nvPr/>
        </p:nvSpPr>
        <p:spPr>
          <a:xfrm>
            <a:off x="211108" y="1719968"/>
            <a:ext cx="8963473" cy="8573043"/>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A879E66-86CC-6B98-2764-85A79FFBCB1B}"/>
              </a:ext>
            </a:extLst>
          </p:cNvPr>
          <p:cNvSpPr/>
          <p:nvPr/>
        </p:nvSpPr>
        <p:spPr>
          <a:xfrm>
            <a:off x="9159781" y="1719969"/>
            <a:ext cx="8922196" cy="8573043"/>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5">
            <a:extLst>
              <a:ext uri="{FF2B5EF4-FFF2-40B4-BE49-F238E27FC236}">
                <a16:creationId xmlns:a16="http://schemas.microsoft.com/office/drawing/2014/main" id="{42EEA928-F409-CAEA-B463-7C15425B648A}"/>
              </a:ext>
            </a:extLst>
          </p:cNvPr>
          <p:cNvGrpSpPr/>
          <p:nvPr/>
        </p:nvGrpSpPr>
        <p:grpSpPr>
          <a:xfrm>
            <a:off x="1479394" y="3539073"/>
            <a:ext cx="537179" cy="537179"/>
            <a:chOff x="0" y="0"/>
            <a:chExt cx="1913890" cy="1913890"/>
          </a:xfrm>
        </p:grpSpPr>
        <p:sp>
          <p:nvSpPr>
            <p:cNvPr id="6" name="Freeform 6">
              <a:extLst>
                <a:ext uri="{FF2B5EF4-FFF2-40B4-BE49-F238E27FC236}">
                  <a16:creationId xmlns:a16="http://schemas.microsoft.com/office/drawing/2014/main" id="{D0329938-A7C8-72AB-1609-89F258A4E8BA}"/>
                </a:ext>
              </a:extLst>
            </p:cNvPr>
            <p:cNvSpPr/>
            <p:nvPr/>
          </p:nvSpPr>
          <p:spPr>
            <a:xfrm>
              <a:off x="0" y="0"/>
              <a:ext cx="1913890" cy="1913890"/>
            </a:xfrm>
            <a:custGeom>
              <a:avLst/>
              <a:gdLst/>
              <a:ahLst/>
              <a:cxnLst/>
              <a:rect l="l" t="t" r="r" b="b"/>
              <a:pathLst>
                <a:path w="1913890" h="1913890">
                  <a:moveTo>
                    <a:pt x="1789430" y="1913890"/>
                  </a:moveTo>
                  <a:lnTo>
                    <a:pt x="124460" y="1913890"/>
                  </a:lnTo>
                  <a:cubicBezTo>
                    <a:pt x="55880" y="1913890"/>
                    <a:pt x="0" y="1858010"/>
                    <a:pt x="0" y="1789430"/>
                  </a:cubicBezTo>
                  <a:lnTo>
                    <a:pt x="0" y="124460"/>
                  </a:lnTo>
                  <a:cubicBezTo>
                    <a:pt x="0" y="55880"/>
                    <a:pt x="55880" y="0"/>
                    <a:pt x="124460" y="0"/>
                  </a:cubicBezTo>
                  <a:lnTo>
                    <a:pt x="1789430" y="0"/>
                  </a:lnTo>
                  <a:cubicBezTo>
                    <a:pt x="1858010" y="0"/>
                    <a:pt x="1913890" y="55880"/>
                    <a:pt x="1913890" y="124460"/>
                  </a:cubicBezTo>
                  <a:lnTo>
                    <a:pt x="1913890" y="1789430"/>
                  </a:lnTo>
                  <a:cubicBezTo>
                    <a:pt x="1913890" y="1858010"/>
                    <a:pt x="1858010" y="1913890"/>
                    <a:pt x="1789430" y="1913890"/>
                  </a:cubicBezTo>
                  <a:close/>
                </a:path>
              </a:pathLst>
            </a:custGeom>
            <a:solidFill>
              <a:srgbClr val="FFFFFF"/>
            </a:solidFill>
          </p:spPr>
          <p:txBody>
            <a:bodyPr/>
            <a:lstStyle/>
            <a:p>
              <a:endParaRPr lang="en-IN"/>
            </a:p>
          </p:txBody>
        </p:sp>
      </p:grpSp>
      <p:sp>
        <p:nvSpPr>
          <p:cNvPr id="28" name="AutoShape 28">
            <a:extLst>
              <a:ext uri="{FF2B5EF4-FFF2-40B4-BE49-F238E27FC236}">
                <a16:creationId xmlns:a16="http://schemas.microsoft.com/office/drawing/2014/main" id="{886A7D6C-AB1A-F0C1-0698-CE600BBB087F}"/>
              </a:ext>
            </a:extLst>
          </p:cNvPr>
          <p:cNvSpPr/>
          <p:nvPr/>
        </p:nvSpPr>
        <p:spPr>
          <a:xfrm rot="5400000">
            <a:off x="16399966" y="6264625"/>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29" name="TextBox 29">
            <a:extLst>
              <a:ext uri="{FF2B5EF4-FFF2-40B4-BE49-F238E27FC236}">
                <a16:creationId xmlns:a16="http://schemas.microsoft.com/office/drawing/2014/main" id="{5736188A-1D43-AA9A-81AE-40BE8F8E3106}"/>
              </a:ext>
            </a:extLst>
          </p:cNvPr>
          <p:cNvSpPr txBox="1"/>
          <p:nvPr/>
        </p:nvSpPr>
        <p:spPr>
          <a:xfrm rot="-5400000">
            <a:off x="17310518" y="8275412"/>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35" name="TextBox 34">
            <a:extLst>
              <a:ext uri="{FF2B5EF4-FFF2-40B4-BE49-F238E27FC236}">
                <a16:creationId xmlns:a16="http://schemas.microsoft.com/office/drawing/2014/main" id="{E3AAEB7F-37F0-0952-15DF-2F2324BEB1E9}"/>
              </a:ext>
            </a:extLst>
          </p:cNvPr>
          <p:cNvSpPr txBox="1"/>
          <p:nvPr/>
        </p:nvSpPr>
        <p:spPr>
          <a:xfrm>
            <a:off x="1904064" y="4988573"/>
            <a:ext cx="5576605"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latin typeface="Poppins"/>
                <a:cs typeface="Poppins"/>
              </a:rPr>
              <a:t>Fig. 10 </a:t>
            </a:r>
            <a:r>
              <a:rPr lang="en-US" sz="2000" dirty="0">
                <a:latin typeface="Poppins"/>
                <a:cs typeface="Poppins"/>
              </a:rPr>
              <a:t>The Spectrum Analysis of 3rd Order CT Modulator with Flicker Noise</a:t>
            </a:r>
            <a:endParaRPr lang="en-US" sz="2000" dirty="0">
              <a:latin typeface="Calibri"/>
              <a:ea typeface="Calibri"/>
              <a:cs typeface="Calibri"/>
            </a:endParaRPr>
          </a:p>
        </p:txBody>
      </p:sp>
      <p:pic>
        <p:nvPicPr>
          <p:cNvPr id="7" name="Picture 6">
            <a:extLst>
              <a:ext uri="{FF2B5EF4-FFF2-40B4-BE49-F238E27FC236}">
                <a16:creationId xmlns:a16="http://schemas.microsoft.com/office/drawing/2014/main" id="{3B3C6737-566E-2486-0DC4-1561D6122788}"/>
              </a:ext>
            </a:extLst>
          </p:cNvPr>
          <p:cNvPicPr>
            <a:picLocks noChangeAspect="1"/>
          </p:cNvPicPr>
          <p:nvPr/>
        </p:nvPicPr>
        <p:blipFill>
          <a:blip r:embed="rId2"/>
          <a:stretch>
            <a:fillRect/>
          </a:stretch>
        </p:blipFill>
        <p:spPr>
          <a:xfrm>
            <a:off x="477911" y="1723162"/>
            <a:ext cx="8407320" cy="3321724"/>
          </a:xfrm>
          <a:prstGeom prst="rect">
            <a:avLst/>
          </a:prstGeom>
        </p:spPr>
      </p:pic>
      <p:sp>
        <p:nvSpPr>
          <p:cNvPr id="8" name="TextBox 7">
            <a:extLst>
              <a:ext uri="{FF2B5EF4-FFF2-40B4-BE49-F238E27FC236}">
                <a16:creationId xmlns:a16="http://schemas.microsoft.com/office/drawing/2014/main" id="{3447FB43-14FB-E81D-6CE3-CC7A304DACE4}"/>
              </a:ext>
            </a:extLst>
          </p:cNvPr>
          <p:cNvSpPr txBox="1"/>
          <p:nvPr/>
        </p:nvSpPr>
        <p:spPr>
          <a:xfrm>
            <a:off x="500717" y="6305583"/>
            <a:ext cx="8402595" cy="24314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gn="just">
              <a:buFont typeface=""/>
              <a:buChar char="•"/>
            </a:pPr>
            <a:r>
              <a:rPr lang="en-US" sz="2800" b="1"/>
              <a:t>Observation</a:t>
            </a:r>
            <a:r>
              <a:rPr lang="en-US" sz="2400" b="1"/>
              <a:t>:</a:t>
            </a:r>
            <a:r>
              <a:rPr lang="en-US" sz="2400"/>
              <a:t> Similar to the 2nd-order case, the deep quantization noise notch is completely "filled in" by low-frequency noise.</a:t>
            </a:r>
            <a:endParaRPr lang="en-US" sz="2400">
              <a:ea typeface="Calibri"/>
              <a:cs typeface="Calibri"/>
            </a:endParaRPr>
          </a:p>
          <a:p>
            <a:pPr marL="228600" indent="-228600" algn="just">
              <a:buFont typeface=""/>
              <a:buChar char="•"/>
            </a:pPr>
            <a:r>
              <a:rPr lang="en-US" sz="2800" b="1"/>
              <a:t>Conclusion</a:t>
            </a:r>
            <a:r>
              <a:rPr lang="en-US" sz="2400" b="1"/>
              <a:t>: </a:t>
            </a:r>
            <a:r>
              <a:rPr lang="en-US" sz="2400"/>
              <a:t>This confirms that simply increasing architectural complexity (higher order) cannot overcome physical device limitations like 1/f noise.</a:t>
            </a:r>
            <a:endParaRPr lang="en-US" sz="2400">
              <a:ea typeface="Calibri"/>
              <a:cs typeface="Calibri"/>
            </a:endParaRPr>
          </a:p>
        </p:txBody>
      </p:sp>
      <p:sp>
        <p:nvSpPr>
          <p:cNvPr id="2" name="TextBox 1">
            <a:extLst>
              <a:ext uri="{FF2B5EF4-FFF2-40B4-BE49-F238E27FC236}">
                <a16:creationId xmlns:a16="http://schemas.microsoft.com/office/drawing/2014/main" id="{48D5DF40-39EC-8BC8-58BF-44EF4F952A53}"/>
              </a:ext>
            </a:extLst>
          </p:cNvPr>
          <p:cNvSpPr txBox="1"/>
          <p:nvPr/>
        </p:nvSpPr>
        <p:spPr>
          <a:xfrm>
            <a:off x="9512431" y="6412794"/>
            <a:ext cx="8186351"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buFont typeface="Arial"/>
              <a:buChar char="•"/>
            </a:pPr>
            <a:r>
              <a:rPr lang="en-US" sz="2400" b="1">
                <a:ea typeface="+mn-lt"/>
                <a:cs typeface="+mn-lt"/>
              </a:rPr>
              <a:t>Observation:</a:t>
            </a:r>
            <a:r>
              <a:rPr lang="en-US" sz="2400">
                <a:ea typeface="+mn-lt"/>
                <a:cs typeface="+mn-lt"/>
              </a:rPr>
              <a:t> Even with significant thermal noise added to the simulation, the </a:t>
            </a:r>
            <a:r>
              <a:rPr lang="en-US" sz="2400" b="1">
                <a:ea typeface="+mn-lt"/>
                <a:cs typeface="+mn-lt"/>
              </a:rPr>
              <a:t>SNR remains unchanged .</a:t>
            </a:r>
            <a:endParaRPr lang="en-US">
              <a:ea typeface="+mn-lt"/>
              <a:cs typeface="+mn-lt"/>
            </a:endParaRPr>
          </a:p>
          <a:p>
            <a:pPr algn="just">
              <a:buFont typeface="Arial"/>
              <a:buChar char="•"/>
            </a:pPr>
            <a:endParaRPr lang="en-US" sz="2400" b="1">
              <a:ea typeface="+mn-lt"/>
              <a:cs typeface="+mn-lt"/>
            </a:endParaRPr>
          </a:p>
          <a:p>
            <a:pPr algn="just">
              <a:buFont typeface="Arial"/>
              <a:buChar char="•"/>
            </a:pPr>
            <a:r>
              <a:rPr lang="en-US" sz="2400" b="1">
                <a:ea typeface="+mn-lt"/>
                <a:cs typeface="+mn-lt"/>
              </a:rPr>
              <a:t>Filtering Action:</a:t>
            </a:r>
            <a:r>
              <a:rPr lang="en-US" sz="2400">
                <a:ea typeface="+mn-lt"/>
                <a:cs typeface="+mn-lt"/>
              </a:rPr>
              <a:t> The </a:t>
            </a:r>
            <a:r>
              <a:rPr lang="en-US" sz="2400" b="1">
                <a:ea typeface="+mn-lt"/>
                <a:cs typeface="+mn-lt"/>
              </a:rPr>
              <a:t>digital filter</a:t>
            </a:r>
            <a:r>
              <a:rPr lang="en-US" sz="2400">
                <a:ea typeface="+mn-lt"/>
                <a:cs typeface="+mn-lt"/>
              </a:rPr>
              <a:t> successfully "removed" the vast majority of the noise power by cutting off everything outside the signal band.</a:t>
            </a:r>
            <a:endParaRPr lang="en-US">
              <a:ea typeface="+mn-lt"/>
              <a:cs typeface="+mn-lt"/>
            </a:endParaRPr>
          </a:p>
          <a:p>
            <a:pPr algn="just">
              <a:buFont typeface="Arial"/>
              <a:buChar char="•"/>
            </a:pPr>
            <a:endParaRPr lang="en-US" sz="2400">
              <a:ea typeface="+mn-lt"/>
              <a:cs typeface="+mn-lt"/>
            </a:endParaRPr>
          </a:p>
          <a:p>
            <a:pPr algn="just"/>
            <a:endParaRPr lang="en-US" sz="2400">
              <a:ea typeface="Calibri"/>
              <a:cs typeface="Calibri"/>
            </a:endParaRPr>
          </a:p>
        </p:txBody>
      </p:sp>
      <p:sp>
        <p:nvSpPr>
          <p:cNvPr id="3" name="TextBox 2">
            <a:extLst>
              <a:ext uri="{FF2B5EF4-FFF2-40B4-BE49-F238E27FC236}">
                <a16:creationId xmlns:a16="http://schemas.microsoft.com/office/drawing/2014/main" id="{86ED51A5-ED97-51D0-12BE-BFB200C2F59E}"/>
              </a:ext>
            </a:extLst>
          </p:cNvPr>
          <p:cNvSpPr txBox="1"/>
          <p:nvPr/>
        </p:nvSpPr>
        <p:spPr>
          <a:xfrm>
            <a:off x="10831243" y="5031745"/>
            <a:ext cx="5943055"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latin typeface="Poppins"/>
                <a:ea typeface="Segoe UI"/>
                <a:cs typeface="Segoe UI"/>
              </a:rPr>
              <a:t>Fig. 11</a:t>
            </a:r>
            <a:r>
              <a:rPr lang="en-US" sz="2000" dirty="0">
                <a:latin typeface="Poppins"/>
                <a:ea typeface="Segoe UI"/>
                <a:cs typeface="Segoe UI"/>
              </a:rPr>
              <a:t> The</a:t>
            </a:r>
            <a:r>
              <a:rPr lang="en-US" sz="2000" baseline="0" dirty="0">
                <a:latin typeface="Poppins"/>
                <a:ea typeface="Segoe UI"/>
                <a:cs typeface="Segoe UI"/>
              </a:rPr>
              <a:t> Spectrum Analysis of </a:t>
            </a:r>
            <a:r>
              <a:rPr lang="en-US" sz="2000" dirty="0">
                <a:latin typeface="Poppins"/>
                <a:ea typeface="Segoe UI"/>
                <a:cs typeface="Segoe UI"/>
              </a:rPr>
              <a:t>3rd</a:t>
            </a:r>
            <a:r>
              <a:rPr lang="en-US" sz="2000" baseline="0" dirty="0">
                <a:latin typeface="Poppins"/>
                <a:ea typeface="Segoe UI"/>
                <a:cs typeface="Segoe UI"/>
              </a:rPr>
              <a:t> Order </a:t>
            </a:r>
            <a:r>
              <a:rPr lang="en-US" sz="2000" dirty="0">
                <a:latin typeface="Poppins"/>
                <a:ea typeface="Segoe UI"/>
                <a:cs typeface="Segoe UI"/>
              </a:rPr>
              <a:t>CT Modulator after Filter with </a:t>
            </a:r>
            <a:r>
              <a:rPr lang="en-US" sz="2000" dirty="0">
                <a:latin typeface="Poppins"/>
                <a:ea typeface="Segoe UI"/>
                <a:cs typeface="Poppins"/>
              </a:rPr>
              <a:t>Thermal Noise</a:t>
            </a:r>
            <a:endParaRPr lang="en-US" sz="2000" dirty="0">
              <a:latin typeface="Poppins"/>
              <a:cs typeface="Segoe UI"/>
            </a:endParaRPr>
          </a:p>
        </p:txBody>
      </p:sp>
      <p:sp>
        <p:nvSpPr>
          <p:cNvPr id="22" name="Rectangle 25">
            <a:extLst>
              <a:ext uri="{FF2B5EF4-FFF2-40B4-BE49-F238E27FC236}">
                <a16:creationId xmlns:a16="http://schemas.microsoft.com/office/drawing/2014/main" id="{12131A57-ACAD-247B-6CA9-9DE626EB5EBF}"/>
              </a:ext>
            </a:extLst>
          </p:cNvPr>
          <p:cNvSpPr/>
          <p:nvPr/>
        </p:nvSpPr>
        <p:spPr>
          <a:xfrm>
            <a:off x="2919347" y="8998641"/>
            <a:ext cx="3546557" cy="1295729"/>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r>
              <a:rPr lang="en-US" sz="2600" b="1">
                <a:solidFill>
                  <a:schemeClr val="tx1"/>
                </a:solidFill>
                <a:latin typeface="Poppins"/>
                <a:ea typeface="Segoe UI"/>
                <a:cs typeface="Segoe UI"/>
              </a:rPr>
              <a:t>Observation :</a:t>
            </a:r>
            <a:r>
              <a:rPr lang="en-US" sz="2600">
                <a:solidFill>
                  <a:schemeClr val="tx1"/>
                </a:solidFill>
                <a:latin typeface="Poppins"/>
                <a:ea typeface="Segoe UI"/>
                <a:cs typeface="Segoe UI"/>
              </a:rPr>
              <a:t>​</a:t>
            </a:r>
            <a:endParaRPr lang="en-US">
              <a:solidFill>
                <a:schemeClr val="tx1"/>
              </a:solidFill>
            </a:endParaRPr>
          </a:p>
          <a:p>
            <a:pPr algn="ctr" rtl="0"/>
            <a:r>
              <a:rPr lang="en-US" sz="2600" baseline="0">
                <a:solidFill>
                  <a:schemeClr val="tx1"/>
                </a:solidFill>
                <a:latin typeface="Poppins"/>
                <a:ea typeface="Segoe UI"/>
                <a:cs typeface="Segoe UI"/>
              </a:rPr>
              <a:t>SNR = </a:t>
            </a:r>
            <a:r>
              <a:rPr lang="en-US" sz="2600">
                <a:solidFill>
                  <a:schemeClr val="tx1"/>
                </a:solidFill>
                <a:latin typeface="Poppins"/>
                <a:ea typeface="Segoe UI"/>
                <a:cs typeface="Segoe UI"/>
              </a:rPr>
              <a:t>39.04</a:t>
            </a:r>
            <a:endParaRPr lang="en-US">
              <a:solidFill>
                <a:schemeClr val="tx1"/>
              </a:solidFill>
              <a:ea typeface="Calibri"/>
              <a:cs typeface="Calibri"/>
            </a:endParaRPr>
          </a:p>
        </p:txBody>
      </p:sp>
      <p:sp>
        <p:nvSpPr>
          <p:cNvPr id="25" name="Rectangle 25">
            <a:extLst>
              <a:ext uri="{FF2B5EF4-FFF2-40B4-BE49-F238E27FC236}">
                <a16:creationId xmlns:a16="http://schemas.microsoft.com/office/drawing/2014/main" id="{0E5DEEEF-3348-4889-1371-7C4676A5636B}"/>
              </a:ext>
            </a:extLst>
          </p:cNvPr>
          <p:cNvSpPr/>
          <p:nvPr/>
        </p:nvSpPr>
        <p:spPr>
          <a:xfrm>
            <a:off x="12030552" y="9014086"/>
            <a:ext cx="3546557" cy="1295729"/>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r>
              <a:rPr lang="en-US" sz="2600" b="1">
                <a:solidFill>
                  <a:schemeClr val="tx1"/>
                </a:solidFill>
                <a:latin typeface="Poppins"/>
                <a:ea typeface="Segoe UI"/>
                <a:cs typeface="Segoe UI"/>
              </a:rPr>
              <a:t>Observation :</a:t>
            </a:r>
            <a:r>
              <a:rPr lang="en-US" sz="2600">
                <a:solidFill>
                  <a:schemeClr val="tx1"/>
                </a:solidFill>
                <a:latin typeface="Poppins"/>
                <a:ea typeface="Segoe UI"/>
                <a:cs typeface="Segoe UI"/>
              </a:rPr>
              <a:t>​</a:t>
            </a:r>
            <a:endParaRPr lang="en-US"/>
          </a:p>
          <a:p>
            <a:pPr algn="ctr" rtl="0"/>
            <a:r>
              <a:rPr lang="en-US" sz="2600" baseline="0">
                <a:solidFill>
                  <a:schemeClr val="tx1"/>
                </a:solidFill>
                <a:latin typeface="Poppins"/>
                <a:ea typeface="Segoe UI"/>
                <a:cs typeface="Segoe UI"/>
              </a:rPr>
              <a:t>SNR = </a:t>
            </a:r>
            <a:r>
              <a:rPr lang="en-US" sz="2600">
                <a:solidFill>
                  <a:schemeClr val="tx1"/>
                </a:solidFill>
                <a:latin typeface="Poppins"/>
                <a:ea typeface="Segoe UI"/>
                <a:cs typeface="Segoe UI"/>
              </a:rPr>
              <a:t>78.51</a:t>
            </a:r>
            <a:endParaRPr lang="en-US">
              <a:solidFill>
                <a:schemeClr val="tx1"/>
              </a:solidFill>
              <a:ea typeface="Calibri"/>
              <a:cs typeface="Calibri"/>
            </a:endParaRPr>
          </a:p>
        </p:txBody>
      </p:sp>
      <p:sp>
        <p:nvSpPr>
          <p:cNvPr id="31" name="Rectangle: Rounded Corners 30">
            <a:extLst>
              <a:ext uri="{FF2B5EF4-FFF2-40B4-BE49-F238E27FC236}">
                <a16:creationId xmlns:a16="http://schemas.microsoft.com/office/drawing/2014/main" id="{21506833-F0EC-298D-20E4-A68C7890252C}"/>
              </a:ext>
            </a:extLst>
          </p:cNvPr>
          <p:cNvSpPr/>
          <p:nvPr/>
        </p:nvSpPr>
        <p:spPr>
          <a:xfrm>
            <a:off x="1581407" y="-311569"/>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33" name="TextBox 32">
            <a:extLst>
              <a:ext uri="{FF2B5EF4-FFF2-40B4-BE49-F238E27FC236}">
                <a16:creationId xmlns:a16="http://schemas.microsoft.com/office/drawing/2014/main" id="{9BB836A9-92ED-86A1-FE76-2AF78F29141B}"/>
              </a:ext>
            </a:extLst>
          </p:cNvPr>
          <p:cNvSpPr txBox="1"/>
          <p:nvPr/>
        </p:nvSpPr>
        <p:spPr>
          <a:xfrm>
            <a:off x="7138090" y="140268"/>
            <a:ext cx="407523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solidFill>
                  <a:schemeClr val="bg1"/>
                </a:solidFill>
                <a:ea typeface="Calibri"/>
                <a:cs typeface="Calibri"/>
              </a:rPr>
              <a:t>CT Modulator</a:t>
            </a:r>
            <a:endParaRPr lang="en-US" sz="5400">
              <a:solidFill>
                <a:schemeClr val="bg1"/>
              </a:solidFill>
            </a:endParaRPr>
          </a:p>
        </p:txBody>
      </p:sp>
      <p:pic>
        <p:nvPicPr>
          <p:cNvPr id="16" name="Picture 15" descr="A screen shot of a graph&#10;&#10;AI-generated content may be incorrect.">
            <a:extLst>
              <a:ext uri="{FF2B5EF4-FFF2-40B4-BE49-F238E27FC236}">
                <a16:creationId xmlns:a16="http://schemas.microsoft.com/office/drawing/2014/main" id="{5A800072-3BC0-8471-AC26-49459148146F}"/>
              </a:ext>
            </a:extLst>
          </p:cNvPr>
          <p:cNvPicPr>
            <a:picLocks noChangeAspect="1"/>
          </p:cNvPicPr>
          <p:nvPr/>
        </p:nvPicPr>
        <p:blipFill>
          <a:blip r:embed="rId3"/>
          <a:stretch>
            <a:fillRect/>
          </a:stretch>
        </p:blipFill>
        <p:spPr>
          <a:xfrm>
            <a:off x="9408949" y="1757378"/>
            <a:ext cx="8364240" cy="3285097"/>
          </a:xfrm>
          <a:prstGeom prst="rect">
            <a:avLst/>
          </a:prstGeom>
        </p:spPr>
      </p:pic>
      <p:cxnSp>
        <p:nvCxnSpPr>
          <p:cNvPr id="23" name="Straight Arrow Connector 22">
            <a:extLst>
              <a:ext uri="{FF2B5EF4-FFF2-40B4-BE49-F238E27FC236}">
                <a16:creationId xmlns:a16="http://schemas.microsoft.com/office/drawing/2014/main" id="{221B0DE4-4135-A697-DDDF-BB0FC8DA1A11}"/>
              </a:ext>
            </a:extLst>
          </p:cNvPr>
          <p:cNvCxnSpPr/>
          <p:nvPr/>
        </p:nvCxnSpPr>
        <p:spPr>
          <a:xfrm>
            <a:off x="4607826" y="3954507"/>
            <a:ext cx="4763220" cy="178704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9" name="TextBox 8">
            <a:extLst>
              <a:ext uri="{FF2B5EF4-FFF2-40B4-BE49-F238E27FC236}">
                <a16:creationId xmlns:a16="http://schemas.microsoft.com/office/drawing/2014/main" id="{FB722809-66DE-DF97-A9BB-62C685F00E4A}"/>
              </a:ext>
            </a:extLst>
          </p:cNvPr>
          <p:cNvSpPr txBox="1"/>
          <p:nvPr/>
        </p:nvSpPr>
        <p:spPr>
          <a:xfrm>
            <a:off x="6988382" y="5732263"/>
            <a:ext cx="9144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000000"/>
                </a:solidFill>
                <a:latin typeface="Calibri"/>
                <a:ea typeface="Calibri"/>
                <a:cs typeface="Calibri"/>
              </a:rPr>
              <a:t>noise floor increased and filled this place</a:t>
            </a:r>
            <a:endParaRPr lang="en-US" sz="2000">
              <a:ea typeface="Calibri"/>
              <a:cs typeface="Calibri"/>
            </a:endParaRPr>
          </a:p>
          <a:p>
            <a:pPr algn="ctr"/>
            <a:endParaRPr lang="en-US"/>
          </a:p>
        </p:txBody>
      </p:sp>
    </p:spTree>
    <p:extLst>
      <p:ext uri="{BB962C8B-B14F-4D97-AF65-F5344CB8AC3E}">
        <p14:creationId xmlns:p14="http://schemas.microsoft.com/office/powerpoint/2010/main" val="12118482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5E6F1-3EE4-503A-988B-5BA809D7B8FA}"/>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F76F7B6C-4FBB-4C0B-1F4D-791D7FE862F3}"/>
              </a:ext>
            </a:extLst>
          </p:cNvPr>
          <p:cNvSpPr/>
          <p:nvPr/>
        </p:nvSpPr>
        <p:spPr>
          <a:xfrm>
            <a:off x="420102" y="5620975"/>
            <a:ext cx="8328890" cy="4683392"/>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C5F9F24-47DD-4914-9FA9-DFE7FBE73DF3}"/>
              </a:ext>
            </a:extLst>
          </p:cNvPr>
          <p:cNvSpPr/>
          <p:nvPr/>
        </p:nvSpPr>
        <p:spPr>
          <a:xfrm>
            <a:off x="8738652" y="5620520"/>
            <a:ext cx="9126630" cy="4672036"/>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9">
            <a:extLst>
              <a:ext uri="{FF2B5EF4-FFF2-40B4-BE49-F238E27FC236}">
                <a16:creationId xmlns:a16="http://schemas.microsoft.com/office/drawing/2014/main" id="{6B440DF7-B874-ABBC-6D34-8B36B5838FFB}"/>
              </a:ext>
            </a:extLst>
          </p:cNvPr>
          <p:cNvGrpSpPr/>
          <p:nvPr/>
        </p:nvGrpSpPr>
        <p:grpSpPr>
          <a:xfrm>
            <a:off x="1337744" y="7346296"/>
            <a:ext cx="537179" cy="537179"/>
            <a:chOff x="0" y="0"/>
            <a:chExt cx="1913890" cy="1913890"/>
          </a:xfrm>
        </p:grpSpPr>
        <p:sp>
          <p:nvSpPr>
            <p:cNvPr id="10" name="Freeform 10">
              <a:extLst>
                <a:ext uri="{FF2B5EF4-FFF2-40B4-BE49-F238E27FC236}">
                  <a16:creationId xmlns:a16="http://schemas.microsoft.com/office/drawing/2014/main" id="{6AF262E9-9CEE-DB34-754D-DB2D7D860138}"/>
                </a:ext>
              </a:extLst>
            </p:cNvPr>
            <p:cNvSpPr/>
            <p:nvPr/>
          </p:nvSpPr>
          <p:spPr>
            <a:xfrm>
              <a:off x="0" y="0"/>
              <a:ext cx="1913890" cy="1913890"/>
            </a:xfrm>
            <a:custGeom>
              <a:avLst/>
              <a:gdLst/>
              <a:ahLst/>
              <a:cxnLst/>
              <a:rect l="l" t="t" r="r" b="b"/>
              <a:pathLst>
                <a:path w="1913890" h="1913890">
                  <a:moveTo>
                    <a:pt x="1789430" y="1913890"/>
                  </a:moveTo>
                  <a:lnTo>
                    <a:pt x="124460" y="1913890"/>
                  </a:lnTo>
                  <a:cubicBezTo>
                    <a:pt x="55880" y="1913890"/>
                    <a:pt x="0" y="1858010"/>
                    <a:pt x="0" y="1789430"/>
                  </a:cubicBezTo>
                  <a:lnTo>
                    <a:pt x="0" y="124460"/>
                  </a:lnTo>
                  <a:cubicBezTo>
                    <a:pt x="0" y="55880"/>
                    <a:pt x="55880" y="0"/>
                    <a:pt x="124460" y="0"/>
                  </a:cubicBezTo>
                  <a:lnTo>
                    <a:pt x="1789430" y="0"/>
                  </a:lnTo>
                  <a:cubicBezTo>
                    <a:pt x="1858010" y="0"/>
                    <a:pt x="1913890" y="55880"/>
                    <a:pt x="1913890" y="124460"/>
                  </a:cubicBezTo>
                  <a:lnTo>
                    <a:pt x="1913890" y="1789430"/>
                  </a:lnTo>
                  <a:cubicBezTo>
                    <a:pt x="1913890" y="1858010"/>
                    <a:pt x="1858010" y="1913890"/>
                    <a:pt x="1789430" y="1913890"/>
                  </a:cubicBezTo>
                  <a:close/>
                </a:path>
              </a:pathLst>
            </a:custGeom>
            <a:solidFill>
              <a:srgbClr val="FFFFFF"/>
            </a:solidFill>
          </p:spPr>
          <p:txBody>
            <a:bodyPr/>
            <a:lstStyle/>
            <a:p>
              <a:endParaRPr lang="en-IN"/>
            </a:p>
          </p:txBody>
        </p:sp>
      </p:grpSp>
      <p:grpSp>
        <p:nvGrpSpPr>
          <p:cNvPr id="11" name="Group 11">
            <a:extLst>
              <a:ext uri="{FF2B5EF4-FFF2-40B4-BE49-F238E27FC236}">
                <a16:creationId xmlns:a16="http://schemas.microsoft.com/office/drawing/2014/main" id="{2098A1AD-4759-D1EF-2AFF-EBF8DC123B59}"/>
              </a:ext>
            </a:extLst>
          </p:cNvPr>
          <p:cNvGrpSpPr/>
          <p:nvPr/>
        </p:nvGrpSpPr>
        <p:grpSpPr>
          <a:xfrm>
            <a:off x="6581806" y="6741179"/>
            <a:ext cx="537179" cy="537179"/>
            <a:chOff x="0" y="0"/>
            <a:chExt cx="1913890" cy="1913890"/>
          </a:xfrm>
        </p:grpSpPr>
        <p:sp>
          <p:nvSpPr>
            <p:cNvPr id="12" name="Freeform 12">
              <a:extLst>
                <a:ext uri="{FF2B5EF4-FFF2-40B4-BE49-F238E27FC236}">
                  <a16:creationId xmlns:a16="http://schemas.microsoft.com/office/drawing/2014/main" id="{3691D954-981A-3A9F-860B-ADB94BA6BBE3}"/>
                </a:ext>
              </a:extLst>
            </p:cNvPr>
            <p:cNvSpPr/>
            <p:nvPr/>
          </p:nvSpPr>
          <p:spPr>
            <a:xfrm>
              <a:off x="0" y="0"/>
              <a:ext cx="1913890" cy="1913890"/>
            </a:xfrm>
            <a:custGeom>
              <a:avLst/>
              <a:gdLst/>
              <a:ahLst/>
              <a:cxnLst/>
              <a:rect l="l" t="t" r="r" b="b"/>
              <a:pathLst>
                <a:path w="1913890" h="1913890">
                  <a:moveTo>
                    <a:pt x="1789430" y="1913890"/>
                  </a:moveTo>
                  <a:lnTo>
                    <a:pt x="124460" y="1913890"/>
                  </a:lnTo>
                  <a:cubicBezTo>
                    <a:pt x="55880" y="1913890"/>
                    <a:pt x="0" y="1858010"/>
                    <a:pt x="0" y="1789430"/>
                  </a:cubicBezTo>
                  <a:lnTo>
                    <a:pt x="0" y="124460"/>
                  </a:lnTo>
                  <a:cubicBezTo>
                    <a:pt x="0" y="55880"/>
                    <a:pt x="55880" y="0"/>
                    <a:pt x="124460" y="0"/>
                  </a:cubicBezTo>
                  <a:lnTo>
                    <a:pt x="1789430" y="0"/>
                  </a:lnTo>
                  <a:cubicBezTo>
                    <a:pt x="1858010" y="0"/>
                    <a:pt x="1913890" y="55880"/>
                    <a:pt x="1913890" y="124460"/>
                  </a:cubicBezTo>
                  <a:lnTo>
                    <a:pt x="1913890" y="1789430"/>
                  </a:lnTo>
                  <a:cubicBezTo>
                    <a:pt x="1913890" y="1858010"/>
                    <a:pt x="1858010" y="1913890"/>
                    <a:pt x="1789430" y="1913890"/>
                  </a:cubicBezTo>
                  <a:close/>
                </a:path>
              </a:pathLst>
            </a:custGeom>
            <a:solidFill>
              <a:srgbClr val="FFFFFF"/>
            </a:solidFill>
          </p:spPr>
          <p:txBody>
            <a:bodyPr/>
            <a:lstStyle/>
            <a:p>
              <a:endParaRPr lang="en-IN"/>
            </a:p>
          </p:txBody>
        </p:sp>
      </p:grpSp>
      <p:sp>
        <p:nvSpPr>
          <p:cNvPr id="15" name="TextBox 15">
            <a:extLst>
              <a:ext uri="{FF2B5EF4-FFF2-40B4-BE49-F238E27FC236}">
                <a16:creationId xmlns:a16="http://schemas.microsoft.com/office/drawing/2014/main" id="{BCC241BC-BA91-D881-9C56-6A5B7A94D240}"/>
              </a:ext>
            </a:extLst>
          </p:cNvPr>
          <p:cNvSpPr txBox="1"/>
          <p:nvPr/>
        </p:nvSpPr>
        <p:spPr>
          <a:xfrm>
            <a:off x="2132924" y="3569402"/>
            <a:ext cx="2439624" cy="447947"/>
          </a:xfrm>
          <a:prstGeom prst="rect">
            <a:avLst/>
          </a:prstGeom>
        </p:spPr>
        <p:txBody>
          <a:bodyPr lIns="0" tIns="0" rIns="0" bIns="0" rtlCol="0" anchor="t">
            <a:spAutoFit/>
          </a:bodyPr>
          <a:lstStyle/>
          <a:p>
            <a:pPr algn="l">
              <a:lnSpc>
                <a:spcPts val="3220"/>
              </a:lnSpc>
            </a:pPr>
            <a:r>
              <a:rPr lang="en-US" sz="2752" b="1">
                <a:solidFill>
                  <a:srgbClr val="FFFFFF"/>
                </a:solidFill>
                <a:latin typeface="Poppins Bold"/>
                <a:ea typeface="Poppins Bold"/>
                <a:cs typeface="Poppins Bold"/>
                <a:sym typeface="Poppins Bold"/>
              </a:rPr>
              <a:t>Desire</a:t>
            </a:r>
          </a:p>
        </p:txBody>
      </p:sp>
      <p:sp>
        <p:nvSpPr>
          <p:cNvPr id="18" name="TextBox 18">
            <a:extLst>
              <a:ext uri="{FF2B5EF4-FFF2-40B4-BE49-F238E27FC236}">
                <a16:creationId xmlns:a16="http://schemas.microsoft.com/office/drawing/2014/main" id="{1C7A7EEA-0B0B-BD5B-B4C6-DBD72F319A69}"/>
              </a:ext>
            </a:extLst>
          </p:cNvPr>
          <p:cNvSpPr txBox="1"/>
          <p:nvPr/>
        </p:nvSpPr>
        <p:spPr>
          <a:xfrm>
            <a:off x="7696355" y="3838343"/>
            <a:ext cx="3308739" cy="447947"/>
          </a:xfrm>
          <a:prstGeom prst="rect">
            <a:avLst/>
          </a:prstGeom>
        </p:spPr>
        <p:txBody>
          <a:bodyPr lIns="0" tIns="0" rIns="0" bIns="0" rtlCol="0" anchor="t">
            <a:spAutoFit/>
          </a:bodyPr>
          <a:lstStyle/>
          <a:p>
            <a:pPr algn="l">
              <a:lnSpc>
                <a:spcPts val="3220"/>
              </a:lnSpc>
            </a:pPr>
            <a:r>
              <a:rPr lang="en-US" sz="2752" b="1">
                <a:solidFill>
                  <a:srgbClr val="FFFFFF"/>
                </a:solidFill>
                <a:latin typeface="Poppins Bold"/>
                <a:ea typeface="Poppins Bold"/>
                <a:cs typeface="Poppins Bold"/>
                <a:sym typeface="Poppins Bold"/>
              </a:rPr>
              <a:t>Responsibility</a:t>
            </a:r>
          </a:p>
        </p:txBody>
      </p:sp>
      <p:sp>
        <p:nvSpPr>
          <p:cNvPr id="20" name="TextBox 20">
            <a:extLst>
              <a:ext uri="{FF2B5EF4-FFF2-40B4-BE49-F238E27FC236}">
                <a16:creationId xmlns:a16="http://schemas.microsoft.com/office/drawing/2014/main" id="{7FBFB3AF-7011-7A73-D6BF-FEE16D05FB2A}"/>
              </a:ext>
            </a:extLst>
          </p:cNvPr>
          <p:cNvSpPr txBox="1"/>
          <p:nvPr/>
        </p:nvSpPr>
        <p:spPr>
          <a:xfrm>
            <a:off x="2132924" y="8143853"/>
            <a:ext cx="4049961" cy="1100407"/>
          </a:xfrm>
          <a:prstGeom prst="rect">
            <a:avLst/>
          </a:prstGeom>
        </p:spPr>
        <p:txBody>
          <a:bodyPr lIns="0" tIns="0" rIns="0" bIns="0" rtlCol="0" anchor="t">
            <a:spAutoFit/>
          </a:bodyPr>
          <a:lstStyle/>
          <a:p>
            <a:pPr algn="l">
              <a:lnSpc>
                <a:spcPts val="1745"/>
              </a:lnSpc>
            </a:pPr>
            <a:r>
              <a:rPr lang="en-US" sz="1246">
                <a:solidFill>
                  <a:srgbClr val="FFFFFF"/>
                </a:solidFill>
                <a:latin typeface="Poppins"/>
                <a:ea typeface="Poppins"/>
                <a:cs typeface="Poppins"/>
                <a:sym typeface="Poppins"/>
              </a:rPr>
              <a:t>Provide the most significant factor that</a:t>
            </a:r>
          </a:p>
          <a:p>
            <a:pPr algn="l">
              <a:lnSpc>
                <a:spcPts val="1745"/>
              </a:lnSpc>
            </a:pPr>
            <a:r>
              <a:rPr lang="en-US" sz="1246">
                <a:solidFill>
                  <a:srgbClr val="FFFFFF"/>
                </a:solidFill>
                <a:latin typeface="Poppins"/>
                <a:ea typeface="Poppins"/>
                <a:cs typeface="Poppins"/>
                <a:sym typeface="Poppins"/>
              </a:rPr>
              <a:t>defines the organization's daily operations.</a:t>
            </a:r>
          </a:p>
          <a:p>
            <a:pPr algn="l">
              <a:lnSpc>
                <a:spcPts val="1745"/>
              </a:lnSpc>
            </a:pPr>
            <a:r>
              <a:rPr lang="en-US" sz="1246">
                <a:solidFill>
                  <a:srgbClr val="FFFFFF"/>
                </a:solidFill>
                <a:latin typeface="Poppins"/>
                <a:ea typeface="Poppins"/>
                <a:cs typeface="Poppins"/>
                <a:sym typeface="Poppins"/>
              </a:rPr>
              <a:t>The majority of individuals assert that the</a:t>
            </a:r>
          </a:p>
          <a:p>
            <a:pPr algn="l">
              <a:lnSpc>
                <a:spcPts val="1745"/>
              </a:lnSpc>
            </a:pPr>
            <a:r>
              <a:rPr lang="en-US" sz="1246">
                <a:solidFill>
                  <a:srgbClr val="FFFFFF"/>
                </a:solidFill>
                <a:latin typeface="Poppins"/>
                <a:ea typeface="Poppins"/>
                <a:cs typeface="Poppins"/>
                <a:sym typeface="Poppins"/>
              </a:rPr>
              <a:t>critical factor is contingent upon primary</a:t>
            </a:r>
          </a:p>
          <a:p>
            <a:pPr algn="l">
              <a:lnSpc>
                <a:spcPts val="1745"/>
              </a:lnSpc>
              <a:spcBef>
                <a:spcPct val="0"/>
              </a:spcBef>
            </a:pPr>
            <a:r>
              <a:rPr lang="en-US" sz="1246">
                <a:solidFill>
                  <a:srgbClr val="FFFFFF"/>
                </a:solidFill>
                <a:latin typeface="Poppins"/>
                <a:ea typeface="Poppins"/>
                <a:cs typeface="Poppins"/>
                <a:sym typeface="Poppins"/>
              </a:rPr>
              <a:t>and secondary product/service data.</a:t>
            </a:r>
          </a:p>
        </p:txBody>
      </p:sp>
      <p:sp>
        <p:nvSpPr>
          <p:cNvPr id="21" name="TextBox 21">
            <a:extLst>
              <a:ext uri="{FF2B5EF4-FFF2-40B4-BE49-F238E27FC236}">
                <a16:creationId xmlns:a16="http://schemas.microsoft.com/office/drawing/2014/main" id="{5335DA77-2246-3F40-AA38-43313A0EB308}"/>
              </a:ext>
            </a:extLst>
          </p:cNvPr>
          <p:cNvSpPr txBox="1"/>
          <p:nvPr/>
        </p:nvSpPr>
        <p:spPr>
          <a:xfrm>
            <a:off x="2132924" y="7376625"/>
            <a:ext cx="2613054" cy="447947"/>
          </a:xfrm>
          <a:prstGeom prst="rect">
            <a:avLst/>
          </a:prstGeom>
        </p:spPr>
        <p:txBody>
          <a:bodyPr lIns="0" tIns="0" rIns="0" bIns="0" rtlCol="0" anchor="t">
            <a:spAutoFit/>
          </a:bodyPr>
          <a:lstStyle/>
          <a:p>
            <a:pPr algn="l">
              <a:lnSpc>
                <a:spcPts val="3220"/>
              </a:lnSpc>
            </a:pPr>
            <a:r>
              <a:rPr lang="en-US" sz="2752" b="1">
                <a:solidFill>
                  <a:srgbClr val="FFFFFF"/>
                </a:solidFill>
                <a:latin typeface="Poppins Bold"/>
                <a:ea typeface="Poppins Bold"/>
                <a:cs typeface="Poppins Bold"/>
                <a:sym typeface="Poppins Bold"/>
              </a:rPr>
              <a:t>Relations</a:t>
            </a:r>
          </a:p>
        </p:txBody>
      </p:sp>
      <p:sp>
        <p:nvSpPr>
          <p:cNvPr id="28" name="AutoShape 28">
            <a:extLst>
              <a:ext uri="{FF2B5EF4-FFF2-40B4-BE49-F238E27FC236}">
                <a16:creationId xmlns:a16="http://schemas.microsoft.com/office/drawing/2014/main" id="{5627CA37-8CF1-3783-5319-D2F6C542ACFF}"/>
              </a:ext>
            </a:extLst>
          </p:cNvPr>
          <p:cNvSpPr/>
          <p:nvPr/>
        </p:nvSpPr>
        <p:spPr>
          <a:xfrm rot="5400000">
            <a:off x="16399966" y="6701654"/>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29" name="TextBox 29">
            <a:extLst>
              <a:ext uri="{FF2B5EF4-FFF2-40B4-BE49-F238E27FC236}">
                <a16:creationId xmlns:a16="http://schemas.microsoft.com/office/drawing/2014/main" id="{20BD66C4-311E-7A1B-A348-B78D0BA7C53D}"/>
              </a:ext>
            </a:extLst>
          </p:cNvPr>
          <p:cNvSpPr txBox="1"/>
          <p:nvPr/>
        </p:nvSpPr>
        <p:spPr>
          <a:xfrm rot="16200000">
            <a:off x="17310518" y="8510735"/>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pic>
        <p:nvPicPr>
          <p:cNvPr id="19" name="Picture 18" descr="A diagram of a block diagram&#10;&#10;AI-generated content may be incorrect.">
            <a:extLst>
              <a:ext uri="{FF2B5EF4-FFF2-40B4-BE49-F238E27FC236}">
                <a16:creationId xmlns:a16="http://schemas.microsoft.com/office/drawing/2014/main" id="{776B89DD-B4C7-BF71-5D95-09F1D5A918E6}"/>
              </a:ext>
            </a:extLst>
          </p:cNvPr>
          <p:cNvPicPr>
            <a:picLocks noChangeAspect="1"/>
          </p:cNvPicPr>
          <p:nvPr/>
        </p:nvPicPr>
        <p:blipFill>
          <a:blip r:embed="rId2"/>
          <a:stretch>
            <a:fillRect/>
          </a:stretch>
        </p:blipFill>
        <p:spPr>
          <a:xfrm>
            <a:off x="2499860" y="1479859"/>
            <a:ext cx="13699873" cy="3424470"/>
          </a:xfrm>
          <a:prstGeom prst="rect">
            <a:avLst/>
          </a:prstGeom>
        </p:spPr>
      </p:pic>
      <p:sp>
        <p:nvSpPr>
          <p:cNvPr id="22" name="TextBox 21">
            <a:extLst>
              <a:ext uri="{FF2B5EF4-FFF2-40B4-BE49-F238E27FC236}">
                <a16:creationId xmlns:a16="http://schemas.microsoft.com/office/drawing/2014/main" id="{E30AED54-2B4B-6EE3-B094-126D0DEB4265}"/>
              </a:ext>
            </a:extLst>
          </p:cNvPr>
          <p:cNvSpPr txBox="1"/>
          <p:nvPr/>
        </p:nvSpPr>
        <p:spPr>
          <a:xfrm>
            <a:off x="5439245" y="4935888"/>
            <a:ext cx="7414055"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rgbClr val="000000"/>
                </a:solidFill>
                <a:latin typeface="Poppins"/>
                <a:ea typeface="Poppins"/>
                <a:cs typeface="Poppins"/>
              </a:rPr>
              <a:t>Fig 12. </a:t>
            </a:r>
            <a:r>
              <a:rPr lang="en-US" sz="2000" b="0" i="0" u="none" strike="noStrike" baseline="0" dirty="0">
                <a:solidFill>
                  <a:srgbClr val="000000"/>
                </a:solidFill>
                <a:latin typeface="Poppins"/>
                <a:ea typeface="Poppins"/>
                <a:cs typeface="Poppins"/>
              </a:rPr>
              <a:t>Architecture of </a:t>
            </a:r>
            <a:r>
              <a:rPr lang="en-US" sz="2000" dirty="0">
                <a:solidFill>
                  <a:srgbClr val="000000"/>
                </a:solidFill>
                <a:latin typeface="Poppins"/>
                <a:ea typeface="Poppins"/>
                <a:cs typeface="Poppins"/>
              </a:rPr>
              <a:t>Fourth Order</a:t>
            </a:r>
            <a:r>
              <a:rPr lang="en-US" sz="2000" b="0" i="0" u="none" strike="noStrike" baseline="0" dirty="0">
                <a:solidFill>
                  <a:srgbClr val="000000"/>
                </a:solidFill>
                <a:latin typeface="Poppins"/>
                <a:ea typeface="Poppins"/>
                <a:cs typeface="Poppins"/>
              </a:rPr>
              <a:t> Delta Sigma Modulator</a:t>
            </a:r>
            <a:r>
              <a:rPr lang="en-US" sz="2000" b="0" i="0" dirty="0">
                <a:solidFill>
                  <a:srgbClr val="000000"/>
                </a:solidFill>
                <a:latin typeface="Poppins"/>
                <a:ea typeface="Poppins"/>
                <a:cs typeface="Poppins"/>
              </a:rPr>
              <a:t>​</a:t>
            </a:r>
            <a:endParaRPr lang="en-US" sz="2000" dirty="0">
              <a:ea typeface="Calibri"/>
              <a:cs typeface="Calibri"/>
            </a:endParaRPr>
          </a:p>
        </p:txBody>
      </p:sp>
      <p:sp>
        <p:nvSpPr>
          <p:cNvPr id="24" name="TextBox 23">
            <a:extLst>
              <a:ext uri="{FF2B5EF4-FFF2-40B4-BE49-F238E27FC236}">
                <a16:creationId xmlns:a16="http://schemas.microsoft.com/office/drawing/2014/main" id="{56C51BB3-E6E8-EA2E-ADB5-4DA12C5A2548}"/>
              </a:ext>
            </a:extLst>
          </p:cNvPr>
          <p:cNvSpPr txBox="1"/>
          <p:nvPr/>
        </p:nvSpPr>
        <p:spPr>
          <a:xfrm>
            <a:off x="8959556" y="6385083"/>
            <a:ext cx="8757853" cy="24314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gn="just">
              <a:buFont typeface=""/>
              <a:buChar char="•"/>
            </a:pPr>
            <a:r>
              <a:rPr lang="en-US" sz="2800" b="1"/>
              <a:t>Visual Observation</a:t>
            </a:r>
            <a:r>
              <a:rPr lang="en-US" sz="2400" b="1"/>
              <a:t>:</a:t>
            </a:r>
            <a:r>
              <a:rPr lang="en-US" sz="2400"/>
              <a:t> The spectrum exhibits the steepest noise-shaping slope .</a:t>
            </a:r>
            <a:endParaRPr lang="en-US" sz="2400">
              <a:ea typeface="Calibri"/>
              <a:cs typeface="Calibri"/>
            </a:endParaRPr>
          </a:p>
          <a:p>
            <a:pPr marL="228600" indent="-228600" algn="just">
              <a:buFont typeface=""/>
              <a:buChar char="•"/>
            </a:pPr>
            <a:endParaRPr lang="en-US" sz="2400">
              <a:ea typeface="Calibri"/>
              <a:cs typeface="Calibri"/>
            </a:endParaRPr>
          </a:p>
          <a:p>
            <a:pPr marL="228600" indent="-228600" algn="just">
              <a:buFont typeface=""/>
              <a:buChar char="•"/>
            </a:pPr>
            <a:r>
              <a:rPr lang="en-US" sz="2800" b="1"/>
              <a:t>Stability Constraint</a:t>
            </a:r>
            <a:r>
              <a:rPr lang="en-US" sz="2400" b="1"/>
              <a:t>:</a:t>
            </a:r>
            <a:r>
              <a:rPr lang="en-US" sz="2400"/>
              <a:t> While the 4th-order loop offers the most aggressive noise suppression, it is conditionally stable. Input needs significant scaling down.</a:t>
            </a:r>
            <a:endParaRPr lang="en-US" sz="2400">
              <a:ea typeface="Calibri"/>
              <a:cs typeface="Calibri"/>
            </a:endParaRPr>
          </a:p>
        </p:txBody>
      </p:sp>
      <p:sp>
        <p:nvSpPr>
          <p:cNvPr id="32" name="TextBox 31">
            <a:extLst>
              <a:ext uri="{FF2B5EF4-FFF2-40B4-BE49-F238E27FC236}">
                <a16:creationId xmlns:a16="http://schemas.microsoft.com/office/drawing/2014/main" id="{39617869-163D-BBF3-954A-F88C5BE7F098}"/>
              </a:ext>
            </a:extLst>
          </p:cNvPr>
          <p:cNvSpPr txBox="1"/>
          <p:nvPr/>
        </p:nvSpPr>
        <p:spPr>
          <a:xfrm>
            <a:off x="1038967" y="9291647"/>
            <a:ext cx="712058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solidFill>
                  <a:srgbClr val="000000"/>
                </a:solidFill>
                <a:latin typeface="Poppins"/>
                <a:ea typeface="Poppins"/>
                <a:cs typeface="Poppins"/>
              </a:rPr>
              <a:t>Fig 13. </a:t>
            </a:r>
            <a:r>
              <a:rPr lang="en-US" sz="2000" dirty="0">
                <a:solidFill>
                  <a:srgbClr val="000000"/>
                </a:solidFill>
                <a:latin typeface="Poppins"/>
                <a:ea typeface="Poppins"/>
                <a:cs typeface="Poppins"/>
              </a:rPr>
              <a:t>The</a:t>
            </a:r>
            <a:r>
              <a:rPr lang="en-US" sz="2000" b="0" i="0" u="none" strike="noStrike" baseline="0" dirty="0">
                <a:solidFill>
                  <a:srgbClr val="000000"/>
                </a:solidFill>
                <a:latin typeface="Poppins"/>
                <a:ea typeface="Poppins"/>
                <a:cs typeface="Poppins"/>
              </a:rPr>
              <a:t> Spectrum Analysis of </a:t>
            </a:r>
            <a:r>
              <a:rPr lang="en-US" sz="2000" dirty="0">
                <a:solidFill>
                  <a:srgbClr val="000000"/>
                </a:solidFill>
                <a:latin typeface="Poppins"/>
                <a:ea typeface="Poppins"/>
                <a:cs typeface="Poppins"/>
              </a:rPr>
              <a:t>4th</a:t>
            </a:r>
            <a:r>
              <a:rPr lang="en-US" sz="2000" b="0" i="0" u="none" strike="noStrike" baseline="0" dirty="0">
                <a:solidFill>
                  <a:srgbClr val="000000"/>
                </a:solidFill>
                <a:latin typeface="Poppins"/>
                <a:ea typeface="Poppins"/>
                <a:cs typeface="Poppins"/>
              </a:rPr>
              <a:t> Order </a:t>
            </a:r>
            <a:r>
              <a:rPr lang="en-US" sz="2000" dirty="0">
                <a:solidFill>
                  <a:srgbClr val="000000"/>
                </a:solidFill>
                <a:latin typeface="Poppins"/>
                <a:ea typeface="Poppins"/>
                <a:cs typeface="Poppins"/>
              </a:rPr>
              <a:t>CT Modulator after filter in Ideal Condition</a:t>
            </a:r>
            <a:endParaRPr lang="en-US" sz="2000" dirty="0">
              <a:latin typeface="Poppins"/>
              <a:cs typeface="Poppins"/>
            </a:endParaRPr>
          </a:p>
        </p:txBody>
      </p:sp>
      <p:sp>
        <p:nvSpPr>
          <p:cNvPr id="3" name="Rectangle 25">
            <a:extLst>
              <a:ext uri="{FF2B5EF4-FFF2-40B4-BE49-F238E27FC236}">
                <a16:creationId xmlns:a16="http://schemas.microsoft.com/office/drawing/2014/main" id="{D037A8AC-1344-E493-5614-7559C5046AAD}"/>
              </a:ext>
            </a:extLst>
          </p:cNvPr>
          <p:cNvSpPr/>
          <p:nvPr/>
        </p:nvSpPr>
        <p:spPr>
          <a:xfrm>
            <a:off x="11567173" y="8998185"/>
            <a:ext cx="3546557" cy="1295729"/>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r>
              <a:rPr lang="en-US" sz="2600" b="1">
                <a:solidFill>
                  <a:schemeClr val="tx1"/>
                </a:solidFill>
                <a:latin typeface="Poppins"/>
                <a:ea typeface="Segoe UI"/>
                <a:cs typeface="Segoe UI"/>
              </a:rPr>
              <a:t>Observation :</a:t>
            </a:r>
            <a:r>
              <a:rPr lang="en-US" sz="2600">
                <a:solidFill>
                  <a:schemeClr val="tx1"/>
                </a:solidFill>
                <a:latin typeface="Poppins"/>
                <a:ea typeface="Segoe UI"/>
                <a:cs typeface="Segoe UI"/>
              </a:rPr>
              <a:t>​</a:t>
            </a:r>
            <a:endParaRPr lang="en-US"/>
          </a:p>
          <a:p>
            <a:pPr algn="ctr" rtl="0"/>
            <a:r>
              <a:rPr lang="en-US" sz="2600" baseline="0">
                <a:solidFill>
                  <a:schemeClr val="tx1"/>
                </a:solidFill>
                <a:latin typeface="Poppins"/>
                <a:ea typeface="Segoe UI"/>
                <a:cs typeface="Segoe UI"/>
              </a:rPr>
              <a:t>SNR = </a:t>
            </a:r>
            <a:r>
              <a:rPr lang="en-US" sz="2600">
                <a:solidFill>
                  <a:schemeClr val="tx1"/>
                </a:solidFill>
                <a:latin typeface="Poppins"/>
                <a:ea typeface="Segoe UI"/>
                <a:cs typeface="Segoe UI"/>
              </a:rPr>
              <a:t>78.26</a:t>
            </a:r>
            <a:endParaRPr lang="en-US">
              <a:solidFill>
                <a:schemeClr val="tx1"/>
              </a:solidFill>
              <a:ea typeface="Calibri"/>
              <a:cs typeface="Calibri"/>
            </a:endParaRPr>
          </a:p>
        </p:txBody>
      </p:sp>
      <p:pic>
        <p:nvPicPr>
          <p:cNvPr id="4" name="Picture 3" descr="A screen shot of a graph&#10;&#10;AI-generated content may be incorrect.">
            <a:extLst>
              <a:ext uri="{FF2B5EF4-FFF2-40B4-BE49-F238E27FC236}">
                <a16:creationId xmlns:a16="http://schemas.microsoft.com/office/drawing/2014/main" id="{F4B3FAFE-B2B4-ECF6-2D0D-DEFCE5DB41E4}"/>
              </a:ext>
            </a:extLst>
          </p:cNvPr>
          <p:cNvPicPr>
            <a:picLocks noChangeAspect="1"/>
          </p:cNvPicPr>
          <p:nvPr/>
        </p:nvPicPr>
        <p:blipFill>
          <a:blip r:embed="rId3"/>
          <a:stretch>
            <a:fillRect/>
          </a:stretch>
        </p:blipFill>
        <p:spPr>
          <a:xfrm>
            <a:off x="776848" y="5887782"/>
            <a:ext cx="7570316" cy="3355558"/>
          </a:xfrm>
          <a:prstGeom prst="rect">
            <a:avLst/>
          </a:prstGeom>
        </p:spPr>
      </p:pic>
      <p:sp>
        <p:nvSpPr>
          <p:cNvPr id="5" name="Rectangle: Rounded Corners 4">
            <a:extLst>
              <a:ext uri="{FF2B5EF4-FFF2-40B4-BE49-F238E27FC236}">
                <a16:creationId xmlns:a16="http://schemas.microsoft.com/office/drawing/2014/main" id="{BC8F686F-03EA-2606-FE73-EBFF9AC35654}"/>
              </a:ext>
            </a:extLst>
          </p:cNvPr>
          <p:cNvSpPr/>
          <p:nvPr/>
        </p:nvSpPr>
        <p:spPr>
          <a:xfrm>
            <a:off x="1581407" y="-311569"/>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7" name="TextBox 6">
            <a:extLst>
              <a:ext uri="{FF2B5EF4-FFF2-40B4-BE49-F238E27FC236}">
                <a16:creationId xmlns:a16="http://schemas.microsoft.com/office/drawing/2014/main" id="{9D6DB82F-BF07-CE7A-909C-5335172F2510}"/>
              </a:ext>
            </a:extLst>
          </p:cNvPr>
          <p:cNvSpPr txBox="1"/>
          <p:nvPr/>
        </p:nvSpPr>
        <p:spPr>
          <a:xfrm>
            <a:off x="7138090" y="140268"/>
            <a:ext cx="407523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solidFill>
                  <a:schemeClr val="bg1"/>
                </a:solidFill>
                <a:ea typeface="Calibri"/>
                <a:cs typeface="Calibri"/>
              </a:rPr>
              <a:t>CT Modulator</a:t>
            </a:r>
            <a:endParaRPr lang="en-US" sz="5400">
              <a:solidFill>
                <a:schemeClr val="bg1"/>
              </a:solidFill>
            </a:endParaRPr>
          </a:p>
        </p:txBody>
      </p:sp>
    </p:spTree>
    <p:extLst>
      <p:ext uri="{BB962C8B-B14F-4D97-AF65-F5344CB8AC3E}">
        <p14:creationId xmlns:p14="http://schemas.microsoft.com/office/powerpoint/2010/main" val="12395212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A57D75A-A683-2BED-390B-9B0BDEE22842}"/>
              </a:ext>
            </a:extLst>
          </p:cNvPr>
          <p:cNvSpPr/>
          <p:nvPr/>
        </p:nvSpPr>
        <p:spPr>
          <a:xfrm>
            <a:off x="258354" y="1072147"/>
            <a:ext cx="17776293" cy="9196331"/>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3108532F-962C-1377-C352-FE6DE1A04032}"/>
              </a:ext>
            </a:extLst>
          </p:cNvPr>
          <p:cNvSpPr txBox="1"/>
          <p:nvPr/>
        </p:nvSpPr>
        <p:spPr>
          <a:xfrm>
            <a:off x="693703" y="4443890"/>
            <a:ext cx="480369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solidFill>
                  <a:srgbClr val="000000"/>
                </a:solidFill>
                <a:latin typeface="Poppins"/>
                <a:ea typeface="Segoe UI"/>
                <a:cs typeface="Segoe UI"/>
              </a:rPr>
              <a:t>Fig 14.</a:t>
            </a:r>
            <a:r>
              <a:rPr lang="en-US" sz="2000" dirty="0">
                <a:solidFill>
                  <a:srgbClr val="000000"/>
                </a:solidFill>
                <a:latin typeface="Poppins"/>
                <a:ea typeface="Segoe UI"/>
                <a:cs typeface="Segoe UI"/>
              </a:rPr>
              <a:t> The</a:t>
            </a:r>
            <a:r>
              <a:rPr lang="en-US" sz="2000" b="0" i="0" u="none" strike="noStrike" baseline="0" dirty="0">
                <a:solidFill>
                  <a:srgbClr val="000000"/>
                </a:solidFill>
                <a:latin typeface="Poppins"/>
                <a:ea typeface="Segoe UI"/>
                <a:cs typeface="Segoe UI"/>
              </a:rPr>
              <a:t> </a:t>
            </a:r>
            <a:r>
              <a:rPr lang="en-US" sz="2000" dirty="0">
                <a:solidFill>
                  <a:srgbClr val="000000"/>
                </a:solidFill>
                <a:latin typeface="Poppins"/>
                <a:ea typeface="Segoe UI"/>
                <a:cs typeface="Segoe UI"/>
              </a:rPr>
              <a:t>Spectrum</a:t>
            </a:r>
            <a:r>
              <a:rPr lang="en-US" sz="2000" b="0" i="0" u="none" strike="noStrike" baseline="0" dirty="0">
                <a:solidFill>
                  <a:srgbClr val="000000"/>
                </a:solidFill>
                <a:latin typeface="Poppins"/>
                <a:ea typeface="Segoe UI"/>
                <a:cs typeface="Segoe UI"/>
              </a:rPr>
              <a:t> Analysis of </a:t>
            </a:r>
            <a:r>
              <a:rPr lang="en-US" sz="2000" dirty="0">
                <a:solidFill>
                  <a:srgbClr val="000000"/>
                </a:solidFill>
                <a:latin typeface="Poppins"/>
                <a:ea typeface="Segoe UI"/>
                <a:cs typeface="Segoe UI"/>
              </a:rPr>
              <a:t>4th</a:t>
            </a:r>
            <a:r>
              <a:rPr lang="en-US" sz="2000" b="0" i="0" u="none" strike="noStrike" baseline="0" dirty="0">
                <a:solidFill>
                  <a:srgbClr val="000000"/>
                </a:solidFill>
                <a:latin typeface="Poppins"/>
                <a:ea typeface="Segoe UI"/>
                <a:cs typeface="Segoe UI"/>
              </a:rPr>
              <a:t> </a:t>
            </a:r>
            <a:r>
              <a:rPr lang="en-US" sz="2000" dirty="0">
                <a:solidFill>
                  <a:srgbClr val="000000"/>
                </a:solidFill>
                <a:latin typeface="Poppins"/>
                <a:ea typeface="Segoe UI"/>
                <a:cs typeface="Segoe UI"/>
              </a:rPr>
              <a:t>Order CT-Modulator</a:t>
            </a:r>
            <a:r>
              <a:rPr lang="en-US" sz="2000" b="0" i="0" u="none" strike="noStrike" baseline="0" dirty="0">
                <a:solidFill>
                  <a:srgbClr val="000000"/>
                </a:solidFill>
                <a:latin typeface="Poppins"/>
                <a:ea typeface="Segoe UI"/>
                <a:cs typeface="Segoe UI"/>
              </a:rPr>
              <a:t> </a:t>
            </a:r>
            <a:r>
              <a:rPr lang="en-US" sz="2000" dirty="0">
                <a:solidFill>
                  <a:srgbClr val="000000"/>
                </a:solidFill>
                <a:latin typeface="Poppins"/>
                <a:ea typeface="Segoe UI"/>
                <a:cs typeface="Segoe UI"/>
              </a:rPr>
              <a:t>with clock Jitter</a:t>
            </a:r>
            <a:endParaRPr lang="en-US" dirty="0"/>
          </a:p>
        </p:txBody>
      </p:sp>
      <p:sp>
        <p:nvSpPr>
          <p:cNvPr id="56" name="TextBox 55">
            <a:extLst>
              <a:ext uri="{FF2B5EF4-FFF2-40B4-BE49-F238E27FC236}">
                <a16:creationId xmlns:a16="http://schemas.microsoft.com/office/drawing/2014/main" id="{BF4E0842-CEC8-4D5D-E763-39B1C1941A1E}"/>
              </a:ext>
            </a:extLst>
          </p:cNvPr>
          <p:cNvSpPr txBox="1"/>
          <p:nvPr/>
        </p:nvSpPr>
        <p:spPr>
          <a:xfrm>
            <a:off x="6321481" y="4443890"/>
            <a:ext cx="519074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latin typeface="Poppins"/>
                <a:ea typeface="Segoe UI"/>
                <a:cs typeface="Segoe UI"/>
              </a:rPr>
              <a:t>Fig 15.</a:t>
            </a:r>
            <a:r>
              <a:rPr lang="en-US" sz="2000" dirty="0">
                <a:latin typeface="Poppins"/>
                <a:ea typeface="Segoe UI"/>
                <a:cs typeface="Segoe UI"/>
              </a:rPr>
              <a:t> The</a:t>
            </a:r>
            <a:r>
              <a:rPr lang="en-US" sz="2000" baseline="0" dirty="0">
                <a:latin typeface="Poppins"/>
                <a:ea typeface="Segoe UI"/>
                <a:cs typeface="Segoe UI"/>
              </a:rPr>
              <a:t> Spectrum Analysis of </a:t>
            </a:r>
            <a:r>
              <a:rPr lang="en-US" sz="2000" dirty="0">
                <a:latin typeface="Poppins"/>
                <a:ea typeface="Segoe UI"/>
                <a:cs typeface="Segoe UI"/>
              </a:rPr>
              <a:t>4th</a:t>
            </a:r>
            <a:r>
              <a:rPr lang="en-US" sz="2000" baseline="0" dirty="0">
                <a:latin typeface="Poppins"/>
                <a:ea typeface="Segoe UI"/>
                <a:cs typeface="Segoe UI"/>
              </a:rPr>
              <a:t> </a:t>
            </a:r>
            <a:r>
              <a:rPr lang="en-US" sz="2000" dirty="0">
                <a:latin typeface="Poppins"/>
                <a:ea typeface="Segoe UI"/>
                <a:cs typeface="Segoe UI"/>
              </a:rPr>
              <a:t>Order CT Modulator</a:t>
            </a:r>
            <a:r>
              <a:rPr lang="en-US" sz="2000" baseline="0" dirty="0">
                <a:latin typeface="Poppins"/>
                <a:ea typeface="Segoe UI"/>
                <a:cs typeface="Segoe UI"/>
              </a:rPr>
              <a:t> with </a:t>
            </a:r>
            <a:r>
              <a:rPr lang="en-US" sz="2000" dirty="0">
                <a:latin typeface="Poppins"/>
                <a:ea typeface="Segoe UI"/>
                <a:cs typeface="Segoe UI"/>
              </a:rPr>
              <a:t>Thermal Noise​</a:t>
            </a:r>
            <a:endParaRPr lang="en-US" dirty="0"/>
          </a:p>
        </p:txBody>
      </p:sp>
      <p:sp>
        <p:nvSpPr>
          <p:cNvPr id="59" name="TextBox 58">
            <a:extLst>
              <a:ext uri="{FF2B5EF4-FFF2-40B4-BE49-F238E27FC236}">
                <a16:creationId xmlns:a16="http://schemas.microsoft.com/office/drawing/2014/main" id="{9B3AC7E4-55AC-8C20-CB45-F3D2F7F14478}"/>
              </a:ext>
            </a:extLst>
          </p:cNvPr>
          <p:cNvSpPr txBox="1"/>
          <p:nvPr/>
        </p:nvSpPr>
        <p:spPr>
          <a:xfrm>
            <a:off x="12320867" y="4443890"/>
            <a:ext cx="544606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latin typeface="Poppins"/>
                <a:ea typeface="Segoe UI"/>
                <a:cs typeface="Segoe UI"/>
              </a:rPr>
              <a:t>Fig. 16</a:t>
            </a:r>
            <a:r>
              <a:rPr lang="en-US" sz="2000" dirty="0">
                <a:latin typeface="Poppins"/>
                <a:ea typeface="Segoe UI"/>
                <a:cs typeface="Segoe UI"/>
              </a:rPr>
              <a:t> The</a:t>
            </a:r>
            <a:r>
              <a:rPr lang="en-US" sz="2000" baseline="0" dirty="0">
                <a:latin typeface="Poppins"/>
                <a:ea typeface="Segoe UI"/>
                <a:cs typeface="Segoe UI"/>
              </a:rPr>
              <a:t> Spectrum Analysis of </a:t>
            </a:r>
            <a:r>
              <a:rPr lang="en-US" sz="2000" dirty="0">
                <a:latin typeface="Poppins"/>
                <a:ea typeface="Segoe UI"/>
                <a:cs typeface="Segoe UI"/>
              </a:rPr>
              <a:t>4th</a:t>
            </a:r>
            <a:r>
              <a:rPr lang="en-US" sz="2000" baseline="0" dirty="0">
                <a:latin typeface="Poppins"/>
                <a:ea typeface="Segoe UI"/>
                <a:cs typeface="Segoe UI"/>
              </a:rPr>
              <a:t> </a:t>
            </a:r>
            <a:r>
              <a:rPr lang="en-US" sz="2000" dirty="0">
                <a:latin typeface="Poppins"/>
                <a:ea typeface="Segoe UI"/>
                <a:cs typeface="Segoe UI"/>
              </a:rPr>
              <a:t>Order CT Modulator with</a:t>
            </a:r>
            <a:r>
              <a:rPr lang="en-US" sz="2000" baseline="0" dirty="0">
                <a:latin typeface="Poppins"/>
                <a:ea typeface="Segoe UI"/>
                <a:cs typeface="Segoe UI"/>
              </a:rPr>
              <a:t> </a:t>
            </a:r>
            <a:r>
              <a:rPr lang="en-US" sz="2000" dirty="0">
                <a:latin typeface="Poppins"/>
                <a:ea typeface="Segoe UI"/>
                <a:cs typeface="Segoe UI"/>
              </a:rPr>
              <a:t>Flicker </a:t>
            </a:r>
            <a:r>
              <a:rPr lang="en-US" sz="2000" baseline="0" dirty="0">
                <a:latin typeface="Poppins"/>
                <a:ea typeface="Segoe UI"/>
                <a:cs typeface="Segoe UI"/>
              </a:rPr>
              <a:t>Noise​</a:t>
            </a:r>
            <a:r>
              <a:rPr lang="en-US" sz="2000" dirty="0">
                <a:latin typeface="Poppins"/>
                <a:ea typeface="Segoe UI"/>
                <a:cs typeface="Segoe UI"/>
              </a:rPr>
              <a:t>​</a:t>
            </a:r>
            <a:endParaRPr lang="en-US" dirty="0"/>
          </a:p>
        </p:txBody>
      </p:sp>
      <p:sp>
        <p:nvSpPr>
          <p:cNvPr id="61" name="TextBox 60">
            <a:extLst>
              <a:ext uri="{FF2B5EF4-FFF2-40B4-BE49-F238E27FC236}">
                <a16:creationId xmlns:a16="http://schemas.microsoft.com/office/drawing/2014/main" id="{A27B7DA8-80F7-8284-0071-03CDE87F6542}"/>
              </a:ext>
            </a:extLst>
          </p:cNvPr>
          <p:cNvSpPr txBox="1"/>
          <p:nvPr/>
        </p:nvSpPr>
        <p:spPr>
          <a:xfrm>
            <a:off x="640550" y="7017001"/>
            <a:ext cx="17013708" cy="32316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mn-lt"/>
                <a:cs typeface="+mn-lt"/>
              </a:rPr>
              <a:t>Thermal Noise Inference (SNR = 77.96 dB):</a:t>
            </a:r>
            <a:endParaRPr lang="en-US" sz="2800" b="1">
              <a:ea typeface="Calibri"/>
              <a:cs typeface="Calibri"/>
            </a:endParaRPr>
          </a:p>
          <a:p>
            <a:pPr algn="just"/>
            <a:r>
              <a:rPr lang="en-US" sz="2400">
                <a:ea typeface="+mn-lt"/>
                <a:cs typeface="+mn-lt"/>
              </a:rPr>
              <a:t> The architecture is highly robust against thermal noise; the aggressive loop filter successfully  suppresses quantization noise below the thermal floor.</a:t>
            </a:r>
            <a:endParaRPr lang="en-US" sz="2400">
              <a:ea typeface="Calibri"/>
              <a:cs typeface="Calibri"/>
            </a:endParaRPr>
          </a:p>
          <a:p>
            <a:pPr algn="just"/>
            <a:r>
              <a:rPr lang="en-US" sz="2800" b="1">
                <a:ea typeface="+mn-lt"/>
                <a:cs typeface="+mn-lt"/>
              </a:rPr>
              <a:t>Flicker (1/f) Noise Inference (SNR = 53.14 dB):</a:t>
            </a:r>
            <a:endParaRPr lang="en-US" sz="2800">
              <a:ea typeface="Calibri"/>
              <a:cs typeface="Calibri"/>
            </a:endParaRPr>
          </a:p>
          <a:p>
            <a:pPr algn="just"/>
            <a:r>
              <a:rPr lang="en-US" sz="2400">
                <a:ea typeface="+mn-lt"/>
                <a:cs typeface="+mn-lt"/>
              </a:rPr>
              <a:t>Low-frequency noise "fills in" the spectral notch at DC. Since 1/f noise is input-referred, the loop filter cannot shape it away.</a:t>
            </a:r>
            <a:endParaRPr lang="en-US" sz="2400">
              <a:ea typeface="Calibri"/>
              <a:cs typeface="Calibri"/>
            </a:endParaRPr>
          </a:p>
          <a:p>
            <a:pPr algn="just"/>
            <a:r>
              <a:rPr lang="en-US" sz="2800" b="1">
                <a:ea typeface="+mn-lt"/>
                <a:cs typeface="+mn-lt"/>
              </a:rPr>
              <a:t>Clock Jitter Inference (SNR = 46.15 dB):</a:t>
            </a:r>
            <a:endParaRPr lang="en-US" sz="2800">
              <a:ea typeface="Calibri"/>
              <a:cs typeface="Calibri"/>
            </a:endParaRPr>
          </a:p>
          <a:p>
            <a:pPr algn="just"/>
            <a:r>
              <a:rPr lang="en-US" sz="2400">
                <a:ea typeface="+mn-lt"/>
                <a:cs typeface="+mn-lt"/>
              </a:rPr>
              <a:t>The design is critically sensitive to timing errors. Jitter "folds" the massive high-frequency quantization noise of the 4th-order loop back into the signal band.</a:t>
            </a:r>
            <a:endParaRPr lang="en-US" sz="2400">
              <a:ea typeface="Calibri"/>
              <a:cs typeface="Calibri"/>
            </a:endParaRPr>
          </a:p>
        </p:txBody>
      </p:sp>
      <p:pic>
        <p:nvPicPr>
          <p:cNvPr id="2" name="Picture 1" descr="A screen shot of a graph&#10;&#10;AI-generated content may be incorrect.">
            <a:extLst>
              <a:ext uri="{FF2B5EF4-FFF2-40B4-BE49-F238E27FC236}">
                <a16:creationId xmlns:a16="http://schemas.microsoft.com/office/drawing/2014/main" id="{F93C4210-149B-807B-10B2-D6A1450CCFA6}"/>
              </a:ext>
            </a:extLst>
          </p:cNvPr>
          <p:cNvPicPr>
            <a:picLocks noChangeAspect="1"/>
          </p:cNvPicPr>
          <p:nvPr/>
        </p:nvPicPr>
        <p:blipFill>
          <a:blip r:embed="rId2"/>
          <a:stretch>
            <a:fillRect/>
          </a:stretch>
        </p:blipFill>
        <p:spPr>
          <a:xfrm>
            <a:off x="429549" y="1873724"/>
            <a:ext cx="5355623" cy="2554499"/>
          </a:xfrm>
          <a:prstGeom prst="rect">
            <a:avLst/>
          </a:prstGeom>
        </p:spPr>
      </p:pic>
      <p:pic>
        <p:nvPicPr>
          <p:cNvPr id="3" name="Picture 2" descr="A screen shot of a graph&#10;&#10;AI-generated content may be incorrect.">
            <a:extLst>
              <a:ext uri="{FF2B5EF4-FFF2-40B4-BE49-F238E27FC236}">
                <a16:creationId xmlns:a16="http://schemas.microsoft.com/office/drawing/2014/main" id="{14616C06-5AA0-EA22-2FE0-B70E5E228389}"/>
              </a:ext>
            </a:extLst>
          </p:cNvPr>
          <p:cNvPicPr>
            <a:picLocks noChangeAspect="1"/>
          </p:cNvPicPr>
          <p:nvPr/>
        </p:nvPicPr>
        <p:blipFill>
          <a:blip r:embed="rId3"/>
          <a:stretch>
            <a:fillRect/>
          </a:stretch>
        </p:blipFill>
        <p:spPr>
          <a:xfrm>
            <a:off x="6055476" y="1867800"/>
            <a:ext cx="5703674" cy="2566343"/>
          </a:xfrm>
          <a:prstGeom prst="rect">
            <a:avLst/>
          </a:prstGeom>
        </p:spPr>
      </p:pic>
      <p:pic>
        <p:nvPicPr>
          <p:cNvPr id="4" name="Picture 3" descr="A screen shot of a graph&#10;&#10;AI-generated content may be incorrect.">
            <a:extLst>
              <a:ext uri="{FF2B5EF4-FFF2-40B4-BE49-F238E27FC236}">
                <a16:creationId xmlns:a16="http://schemas.microsoft.com/office/drawing/2014/main" id="{B02226BA-57D1-DAD7-1599-8677455986F7}"/>
              </a:ext>
            </a:extLst>
          </p:cNvPr>
          <p:cNvPicPr>
            <a:picLocks noChangeAspect="1"/>
          </p:cNvPicPr>
          <p:nvPr/>
        </p:nvPicPr>
        <p:blipFill>
          <a:blip r:embed="rId4"/>
          <a:stretch>
            <a:fillRect/>
          </a:stretch>
        </p:blipFill>
        <p:spPr>
          <a:xfrm>
            <a:off x="11990793" y="1879847"/>
            <a:ext cx="5777299" cy="2575868"/>
          </a:xfrm>
          <a:prstGeom prst="rect">
            <a:avLst/>
          </a:prstGeom>
        </p:spPr>
      </p:pic>
      <p:sp>
        <p:nvSpPr>
          <p:cNvPr id="10" name="Rectangle 25">
            <a:extLst>
              <a:ext uri="{FF2B5EF4-FFF2-40B4-BE49-F238E27FC236}">
                <a16:creationId xmlns:a16="http://schemas.microsoft.com/office/drawing/2014/main" id="{E477912D-B801-877C-D352-AE4BAB446C94}"/>
              </a:ext>
            </a:extLst>
          </p:cNvPr>
          <p:cNvSpPr/>
          <p:nvPr/>
        </p:nvSpPr>
        <p:spPr>
          <a:xfrm>
            <a:off x="1330146" y="5404276"/>
            <a:ext cx="3546557" cy="1295729"/>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r>
              <a:rPr lang="en-US" sz="2600" b="1">
                <a:solidFill>
                  <a:schemeClr val="tx1"/>
                </a:solidFill>
                <a:latin typeface="Poppins"/>
                <a:ea typeface="Segoe UI"/>
                <a:cs typeface="Segoe UI"/>
              </a:rPr>
              <a:t>Observation :</a:t>
            </a:r>
            <a:r>
              <a:rPr lang="en-US" sz="2600">
                <a:solidFill>
                  <a:schemeClr val="tx1"/>
                </a:solidFill>
                <a:latin typeface="Poppins"/>
                <a:ea typeface="Segoe UI"/>
                <a:cs typeface="Segoe UI"/>
              </a:rPr>
              <a:t>​</a:t>
            </a:r>
            <a:endParaRPr lang="en-US">
              <a:solidFill>
                <a:schemeClr val="tx1"/>
              </a:solidFill>
            </a:endParaRPr>
          </a:p>
          <a:p>
            <a:pPr algn="ctr" rtl="0"/>
            <a:r>
              <a:rPr lang="en-US" sz="2600" baseline="0">
                <a:solidFill>
                  <a:schemeClr val="tx1"/>
                </a:solidFill>
                <a:latin typeface="Poppins"/>
                <a:ea typeface="Segoe UI"/>
                <a:cs typeface="Segoe UI"/>
              </a:rPr>
              <a:t>SNR = </a:t>
            </a:r>
            <a:r>
              <a:rPr lang="en-US" sz="2600">
                <a:solidFill>
                  <a:schemeClr val="tx1"/>
                </a:solidFill>
                <a:latin typeface="Poppins"/>
                <a:ea typeface="Segoe UI"/>
                <a:cs typeface="Segoe UI"/>
              </a:rPr>
              <a:t>46.15</a:t>
            </a:r>
            <a:endParaRPr lang="en-US">
              <a:solidFill>
                <a:schemeClr val="tx1"/>
              </a:solidFill>
              <a:ea typeface="Calibri"/>
              <a:cs typeface="Calibri"/>
            </a:endParaRPr>
          </a:p>
        </p:txBody>
      </p:sp>
      <p:sp>
        <p:nvSpPr>
          <p:cNvPr id="13" name="Rectangle 25">
            <a:extLst>
              <a:ext uri="{FF2B5EF4-FFF2-40B4-BE49-F238E27FC236}">
                <a16:creationId xmlns:a16="http://schemas.microsoft.com/office/drawing/2014/main" id="{96E26F27-809E-14EA-A5AF-6B66B794B627}"/>
              </a:ext>
            </a:extLst>
          </p:cNvPr>
          <p:cNvSpPr/>
          <p:nvPr/>
        </p:nvSpPr>
        <p:spPr>
          <a:xfrm>
            <a:off x="7364514" y="5404275"/>
            <a:ext cx="3546557" cy="1295729"/>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r>
              <a:rPr lang="en-US" sz="2600" b="1">
                <a:solidFill>
                  <a:schemeClr val="tx1"/>
                </a:solidFill>
                <a:latin typeface="Poppins"/>
                <a:ea typeface="Segoe UI"/>
                <a:cs typeface="Segoe UI"/>
              </a:rPr>
              <a:t>Observation :</a:t>
            </a:r>
            <a:r>
              <a:rPr lang="en-US" sz="2600">
                <a:solidFill>
                  <a:schemeClr val="tx1"/>
                </a:solidFill>
                <a:latin typeface="Poppins"/>
                <a:ea typeface="Segoe UI"/>
                <a:cs typeface="Segoe UI"/>
              </a:rPr>
              <a:t>​</a:t>
            </a:r>
            <a:endParaRPr lang="en-US">
              <a:solidFill>
                <a:schemeClr val="tx1"/>
              </a:solidFill>
            </a:endParaRPr>
          </a:p>
          <a:p>
            <a:pPr algn="ctr" rtl="0"/>
            <a:r>
              <a:rPr lang="en-US" sz="2600" baseline="0">
                <a:solidFill>
                  <a:schemeClr val="tx1"/>
                </a:solidFill>
                <a:latin typeface="Poppins"/>
                <a:ea typeface="Segoe UI"/>
                <a:cs typeface="Segoe UI"/>
              </a:rPr>
              <a:t>SNR = </a:t>
            </a:r>
            <a:r>
              <a:rPr lang="en-US" sz="2600">
                <a:solidFill>
                  <a:schemeClr val="tx1"/>
                </a:solidFill>
                <a:latin typeface="Poppins"/>
                <a:ea typeface="Segoe UI"/>
                <a:cs typeface="Segoe UI"/>
              </a:rPr>
              <a:t>77.96</a:t>
            </a:r>
            <a:endParaRPr lang="en-US">
              <a:solidFill>
                <a:schemeClr val="tx1"/>
              </a:solidFill>
              <a:ea typeface="Calibri"/>
              <a:cs typeface="Calibri"/>
            </a:endParaRPr>
          </a:p>
        </p:txBody>
      </p:sp>
      <p:sp>
        <p:nvSpPr>
          <p:cNvPr id="14" name="Rectangle 25">
            <a:extLst>
              <a:ext uri="{FF2B5EF4-FFF2-40B4-BE49-F238E27FC236}">
                <a16:creationId xmlns:a16="http://schemas.microsoft.com/office/drawing/2014/main" id="{E8A9214D-59CF-EA5C-9E5B-3002F12CEFE2}"/>
              </a:ext>
            </a:extLst>
          </p:cNvPr>
          <p:cNvSpPr/>
          <p:nvPr/>
        </p:nvSpPr>
        <p:spPr>
          <a:xfrm>
            <a:off x="13264410" y="5404276"/>
            <a:ext cx="3546557" cy="1295729"/>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r>
              <a:rPr lang="en-US" sz="2600" b="1">
                <a:solidFill>
                  <a:schemeClr val="tx1"/>
                </a:solidFill>
                <a:latin typeface="Poppins"/>
                <a:ea typeface="Segoe UI"/>
                <a:cs typeface="Segoe UI"/>
              </a:rPr>
              <a:t>Observation :</a:t>
            </a:r>
            <a:r>
              <a:rPr lang="en-US" sz="2600">
                <a:solidFill>
                  <a:schemeClr val="tx1"/>
                </a:solidFill>
                <a:latin typeface="Poppins"/>
                <a:ea typeface="Segoe UI"/>
                <a:cs typeface="Segoe UI"/>
              </a:rPr>
              <a:t>​</a:t>
            </a:r>
            <a:endParaRPr lang="en-US">
              <a:solidFill>
                <a:schemeClr val="tx1"/>
              </a:solidFill>
            </a:endParaRPr>
          </a:p>
          <a:p>
            <a:pPr algn="ctr" rtl="0"/>
            <a:r>
              <a:rPr lang="en-US" sz="2600" baseline="0">
                <a:solidFill>
                  <a:schemeClr val="tx1"/>
                </a:solidFill>
                <a:latin typeface="Poppins"/>
                <a:ea typeface="Segoe UI"/>
                <a:cs typeface="Segoe UI"/>
              </a:rPr>
              <a:t>SNR = </a:t>
            </a:r>
            <a:r>
              <a:rPr lang="en-US" sz="2600">
                <a:solidFill>
                  <a:schemeClr val="tx1"/>
                </a:solidFill>
                <a:latin typeface="Poppins"/>
                <a:ea typeface="Segoe UI"/>
                <a:cs typeface="Segoe UI"/>
              </a:rPr>
              <a:t>53.14</a:t>
            </a:r>
            <a:endParaRPr lang="en-US">
              <a:solidFill>
                <a:schemeClr val="tx1"/>
              </a:solidFill>
              <a:ea typeface="Calibri"/>
              <a:cs typeface="Calibri"/>
            </a:endParaRPr>
          </a:p>
        </p:txBody>
      </p:sp>
      <p:sp>
        <p:nvSpPr>
          <p:cNvPr id="6" name="Rectangle: Rounded Corners 5">
            <a:extLst>
              <a:ext uri="{FF2B5EF4-FFF2-40B4-BE49-F238E27FC236}">
                <a16:creationId xmlns:a16="http://schemas.microsoft.com/office/drawing/2014/main" id="{DDCE09FD-A96F-CCC8-4F22-3DF794A69BB1}"/>
              </a:ext>
            </a:extLst>
          </p:cNvPr>
          <p:cNvSpPr/>
          <p:nvPr/>
        </p:nvSpPr>
        <p:spPr>
          <a:xfrm>
            <a:off x="1581407" y="-311569"/>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9" name="TextBox 8">
            <a:extLst>
              <a:ext uri="{FF2B5EF4-FFF2-40B4-BE49-F238E27FC236}">
                <a16:creationId xmlns:a16="http://schemas.microsoft.com/office/drawing/2014/main" id="{C5D1C75F-7FCA-485D-3BBB-A68CBB3D9D41}"/>
              </a:ext>
            </a:extLst>
          </p:cNvPr>
          <p:cNvSpPr txBox="1"/>
          <p:nvPr/>
        </p:nvSpPr>
        <p:spPr>
          <a:xfrm>
            <a:off x="7138090" y="140268"/>
            <a:ext cx="407523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solidFill>
                  <a:schemeClr val="bg1"/>
                </a:solidFill>
                <a:ea typeface="Calibri"/>
                <a:cs typeface="Calibri"/>
              </a:rPr>
              <a:t>CT Modulator</a:t>
            </a:r>
            <a:endParaRPr lang="en-US" sz="5400">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EE7EEF8-7A67-E61F-FDEF-99EAE75B370B}"/>
              </a:ext>
            </a:extLst>
          </p:cNvPr>
          <p:cNvSpPr/>
          <p:nvPr/>
        </p:nvSpPr>
        <p:spPr>
          <a:xfrm>
            <a:off x="413021" y="1071264"/>
            <a:ext cx="12665151" cy="9215687"/>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E97F1CC-93A5-F54B-6EE5-1BEE879E1DD5}"/>
              </a:ext>
            </a:extLst>
          </p:cNvPr>
          <p:cNvSpPr txBox="1"/>
          <p:nvPr/>
        </p:nvSpPr>
        <p:spPr>
          <a:xfrm>
            <a:off x="1102666" y="2268975"/>
            <a:ext cx="12867407" cy="57554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800" b="1">
              <a:ea typeface="Calibri"/>
              <a:cs typeface="Calibri"/>
            </a:endParaRPr>
          </a:p>
          <a:p>
            <a:r>
              <a:rPr lang="en-US" sz="2800" b="1">
                <a:ea typeface="Calibri"/>
                <a:cs typeface="Calibri"/>
              </a:rPr>
              <a:t>Architectures Explored</a:t>
            </a:r>
            <a:endParaRPr lang="en-US" sz="2800">
              <a:ea typeface="Calibri"/>
              <a:cs typeface="Calibri"/>
            </a:endParaRPr>
          </a:p>
          <a:p>
            <a:pPr marL="285750" indent="-285750">
              <a:buFont typeface="Arial"/>
              <a:buChar char="•"/>
            </a:pPr>
            <a:r>
              <a:rPr lang="en-US" sz="2800">
                <a:ea typeface="Calibri"/>
                <a:cs typeface="Calibri"/>
              </a:rPr>
              <a:t>Multiple </a:t>
            </a:r>
            <a:r>
              <a:rPr lang="en-US" sz="2800" b="1">
                <a:ea typeface="Calibri"/>
                <a:cs typeface="Calibri"/>
              </a:rPr>
              <a:t>2nd- and 3rd-order DT topologies</a:t>
            </a:r>
            <a:endParaRPr lang="en-US" sz="2800">
              <a:ea typeface="Calibri"/>
              <a:cs typeface="Calibri"/>
            </a:endParaRPr>
          </a:p>
          <a:p>
            <a:pPr marL="285750" indent="-285750">
              <a:buFont typeface="Arial"/>
              <a:buChar char="•"/>
            </a:pPr>
            <a:r>
              <a:rPr lang="en-US" sz="2800">
                <a:ea typeface="Calibri"/>
                <a:cs typeface="Calibri"/>
              </a:rPr>
              <a:t>Tested around 4 </a:t>
            </a:r>
            <a:r>
              <a:rPr lang="en-US" sz="2800" b="1">
                <a:ea typeface="Calibri"/>
                <a:cs typeface="Calibri"/>
              </a:rPr>
              <a:t> architecture variants</a:t>
            </a:r>
            <a:r>
              <a:rPr lang="en-US" sz="2800">
                <a:ea typeface="Calibri"/>
                <a:cs typeface="Calibri"/>
              </a:rPr>
              <a:t> combining:</a:t>
            </a:r>
          </a:p>
          <a:p>
            <a:pPr marL="742950" lvl="1" indent="-285750">
              <a:buFont typeface="Arial"/>
              <a:buChar char="•"/>
            </a:pPr>
            <a:r>
              <a:rPr lang="en-US" sz="2800" b="1">
                <a:ea typeface="Calibri"/>
                <a:cs typeface="Calibri"/>
              </a:rPr>
              <a:t>CIFF(Cascaded Integrator Feed-Forward ) </a:t>
            </a:r>
            <a:endParaRPr lang="en-US" sz="2800">
              <a:ea typeface="Calibri"/>
              <a:cs typeface="Calibri"/>
            </a:endParaRPr>
          </a:p>
          <a:p>
            <a:pPr marL="742950" lvl="1" indent="-285750">
              <a:buFont typeface="Arial"/>
              <a:buChar char="•"/>
            </a:pPr>
            <a:r>
              <a:rPr lang="en-US" sz="2800" b="1">
                <a:ea typeface="Calibri"/>
                <a:cs typeface="Calibri"/>
              </a:rPr>
              <a:t>CRFB( Cascaded  Resonator Feed-Backward)</a:t>
            </a:r>
          </a:p>
          <a:p>
            <a:pPr marL="742950" lvl="1" indent="-285750">
              <a:buFont typeface="Arial"/>
              <a:buChar char="•"/>
            </a:pPr>
            <a:r>
              <a:rPr lang="en-US" sz="2800" b="1">
                <a:ea typeface="Calibri"/>
                <a:cs typeface="Calibri"/>
              </a:rPr>
              <a:t>CIFB(Cascaded Integrator Feed-Backward)</a:t>
            </a:r>
            <a:endParaRPr lang="en-US" sz="2800">
              <a:ea typeface="Calibri"/>
              <a:cs typeface="Calibri"/>
            </a:endParaRPr>
          </a:p>
          <a:p>
            <a:pPr marL="742950" lvl="1" indent="-285750">
              <a:buFont typeface="Arial"/>
              <a:buChar char="•"/>
            </a:pPr>
            <a:r>
              <a:rPr lang="en-US" sz="2800" b="1">
                <a:ea typeface="Calibri"/>
                <a:cs typeface="Calibri"/>
              </a:rPr>
              <a:t>CRFF(Cascaded Resonator Feed-Forward)</a:t>
            </a:r>
            <a:br>
              <a:rPr lang="en-US" sz="2800">
                <a:ea typeface="+mn-lt"/>
                <a:cs typeface="+mn-lt"/>
              </a:rPr>
            </a:br>
            <a:endParaRPr lang="en-US" sz="2800" b="1">
              <a:ea typeface="Calibri"/>
              <a:cs typeface="Calibri"/>
            </a:endParaRPr>
          </a:p>
          <a:p>
            <a:pPr lvl="1"/>
            <a:br>
              <a:rPr lang="en-US" sz="2000" b="1"/>
            </a:br>
            <a:br>
              <a:rPr lang="en-US" sz="2000" b="1"/>
            </a:br>
            <a:br>
              <a:rPr lang="en-US" sz="2000" b="1"/>
            </a:br>
            <a:endParaRPr lang="en-US" sz="2800" b="1">
              <a:ea typeface="Calibri"/>
              <a:cs typeface="Calibri"/>
            </a:endParaRPr>
          </a:p>
          <a:p>
            <a:pPr marL="742950" lvl="1" indent="-285750">
              <a:buFont typeface="Arial"/>
              <a:buChar char="•"/>
            </a:pPr>
            <a:endParaRPr lang="en-US" sz="2800">
              <a:ea typeface="Calibri"/>
              <a:cs typeface="Calibri"/>
            </a:endParaRPr>
          </a:p>
        </p:txBody>
      </p:sp>
      <p:sp>
        <p:nvSpPr>
          <p:cNvPr id="6" name="TextBox 5">
            <a:extLst>
              <a:ext uri="{FF2B5EF4-FFF2-40B4-BE49-F238E27FC236}">
                <a16:creationId xmlns:a16="http://schemas.microsoft.com/office/drawing/2014/main" id="{02018205-E967-DEC7-3066-FB34989964C7}"/>
              </a:ext>
            </a:extLst>
          </p:cNvPr>
          <p:cNvSpPr txBox="1"/>
          <p:nvPr/>
        </p:nvSpPr>
        <p:spPr>
          <a:xfrm>
            <a:off x="1095975" y="6112899"/>
            <a:ext cx="9867289"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Calibri"/>
                <a:cs typeface="Calibri"/>
              </a:rPr>
              <a:t>Key Highlights : </a:t>
            </a:r>
            <a:endParaRPr lang="en-US" sz="2800">
              <a:ea typeface="Calibri"/>
              <a:cs typeface="Calibri"/>
            </a:endParaRPr>
          </a:p>
          <a:p>
            <a:pPr marL="457200" indent="-457200">
              <a:buFont typeface="Arial"/>
              <a:buChar char="•"/>
            </a:pPr>
            <a:r>
              <a:rPr lang="en-US" sz="2800">
                <a:ea typeface="+mn-lt"/>
                <a:cs typeface="+mn-lt"/>
              </a:rPr>
              <a:t>Successfully able to Achieve the ENOB &gt; 16 bit in CIFF , CRFB architectures </a:t>
            </a:r>
          </a:p>
          <a:p>
            <a:pPr marL="457200" indent="-457200">
              <a:buFont typeface="Arial"/>
              <a:buChar char="•"/>
            </a:pPr>
            <a:r>
              <a:rPr lang="en-US" sz="2800" b="1">
                <a:ea typeface="+mn-lt"/>
                <a:cs typeface="+mn-lt"/>
              </a:rPr>
              <a:t>DT barely affected by clock jitter</a:t>
            </a:r>
            <a:r>
              <a:rPr lang="en-US" sz="2800">
                <a:ea typeface="+mn-lt"/>
                <a:cs typeface="+mn-lt"/>
              </a:rPr>
              <a:t> (advantage over CT).</a:t>
            </a:r>
            <a:endParaRPr lang="en-US" sz="2800">
              <a:ea typeface="Calibri"/>
              <a:cs typeface="Calibri"/>
            </a:endParaRPr>
          </a:p>
          <a:p>
            <a:pPr marL="457200" indent="-457200">
              <a:buFont typeface="Arial"/>
              <a:buChar char="•"/>
            </a:pPr>
            <a:r>
              <a:rPr lang="en-US" sz="2800">
                <a:ea typeface="+mn-lt"/>
                <a:cs typeface="+mn-lt"/>
              </a:rPr>
              <a:t>ENOB mainly impacted by op-amp GBW.</a:t>
            </a:r>
            <a:endParaRPr lang="en-US" sz="2800">
              <a:ea typeface="Calibri"/>
              <a:cs typeface="Calibri"/>
            </a:endParaRPr>
          </a:p>
          <a:p>
            <a:pPr marL="457200" indent="-457200">
              <a:buFont typeface="Arial"/>
              <a:buChar char="•"/>
            </a:pPr>
            <a:r>
              <a:rPr lang="en-US" sz="2800">
                <a:ea typeface="+mn-lt"/>
                <a:cs typeface="+mn-lt"/>
              </a:rPr>
              <a:t>CRFB remained most stable under non-idealities.</a:t>
            </a:r>
            <a:br>
              <a:rPr lang="en-US" sz="2800">
                <a:ea typeface="+mn-lt"/>
                <a:cs typeface="+mn-lt"/>
              </a:rPr>
            </a:br>
            <a:endParaRPr lang="en-US" sz="2800">
              <a:ea typeface="Calibri"/>
              <a:cs typeface="Calibri"/>
            </a:endParaRPr>
          </a:p>
          <a:p>
            <a:endParaRPr lang="en-US" sz="2800" b="1">
              <a:ea typeface="Calibri"/>
              <a:cs typeface="Calibri"/>
            </a:endParaRPr>
          </a:p>
        </p:txBody>
      </p:sp>
      <p:sp>
        <p:nvSpPr>
          <p:cNvPr id="4" name="Rectangle: Rounded Corners 3">
            <a:extLst>
              <a:ext uri="{FF2B5EF4-FFF2-40B4-BE49-F238E27FC236}">
                <a16:creationId xmlns:a16="http://schemas.microsoft.com/office/drawing/2014/main" id="{BFD8347B-71A5-3ACE-B2B8-D13A94AD97E3}"/>
              </a:ext>
            </a:extLst>
          </p:cNvPr>
          <p:cNvSpPr/>
          <p:nvPr/>
        </p:nvSpPr>
        <p:spPr>
          <a:xfrm>
            <a:off x="1581407" y="-311569"/>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9" name="TextBox 8">
            <a:extLst>
              <a:ext uri="{FF2B5EF4-FFF2-40B4-BE49-F238E27FC236}">
                <a16:creationId xmlns:a16="http://schemas.microsoft.com/office/drawing/2014/main" id="{A70F631E-4804-4FD8-29C5-AC5EBBFF4FEF}"/>
              </a:ext>
            </a:extLst>
          </p:cNvPr>
          <p:cNvSpPr txBox="1"/>
          <p:nvPr/>
        </p:nvSpPr>
        <p:spPr>
          <a:xfrm>
            <a:off x="7138090" y="140268"/>
            <a:ext cx="407523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solidFill>
                  <a:schemeClr val="bg1"/>
                </a:solidFill>
                <a:ea typeface="Calibri"/>
                <a:cs typeface="Calibri"/>
              </a:rPr>
              <a:t>DT Modulator</a:t>
            </a:r>
            <a:endParaRPr lang="en-US" sz="5400">
              <a:solidFill>
                <a:schemeClr val="bg1"/>
              </a:solidFill>
            </a:endParaRPr>
          </a:p>
        </p:txBody>
      </p:sp>
    </p:spTree>
    <p:extLst>
      <p:ext uri="{BB962C8B-B14F-4D97-AF65-F5344CB8AC3E}">
        <p14:creationId xmlns:p14="http://schemas.microsoft.com/office/powerpoint/2010/main" val="27252104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5">
            <a:extLst>
              <a:ext uri="{FF2B5EF4-FFF2-40B4-BE49-F238E27FC236}">
                <a16:creationId xmlns:a16="http://schemas.microsoft.com/office/drawing/2014/main" id="{863E2D5E-5534-409D-5E15-4722A57B3BE7}"/>
              </a:ext>
            </a:extLst>
          </p:cNvPr>
          <p:cNvSpPr/>
          <p:nvPr/>
        </p:nvSpPr>
        <p:spPr>
          <a:xfrm>
            <a:off x="2858278" y="9273745"/>
            <a:ext cx="3509082" cy="658648"/>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rgbClr val="000000"/>
                </a:solidFill>
                <a:ea typeface="Calibri"/>
                <a:cs typeface="Calibri"/>
              </a:rPr>
              <a:t>CRFB 3rd Order </a:t>
            </a:r>
            <a:r>
              <a:rPr lang="en-US">
                <a:solidFill>
                  <a:srgbClr val="000000"/>
                </a:solidFill>
                <a:ea typeface="Calibri"/>
                <a:cs typeface="Calibri"/>
              </a:rPr>
              <a:t> </a:t>
            </a:r>
            <a:endParaRPr lang="en-US"/>
          </a:p>
        </p:txBody>
      </p:sp>
      <p:sp>
        <p:nvSpPr>
          <p:cNvPr id="15" name="Rectangle 25">
            <a:extLst>
              <a:ext uri="{FF2B5EF4-FFF2-40B4-BE49-F238E27FC236}">
                <a16:creationId xmlns:a16="http://schemas.microsoft.com/office/drawing/2014/main" id="{2698E1E5-78D3-959E-4F5F-AEF90AA1CACE}"/>
              </a:ext>
            </a:extLst>
          </p:cNvPr>
          <p:cNvSpPr/>
          <p:nvPr/>
        </p:nvSpPr>
        <p:spPr>
          <a:xfrm>
            <a:off x="12005079" y="9273744"/>
            <a:ext cx="3509082" cy="658648"/>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rgbClr val="000000"/>
                </a:solidFill>
                <a:ea typeface="Calibri"/>
                <a:cs typeface="Calibri"/>
              </a:rPr>
              <a:t>CRFF 3rd Order </a:t>
            </a:r>
            <a:r>
              <a:rPr lang="en-US">
                <a:solidFill>
                  <a:srgbClr val="000000"/>
                </a:solidFill>
                <a:ea typeface="Calibri"/>
                <a:cs typeface="Calibri"/>
              </a:rPr>
              <a:t> </a:t>
            </a:r>
            <a:endParaRPr lang="en-US">
              <a:ea typeface="Calibri"/>
              <a:cs typeface="Calibri"/>
            </a:endParaRPr>
          </a:p>
        </p:txBody>
      </p:sp>
      <p:sp>
        <p:nvSpPr>
          <p:cNvPr id="13" name="Rectangle 25">
            <a:extLst>
              <a:ext uri="{FF2B5EF4-FFF2-40B4-BE49-F238E27FC236}">
                <a16:creationId xmlns:a16="http://schemas.microsoft.com/office/drawing/2014/main" id="{751BDFED-F584-CF04-5EBD-DD570D525A7A}"/>
              </a:ext>
            </a:extLst>
          </p:cNvPr>
          <p:cNvSpPr/>
          <p:nvPr/>
        </p:nvSpPr>
        <p:spPr>
          <a:xfrm>
            <a:off x="12005079" y="4737230"/>
            <a:ext cx="3509082" cy="658648"/>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rgbClr val="000000"/>
                </a:solidFill>
                <a:ea typeface="Calibri"/>
                <a:cs typeface="Calibri"/>
              </a:rPr>
              <a:t> </a:t>
            </a:r>
            <a:r>
              <a:rPr lang="en-US">
                <a:solidFill>
                  <a:srgbClr val="000000"/>
                </a:solidFill>
                <a:ea typeface="Calibri"/>
                <a:cs typeface="Calibri"/>
              </a:rPr>
              <a:t> </a:t>
            </a:r>
            <a:r>
              <a:rPr lang="en-US" b="1">
                <a:solidFill>
                  <a:srgbClr val="000000"/>
                </a:solidFill>
                <a:ea typeface="Calibri"/>
                <a:cs typeface="Calibri"/>
              </a:rPr>
              <a:t>CIFB 3rd Order</a:t>
            </a:r>
            <a:endParaRPr lang="en-US"/>
          </a:p>
        </p:txBody>
      </p:sp>
      <p:sp>
        <p:nvSpPr>
          <p:cNvPr id="14" name="Rectangle 25">
            <a:extLst>
              <a:ext uri="{FF2B5EF4-FFF2-40B4-BE49-F238E27FC236}">
                <a16:creationId xmlns:a16="http://schemas.microsoft.com/office/drawing/2014/main" id="{F939EABD-0258-DAED-BD80-6FF5459BC4F7}"/>
              </a:ext>
            </a:extLst>
          </p:cNvPr>
          <p:cNvSpPr/>
          <p:nvPr/>
        </p:nvSpPr>
        <p:spPr>
          <a:xfrm>
            <a:off x="2858278" y="4820341"/>
            <a:ext cx="3509082" cy="658648"/>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diagram of a mathematical equation&#10;&#10;AI-generated content may be incorrect.">
            <a:extLst>
              <a:ext uri="{FF2B5EF4-FFF2-40B4-BE49-F238E27FC236}">
                <a16:creationId xmlns:a16="http://schemas.microsoft.com/office/drawing/2014/main" id="{4F8913EE-CCCF-E63E-0B88-2614B2A191C7}"/>
              </a:ext>
            </a:extLst>
          </p:cNvPr>
          <p:cNvPicPr>
            <a:picLocks noChangeAspect="1"/>
          </p:cNvPicPr>
          <p:nvPr/>
        </p:nvPicPr>
        <p:blipFill>
          <a:blip r:embed="rId2"/>
          <a:stretch>
            <a:fillRect/>
          </a:stretch>
        </p:blipFill>
        <p:spPr>
          <a:xfrm>
            <a:off x="371940" y="1766024"/>
            <a:ext cx="8480425" cy="3057525"/>
          </a:xfrm>
          <a:prstGeom prst="rect">
            <a:avLst/>
          </a:prstGeom>
          <a:ln>
            <a:noFill/>
          </a:ln>
          <a:effectLst>
            <a:outerShdw blurRad="190500" algn="tl" rotWithShape="0">
              <a:srgbClr val="000000">
                <a:alpha val="70000"/>
              </a:srgbClr>
            </a:outerShdw>
          </a:effectLst>
        </p:spPr>
      </p:pic>
      <p:pic>
        <p:nvPicPr>
          <p:cNvPr id="4" name="Picture 3" descr="A diagram of a function&#10;&#10;AI-generated content may be incorrect.">
            <a:extLst>
              <a:ext uri="{FF2B5EF4-FFF2-40B4-BE49-F238E27FC236}">
                <a16:creationId xmlns:a16="http://schemas.microsoft.com/office/drawing/2014/main" id="{A23BBDC0-640F-3FE8-5145-EB94AFEC7133}"/>
              </a:ext>
            </a:extLst>
          </p:cNvPr>
          <p:cNvPicPr>
            <a:picLocks noChangeAspect="1"/>
          </p:cNvPicPr>
          <p:nvPr/>
        </p:nvPicPr>
        <p:blipFill>
          <a:blip r:embed="rId3"/>
          <a:stretch>
            <a:fillRect/>
          </a:stretch>
        </p:blipFill>
        <p:spPr>
          <a:xfrm>
            <a:off x="9301933" y="1759386"/>
            <a:ext cx="8461011" cy="3070799"/>
          </a:xfrm>
          <a:prstGeom prst="rect">
            <a:avLst/>
          </a:prstGeom>
          <a:ln>
            <a:noFill/>
          </a:ln>
          <a:effectLst>
            <a:outerShdw blurRad="190500" algn="tl" rotWithShape="0">
              <a:srgbClr val="000000">
                <a:alpha val="70000"/>
              </a:srgbClr>
            </a:outerShdw>
          </a:effectLst>
        </p:spPr>
      </p:pic>
      <p:pic>
        <p:nvPicPr>
          <p:cNvPr id="5" name="Picture 4" descr="A diagram of a function&#10;&#10;AI-generated content may be incorrect.">
            <a:extLst>
              <a:ext uri="{FF2B5EF4-FFF2-40B4-BE49-F238E27FC236}">
                <a16:creationId xmlns:a16="http://schemas.microsoft.com/office/drawing/2014/main" id="{B5836B11-B7D9-3C29-43AF-4C5B2FFF08CA}"/>
              </a:ext>
            </a:extLst>
          </p:cNvPr>
          <p:cNvPicPr>
            <a:picLocks noChangeAspect="1"/>
          </p:cNvPicPr>
          <p:nvPr/>
        </p:nvPicPr>
        <p:blipFill>
          <a:blip r:embed="rId4"/>
          <a:stretch>
            <a:fillRect/>
          </a:stretch>
        </p:blipFill>
        <p:spPr>
          <a:xfrm>
            <a:off x="9298476" y="5728198"/>
            <a:ext cx="8636566" cy="3368457"/>
          </a:xfrm>
          <a:prstGeom prst="rect">
            <a:avLst/>
          </a:prstGeom>
          <a:ln>
            <a:noFill/>
          </a:ln>
          <a:effectLst>
            <a:outerShdw blurRad="190500" algn="tl" rotWithShape="0">
              <a:srgbClr val="000000">
                <a:alpha val="70000"/>
              </a:srgbClr>
            </a:outerShdw>
          </a:effectLst>
        </p:spPr>
      </p:pic>
      <p:sp>
        <p:nvSpPr>
          <p:cNvPr id="6" name="TextBox 5">
            <a:extLst>
              <a:ext uri="{FF2B5EF4-FFF2-40B4-BE49-F238E27FC236}">
                <a16:creationId xmlns:a16="http://schemas.microsoft.com/office/drawing/2014/main" id="{BAEC230A-E98E-1BE3-DF1C-17CB33BEE458}"/>
              </a:ext>
            </a:extLst>
          </p:cNvPr>
          <p:cNvSpPr txBox="1"/>
          <p:nvPr/>
        </p:nvSpPr>
        <p:spPr>
          <a:xfrm>
            <a:off x="3802081" y="4887248"/>
            <a:ext cx="160337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ea typeface="Calibri"/>
                <a:cs typeface="Calibri"/>
              </a:rPr>
              <a:t>CIFF 3rd Order </a:t>
            </a:r>
          </a:p>
        </p:txBody>
      </p:sp>
      <p:pic>
        <p:nvPicPr>
          <p:cNvPr id="9" name="Picture 8" descr="A diagram of a complex circuit&#10;&#10;AI-generated content may be incorrect.">
            <a:extLst>
              <a:ext uri="{FF2B5EF4-FFF2-40B4-BE49-F238E27FC236}">
                <a16:creationId xmlns:a16="http://schemas.microsoft.com/office/drawing/2014/main" id="{77E719B7-DFDE-DF40-8B96-05A6C498F5C8}"/>
              </a:ext>
            </a:extLst>
          </p:cNvPr>
          <p:cNvPicPr>
            <a:picLocks noChangeAspect="1"/>
          </p:cNvPicPr>
          <p:nvPr/>
        </p:nvPicPr>
        <p:blipFill>
          <a:blip r:embed="rId5"/>
          <a:stretch>
            <a:fillRect/>
          </a:stretch>
        </p:blipFill>
        <p:spPr>
          <a:xfrm>
            <a:off x="372051" y="5731117"/>
            <a:ext cx="8482533" cy="3350932"/>
          </a:xfrm>
          <a:prstGeom prst="rect">
            <a:avLst/>
          </a:prstGeom>
          <a:ln>
            <a:noFill/>
          </a:ln>
          <a:effectLst>
            <a:outerShdw blurRad="190500" algn="tl" rotWithShape="0">
              <a:srgbClr val="000000">
                <a:alpha val="70000"/>
              </a:srgbClr>
            </a:outerShdw>
          </a:effectLst>
        </p:spPr>
      </p:pic>
      <p:sp>
        <p:nvSpPr>
          <p:cNvPr id="7" name="Rectangle: Rounded Corners 6">
            <a:extLst>
              <a:ext uri="{FF2B5EF4-FFF2-40B4-BE49-F238E27FC236}">
                <a16:creationId xmlns:a16="http://schemas.microsoft.com/office/drawing/2014/main" id="{291802BB-6C3B-CEF2-E075-AF7E14EBBB45}"/>
              </a:ext>
            </a:extLst>
          </p:cNvPr>
          <p:cNvSpPr/>
          <p:nvPr/>
        </p:nvSpPr>
        <p:spPr>
          <a:xfrm>
            <a:off x="1581407" y="-294760"/>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11" name="TextBox 10">
            <a:extLst>
              <a:ext uri="{FF2B5EF4-FFF2-40B4-BE49-F238E27FC236}">
                <a16:creationId xmlns:a16="http://schemas.microsoft.com/office/drawing/2014/main" id="{B5F89F49-3AEA-D69F-536E-16B80942EBCB}"/>
              </a:ext>
            </a:extLst>
          </p:cNvPr>
          <p:cNvSpPr txBox="1"/>
          <p:nvPr/>
        </p:nvSpPr>
        <p:spPr>
          <a:xfrm>
            <a:off x="5829438" y="140268"/>
            <a:ext cx="662627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solidFill>
                  <a:schemeClr val="bg1"/>
                </a:solidFill>
                <a:ea typeface="Calibri"/>
                <a:cs typeface="Calibri"/>
              </a:rPr>
              <a:t>Different Architectures</a:t>
            </a:r>
          </a:p>
        </p:txBody>
      </p:sp>
    </p:spTree>
    <p:extLst>
      <p:ext uri="{BB962C8B-B14F-4D97-AF65-F5344CB8AC3E}">
        <p14:creationId xmlns:p14="http://schemas.microsoft.com/office/powerpoint/2010/main" val="40722598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B6F4BA1-C693-1612-739F-AA6B1ABDB2D7}"/>
              </a:ext>
            </a:extLst>
          </p:cNvPr>
          <p:cNvSpPr/>
          <p:nvPr/>
        </p:nvSpPr>
        <p:spPr>
          <a:xfrm>
            <a:off x="5395" y="4841"/>
            <a:ext cx="9712941" cy="10289832"/>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5807F18-F102-B9A4-1372-54677946C2F0}"/>
              </a:ext>
            </a:extLst>
          </p:cNvPr>
          <p:cNvSpPr/>
          <p:nvPr/>
        </p:nvSpPr>
        <p:spPr>
          <a:xfrm>
            <a:off x="190989" y="7249999"/>
            <a:ext cx="9326339" cy="3040232"/>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25">
            <a:extLst>
              <a:ext uri="{FF2B5EF4-FFF2-40B4-BE49-F238E27FC236}">
                <a16:creationId xmlns:a16="http://schemas.microsoft.com/office/drawing/2014/main" id="{9788039C-BE96-7EC4-6212-B6EA330DB8A2}"/>
              </a:ext>
            </a:extLst>
          </p:cNvPr>
          <p:cNvSpPr/>
          <p:nvPr/>
        </p:nvSpPr>
        <p:spPr>
          <a:xfrm>
            <a:off x="12125159" y="7257687"/>
            <a:ext cx="3740772" cy="905783"/>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solidFill>
                <a:srgbClr val="000000"/>
              </a:solidFill>
              <a:ea typeface="Calibri"/>
              <a:cs typeface="Calibri"/>
            </a:endParaRPr>
          </a:p>
        </p:txBody>
      </p:sp>
      <p:sp>
        <p:nvSpPr>
          <p:cNvPr id="4" name="TextBox 3">
            <a:extLst>
              <a:ext uri="{FF2B5EF4-FFF2-40B4-BE49-F238E27FC236}">
                <a16:creationId xmlns:a16="http://schemas.microsoft.com/office/drawing/2014/main" id="{DE194C04-35A0-1FC9-E196-DF93C164850A}"/>
              </a:ext>
            </a:extLst>
          </p:cNvPr>
          <p:cNvSpPr txBox="1"/>
          <p:nvPr/>
        </p:nvSpPr>
        <p:spPr>
          <a:xfrm>
            <a:off x="398339" y="646510"/>
            <a:ext cx="9136131" cy="38472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mn-lt"/>
                <a:cs typeface="+mn-lt"/>
              </a:rPr>
              <a:t>Advantages Of DT-DSM: </a:t>
            </a:r>
            <a:br>
              <a:rPr lang="en-US" sz="2800" b="1">
                <a:ea typeface="+mn-lt"/>
                <a:cs typeface="+mn-lt"/>
              </a:rPr>
            </a:br>
            <a:endParaRPr lang="en-US" sz="2800" b="1">
              <a:ea typeface="+mn-lt"/>
              <a:cs typeface="+mn-lt"/>
            </a:endParaRPr>
          </a:p>
          <a:p>
            <a:pPr marL="457200" indent="-457200">
              <a:buFont typeface="Arial"/>
              <a:buChar char="•"/>
            </a:pPr>
            <a:r>
              <a:rPr lang="en-US" sz="2800" b="1">
                <a:ea typeface="+mn-lt"/>
                <a:cs typeface="+mn-lt"/>
              </a:rPr>
              <a:t>Jitter Insensitive : </a:t>
            </a:r>
          </a:p>
          <a:p>
            <a:pPr algn="just"/>
            <a:r>
              <a:rPr lang="en-US" sz="2800" b="1">
                <a:ea typeface="+mn-lt"/>
                <a:cs typeface="+mn-lt"/>
              </a:rPr>
              <a:t>  </a:t>
            </a:r>
            <a:r>
              <a:rPr lang="en-US" sz="2800">
                <a:ea typeface="+mn-lt"/>
                <a:cs typeface="+mn-lt"/>
              </a:rPr>
              <a:t>The SNR decreases very less with increase in the Clock                    Jitter unlike the noise floor increasing in the CT-DSM</a:t>
            </a:r>
            <a:endParaRPr lang="en-US" sz="2800" b="1">
              <a:ea typeface="+mn-lt"/>
              <a:cs typeface="+mn-lt"/>
            </a:endParaRPr>
          </a:p>
          <a:p>
            <a:pPr indent="-457200">
              <a:buFont typeface="Arial"/>
              <a:buChar char="•"/>
            </a:pPr>
            <a:endParaRPr lang="en-US" sz="2800" b="1">
              <a:ea typeface="+mn-lt"/>
              <a:cs typeface="+mn-lt"/>
            </a:endParaRPr>
          </a:p>
          <a:p>
            <a:pPr indent="-457200">
              <a:buFont typeface="Arial"/>
              <a:buChar char="•"/>
            </a:pPr>
            <a:r>
              <a:rPr lang="en-US" sz="2800" b="1">
                <a:ea typeface="+mn-lt"/>
                <a:cs typeface="+mn-lt"/>
              </a:rPr>
              <a:t>Slew Rate :</a:t>
            </a:r>
          </a:p>
          <a:p>
            <a:pPr lvl="1" algn="just"/>
            <a:r>
              <a:rPr lang="en-US" sz="2400">
                <a:latin typeface="Arial"/>
                <a:ea typeface="+mn-lt"/>
                <a:cs typeface="Arial"/>
              </a:rPr>
              <a:t>The SNR is not directly affected by the Slew Rate for a fixed Sampling Frequency and input amplitude </a:t>
            </a:r>
            <a:endParaRPr lang="en-US">
              <a:ea typeface="Calibri"/>
              <a:cs typeface="Calibri"/>
            </a:endParaRPr>
          </a:p>
        </p:txBody>
      </p:sp>
      <p:graphicFrame>
        <p:nvGraphicFramePr>
          <p:cNvPr id="5" name="Table 4">
            <a:extLst>
              <a:ext uri="{FF2B5EF4-FFF2-40B4-BE49-F238E27FC236}">
                <a16:creationId xmlns:a16="http://schemas.microsoft.com/office/drawing/2014/main" id="{B12F6C35-2D33-0E99-4814-E8AAAE6371A8}"/>
              </a:ext>
            </a:extLst>
          </p:cNvPr>
          <p:cNvGraphicFramePr>
            <a:graphicFrameLocks noGrp="1"/>
          </p:cNvGraphicFramePr>
          <p:nvPr>
            <p:extLst>
              <p:ext uri="{D42A27DB-BD31-4B8C-83A1-F6EECF244321}">
                <p14:modId xmlns:p14="http://schemas.microsoft.com/office/powerpoint/2010/main" val="2088312457"/>
              </p:ext>
            </p:extLst>
          </p:nvPr>
        </p:nvGraphicFramePr>
        <p:xfrm>
          <a:off x="1035000" y="5233629"/>
          <a:ext cx="7832139" cy="1327844"/>
        </p:xfrm>
        <a:graphic>
          <a:graphicData uri="http://schemas.openxmlformats.org/drawingml/2006/table">
            <a:tbl>
              <a:tblPr firstRow="1" bandRow="1">
                <a:tableStyleId>{5C22544A-7EE6-4342-B048-85BDC9FD1C3A}</a:tableStyleId>
              </a:tblPr>
              <a:tblGrid>
                <a:gridCol w="2610713">
                  <a:extLst>
                    <a:ext uri="{9D8B030D-6E8A-4147-A177-3AD203B41FA5}">
                      <a16:colId xmlns:a16="http://schemas.microsoft.com/office/drawing/2014/main" val="3945382104"/>
                    </a:ext>
                  </a:extLst>
                </a:gridCol>
                <a:gridCol w="2610713">
                  <a:extLst>
                    <a:ext uri="{9D8B030D-6E8A-4147-A177-3AD203B41FA5}">
                      <a16:colId xmlns:a16="http://schemas.microsoft.com/office/drawing/2014/main" val="2586080839"/>
                    </a:ext>
                  </a:extLst>
                </a:gridCol>
                <a:gridCol w="2610713">
                  <a:extLst>
                    <a:ext uri="{9D8B030D-6E8A-4147-A177-3AD203B41FA5}">
                      <a16:colId xmlns:a16="http://schemas.microsoft.com/office/drawing/2014/main" val="2479090563"/>
                    </a:ext>
                  </a:extLst>
                </a:gridCol>
              </a:tblGrid>
              <a:tr h="591931">
                <a:tc>
                  <a:txBody>
                    <a:bodyPr/>
                    <a:lstStyle/>
                    <a:p>
                      <a:r>
                        <a:rPr lang="en-US" sz="2400"/>
                        <a:t>CLOCK Jitter </a:t>
                      </a:r>
                    </a:p>
                  </a:txBody>
                  <a:tcPr>
                    <a:solidFill>
                      <a:schemeClr val="accent6">
                        <a:lumMod val="75000"/>
                      </a:schemeClr>
                    </a:solidFill>
                  </a:tcPr>
                </a:tc>
                <a:tc>
                  <a:txBody>
                    <a:bodyPr/>
                    <a:lstStyle/>
                    <a:p>
                      <a:r>
                        <a:rPr lang="en-US" sz="2400"/>
                        <a:t>50ps</a:t>
                      </a:r>
                    </a:p>
                  </a:txBody>
                  <a:tcPr>
                    <a:solidFill>
                      <a:schemeClr val="accent6">
                        <a:lumMod val="75000"/>
                      </a:schemeClr>
                    </a:solidFill>
                  </a:tcPr>
                </a:tc>
                <a:tc>
                  <a:txBody>
                    <a:bodyPr/>
                    <a:lstStyle/>
                    <a:p>
                      <a:r>
                        <a:rPr lang="en-US" sz="2400"/>
                        <a:t>200ps</a:t>
                      </a:r>
                    </a:p>
                  </a:txBody>
                  <a:tcPr>
                    <a:solidFill>
                      <a:schemeClr val="accent6">
                        <a:lumMod val="75000"/>
                      </a:schemeClr>
                    </a:solidFill>
                  </a:tcPr>
                </a:tc>
                <a:extLst>
                  <a:ext uri="{0D108BD9-81ED-4DB2-BD59-A6C34878D82A}">
                    <a16:rowId xmlns:a16="http://schemas.microsoft.com/office/drawing/2014/main" val="784233844"/>
                  </a:ext>
                </a:extLst>
              </a:tr>
              <a:tr h="735913">
                <a:tc>
                  <a:txBody>
                    <a:bodyPr/>
                    <a:lstStyle/>
                    <a:p>
                      <a:r>
                        <a:rPr lang="en-US" sz="2400"/>
                        <a:t>SNR (dB)</a:t>
                      </a:r>
                    </a:p>
                  </a:txBody>
                  <a:tcPr>
                    <a:solidFill>
                      <a:schemeClr val="accent6">
                        <a:lumMod val="60000"/>
                        <a:lumOff val="40000"/>
                      </a:schemeClr>
                    </a:solidFill>
                  </a:tcPr>
                </a:tc>
                <a:tc>
                  <a:txBody>
                    <a:bodyPr/>
                    <a:lstStyle/>
                    <a:p>
                      <a:r>
                        <a:rPr lang="en-US" sz="2400"/>
                        <a:t>105.2</a:t>
                      </a:r>
                    </a:p>
                  </a:txBody>
                  <a:tcPr>
                    <a:solidFill>
                      <a:schemeClr val="accent6">
                        <a:lumMod val="60000"/>
                        <a:lumOff val="40000"/>
                      </a:schemeClr>
                    </a:solidFill>
                  </a:tcPr>
                </a:tc>
                <a:tc>
                  <a:txBody>
                    <a:bodyPr/>
                    <a:lstStyle/>
                    <a:p>
                      <a:r>
                        <a:rPr lang="en-US" sz="2400"/>
                        <a:t>103.5</a:t>
                      </a:r>
                    </a:p>
                  </a:txBody>
                  <a:tcPr>
                    <a:solidFill>
                      <a:schemeClr val="accent6">
                        <a:lumMod val="60000"/>
                        <a:lumOff val="40000"/>
                      </a:schemeClr>
                    </a:solidFill>
                  </a:tcPr>
                </a:tc>
                <a:extLst>
                  <a:ext uri="{0D108BD9-81ED-4DB2-BD59-A6C34878D82A}">
                    <a16:rowId xmlns:a16="http://schemas.microsoft.com/office/drawing/2014/main" val="2067429186"/>
                  </a:ext>
                </a:extLst>
              </a:tr>
            </a:tbl>
          </a:graphicData>
        </a:graphic>
      </p:graphicFrame>
      <p:sp>
        <p:nvSpPr>
          <p:cNvPr id="18" name="TextBox 17">
            <a:extLst>
              <a:ext uri="{FF2B5EF4-FFF2-40B4-BE49-F238E27FC236}">
                <a16:creationId xmlns:a16="http://schemas.microsoft.com/office/drawing/2014/main" id="{50C7B299-B640-124D-F209-FB40C1E5FC29}"/>
              </a:ext>
            </a:extLst>
          </p:cNvPr>
          <p:cNvSpPr txBox="1"/>
          <p:nvPr/>
        </p:nvSpPr>
        <p:spPr>
          <a:xfrm>
            <a:off x="2571503" y="6550879"/>
            <a:ext cx="475735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ea typeface="Calibri"/>
                <a:cs typeface="Calibri"/>
              </a:rPr>
              <a:t>SNR Observations In 3rd CRFB</a:t>
            </a:r>
          </a:p>
        </p:txBody>
      </p:sp>
      <p:graphicFrame>
        <p:nvGraphicFramePr>
          <p:cNvPr id="20" name="Table 19">
            <a:extLst>
              <a:ext uri="{FF2B5EF4-FFF2-40B4-BE49-F238E27FC236}">
                <a16:creationId xmlns:a16="http://schemas.microsoft.com/office/drawing/2014/main" id="{7946BDB4-F44E-77A5-B4F7-92D27F1CB54D}"/>
              </a:ext>
            </a:extLst>
          </p:cNvPr>
          <p:cNvGraphicFramePr>
            <a:graphicFrameLocks noGrp="1"/>
          </p:cNvGraphicFramePr>
          <p:nvPr>
            <p:extLst>
              <p:ext uri="{D42A27DB-BD31-4B8C-83A1-F6EECF244321}">
                <p14:modId xmlns:p14="http://schemas.microsoft.com/office/powerpoint/2010/main" val="747432405"/>
              </p:ext>
            </p:extLst>
          </p:nvPr>
        </p:nvGraphicFramePr>
        <p:xfrm>
          <a:off x="1034999" y="7627137"/>
          <a:ext cx="7832139" cy="1327844"/>
        </p:xfrm>
        <a:graphic>
          <a:graphicData uri="http://schemas.openxmlformats.org/drawingml/2006/table">
            <a:tbl>
              <a:tblPr firstRow="1" bandRow="1">
                <a:tableStyleId>{5C22544A-7EE6-4342-B048-85BDC9FD1C3A}</a:tableStyleId>
              </a:tblPr>
              <a:tblGrid>
                <a:gridCol w="2610713">
                  <a:extLst>
                    <a:ext uri="{9D8B030D-6E8A-4147-A177-3AD203B41FA5}">
                      <a16:colId xmlns:a16="http://schemas.microsoft.com/office/drawing/2014/main" val="3945382104"/>
                    </a:ext>
                  </a:extLst>
                </a:gridCol>
                <a:gridCol w="2610713">
                  <a:extLst>
                    <a:ext uri="{9D8B030D-6E8A-4147-A177-3AD203B41FA5}">
                      <a16:colId xmlns:a16="http://schemas.microsoft.com/office/drawing/2014/main" val="2586080839"/>
                    </a:ext>
                  </a:extLst>
                </a:gridCol>
                <a:gridCol w="2610713">
                  <a:extLst>
                    <a:ext uri="{9D8B030D-6E8A-4147-A177-3AD203B41FA5}">
                      <a16:colId xmlns:a16="http://schemas.microsoft.com/office/drawing/2014/main" val="2479090563"/>
                    </a:ext>
                  </a:extLst>
                </a:gridCol>
              </a:tblGrid>
              <a:tr h="591931">
                <a:tc>
                  <a:txBody>
                    <a:bodyPr/>
                    <a:lstStyle/>
                    <a:p>
                      <a:r>
                        <a:rPr lang="en-US" sz="2400"/>
                        <a:t>Slew Rate</a:t>
                      </a:r>
                    </a:p>
                  </a:txBody>
                  <a:tcPr>
                    <a:solidFill>
                      <a:schemeClr val="accent6">
                        <a:lumMod val="75000"/>
                      </a:schemeClr>
                    </a:solidFill>
                  </a:tcPr>
                </a:tc>
                <a:tc>
                  <a:txBody>
                    <a:bodyPr/>
                    <a:lstStyle/>
                    <a:p>
                      <a:r>
                        <a:rPr lang="en-US" sz="2400"/>
                        <a:t>1e6</a:t>
                      </a:r>
                    </a:p>
                  </a:txBody>
                  <a:tcPr>
                    <a:solidFill>
                      <a:schemeClr val="accent6">
                        <a:lumMod val="75000"/>
                      </a:schemeClr>
                    </a:solidFill>
                  </a:tcPr>
                </a:tc>
                <a:tc>
                  <a:txBody>
                    <a:bodyPr/>
                    <a:lstStyle/>
                    <a:p>
                      <a:r>
                        <a:rPr lang="en-US" sz="2400"/>
                        <a:t>1e4</a:t>
                      </a:r>
                    </a:p>
                  </a:txBody>
                  <a:tcPr>
                    <a:solidFill>
                      <a:schemeClr val="accent6">
                        <a:lumMod val="75000"/>
                      </a:schemeClr>
                    </a:solidFill>
                  </a:tcPr>
                </a:tc>
                <a:extLst>
                  <a:ext uri="{0D108BD9-81ED-4DB2-BD59-A6C34878D82A}">
                    <a16:rowId xmlns:a16="http://schemas.microsoft.com/office/drawing/2014/main" val="784233844"/>
                  </a:ext>
                </a:extLst>
              </a:tr>
              <a:tr h="735913">
                <a:tc>
                  <a:txBody>
                    <a:bodyPr/>
                    <a:lstStyle/>
                    <a:p>
                      <a:r>
                        <a:rPr lang="en-US" sz="2400"/>
                        <a:t>SNR (dB)</a:t>
                      </a:r>
                    </a:p>
                  </a:txBody>
                  <a:tcPr>
                    <a:solidFill>
                      <a:schemeClr val="accent6">
                        <a:lumMod val="40000"/>
                        <a:lumOff val="60000"/>
                      </a:schemeClr>
                    </a:solidFill>
                  </a:tcPr>
                </a:tc>
                <a:tc>
                  <a:txBody>
                    <a:bodyPr/>
                    <a:lstStyle/>
                    <a:p>
                      <a:r>
                        <a:rPr lang="en-US" sz="2400"/>
                        <a:t>75.2</a:t>
                      </a:r>
                    </a:p>
                  </a:txBody>
                  <a:tcPr>
                    <a:solidFill>
                      <a:schemeClr val="accent6">
                        <a:lumMod val="60000"/>
                        <a:lumOff val="40000"/>
                      </a:schemeClr>
                    </a:solidFill>
                  </a:tcPr>
                </a:tc>
                <a:tc>
                  <a:txBody>
                    <a:bodyPr/>
                    <a:lstStyle/>
                    <a:p>
                      <a:r>
                        <a:rPr lang="en-US" sz="2400"/>
                        <a:t>74.9</a:t>
                      </a:r>
                    </a:p>
                  </a:txBody>
                  <a:tcPr>
                    <a:solidFill>
                      <a:schemeClr val="accent6">
                        <a:lumMod val="60000"/>
                        <a:lumOff val="40000"/>
                      </a:schemeClr>
                    </a:solidFill>
                  </a:tcPr>
                </a:tc>
                <a:extLst>
                  <a:ext uri="{0D108BD9-81ED-4DB2-BD59-A6C34878D82A}">
                    <a16:rowId xmlns:a16="http://schemas.microsoft.com/office/drawing/2014/main" val="2067429186"/>
                  </a:ext>
                </a:extLst>
              </a:tr>
            </a:tbl>
          </a:graphicData>
        </a:graphic>
      </p:graphicFrame>
      <p:sp>
        <p:nvSpPr>
          <p:cNvPr id="21" name="TextBox 20">
            <a:extLst>
              <a:ext uri="{FF2B5EF4-FFF2-40B4-BE49-F238E27FC236}">
                <a16:creationId xmlns:a16="http://schemas.microsoft.com/office/drawing/2014/main" id="{9993A835-14B5-4B20-73FF-B886BE07769A}"/>
              </a:ext>
            </a:extLst>
          </p:cNvPr>
          <p:cNvSpPr txBox="1"/>
          <p:nvPr/>
        </p:nvSpPr>
        <p:spPr>
          <a:xfrm>
            <a:off x="2139017" y="8950579"/>
            <a:ext cx="5637771"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ea typeface="Calibri"/>
                <a:cs typeface="Calibri"/>
              </a:rPr>
              <a:t>SNR Observations In 2nd Order CRFB </a:t>
            </a:r>
            <a:br>
              <a:rPr lang="en-US" sz="2800">
                <a:ea typeface="Calibri"/>
                <a:cs typeface="Calibri"/>
              </a:rPr>
            </a:br>
            <a:r>
              <a:rPr lang="en-US" sz="2800">
                <a:ea typeface="Calibri"/>
                <a:cs typeface="Calibri"/>
              </a:rPr>
              <a:t>GBW = 1e5</a:t>
            </a:r>
          </a:p>
        </p:txBody>
      </p:sp>
      <p:sp>
        <p:nvSpPr>
          <p:cNvPr id="3" name="TextBox 2">
            <a:extLst>
              <a:ext uri="{FF2B5EF4-FFF2-40B4-BE49-F238E27FC236}">
                <a16:creationId xmlns:a16="http://schemas.microsoft.com/office/drawing/2014/main" id="{7D3BBF84-AA93-C7B9-C428-730EF5F96E01}"/>
              </a:ext>
            </a:extLst>
          </p:cNvPr>
          <p:cNvSpPr txBox="1"/>
          <p:nvPr/>
        </p:nvSpPr>
        <p:spPr>
          <a:xfrm>
            <a:off x="12211563" y="7460525"/>
            <a:ext cx="3737920" cy="5078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700" b="1">
                <a:ea typeface="Calibri"/>
                <a:cs typeface="Calibri"/>
              </a:rPr>
              <a:t> ENOB Vs Samling Rates </a:t>
            </a:r>
          </a:p>
        </p:txBody>
      </p:sp>
      <p:pic>
        <p:nvPicPr>
          <p:cNvPr id="6" name="Picture 5" descr="A graph of different colored lines&#10;&#10;AI-generated content may be incorrect.">
            <a:extLst>
              <a:ext uri="{FF2B5EF4-FFF2-40B4-BE49-F238E27FC236}">
                <a16:creationId xmlns:a16="http://schemas.microsoft.com/office/drawing/2014/main" id="{22202BD2-910B-D600-3D7E-E658BD45EF1C}"/>
              </a:ext>
            </a:extLst>
          </p:cNvPr>
          <p:cNvPicPr>
            <a:picLocks noChangeAspect="1"/>
          </p:cNvPicPr>
          <p:nvPr/>
        </p:nvPicPr>
        <p:blipFill>
          <a:blip r:embed="rId2"/>
          <a:stretch>
            <a:fillRect/>
          </a:stretch>
        </p:blipFill>
        <p:spPr>
          <a:xfrm>
            <a:off x="10401285" y="1952857"/>
            <a:ext cx="7181850" cy="53721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49431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C092525-A8E4-0293-D7B5-901A4B4948F4}"/>
              </a:ext>
            </a:extLst>
          </p:cNvPr>
          <p:cNvSpPr/>
          <p:nvPr/>
        </p:nvSpPr>
        <p:spPr>
          <a:xfrm>
            <a:off x="2593" y="6394"/>
            <a:ext cx="10666895" cy="10262602"/>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6">
            <a:extLst>
              <a:ext uri="{FF2B5EF4-FFF2-40B4-BE49-F238E27FC236}">
                <a16:creationId xmlns:a16="http://schemas.microsoft.com/office/drawing/2014/main" id="{A6F9C42D-7AF5-99FA-3A93-6B7A9D8EB646}"/>
              </a:ext>
            </a:extLst>
          </p:cNvPr>
          <p:cNvSpPr txBox="1"/>
          <p:nvPr/>
        </p:nvSpPr>
        <p:spPr>
          <a:xfrm>
            <a:off x="455374" y="2625464"/>
            <a:ext cx="9144000" cy="123110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a:ea typeface="Calibri"/>
                <a:cs typeface="Calibri"/>
              </a:rPr>
              <a:t>Disadvantages Of DT-DSM: ​</a:t>
            </a:r>
            <a:br>
              <a:rPr lang="en-US" sz="2800" b="1">
                <a:ea typeface="Calibri"/>
                <a:cs typeface="Calibri"/>
              </a:rPr>
            </a:br>
            <a:r>
              <a:rPr lang="en-US" sz="2800" b="1">
                <a:ea typeface="Calibri"/>
                <a:cs typeface="Calibri"/>
              </a:rPr>
              <a:t>​</a:t>
            </a:r>
            <a:r>
              <a:rPr lang="en-US" sz="2400" b="1">
                <a:ea typeface="Calibri"/>
                <a:cs typeface="Calibri"/>
              </a:rPr>
              <a:t> </a:t>
            </a:r>
            <a:r>
              <a:rPr lang="en-US" sz="2400">
                <a:ea typeface="Calibri"/>
                <a:cs typeface="Calibri"/>
              </a:rPr>
              <a:t>SNR Effected by Gain Bandwidth </a:t>
            </a:r>
          </a:p>
          <a:p>
            <a:pPr algn="ctr"/>
            <a:endParaRPr lang="en-US"/>
          </a:p>
        </p:txBody>
      </p:sp>
      <p:pic>
        <p:nvPicPr>
          <p:cNvPr id="5" name="Picture 4" descr="A graph of a sound wave&#10;&#10;AI-generated content may be incorrect.">
            <a:extLst>
              <a:ext uri="{FF2B5EF4-FFF2-40B4-BE49-F238E27FC236}">
                <a16:creationId xmlns:a16="http://schemas.microsoft.com/office/drawing/2014/main" id="{96969C28-C41E-AB2A-FA63-06005CB646B2}"/>
              </a:ext>
            </a:extLst>
          </p:cNvPr>
          <p:cNvPicPr>
            <a:picLocks noChangeAspect="1"/>
          </p:cNvPicPr>
          <p:nvPr/>
        </p:nvPicPr>
        <p:blipFill>
          <a:blip r:embed="rId2"/>
          <a:srcRect l="-527" t="-337" r="39623" b="962"/>
          <a:stretch>
            <a:fillRect/>
          </a:stretch>
        </p:blipFill>
        <p:spPr>
          <a:xfrm>
            <a:off x="9918081" y="5897380"/>
            <a:ext cx="8225393" cy="3109388"/>
          </a:xfrm>
          <a:prstGeom prst="rect">
            <a:avLst/>
          </a:prstGeom>
        </p:spPr>
      </p:pic>
      <p:sp>
        <p:nvSpPr>
          <p:cNvPr id="6" name="TextBox 9">
            <a:extLst>
              <a:ext uri="{FF2B5EF4-FFF2-40B4-BE49-F238E27FC236}">
                <a16:creationId xmlns:a16="http://schemas.microsoft.com/office/drawing/2014/main" id="{230AB395-DCE6-17D7-79CB-D25594B7A05D}"/>
              </a:ext>
            </a:extLst>
          </p:cNvPr>
          <p:cNvSpPr txBox="1"/>
          <p:nvPr/>
        </p:nvSpPr>
        <p:spPr>
          <a:xfrm>
            <a:off x="12366843" y="3869151"/>
            <a:ext cx="3937000" cy="83099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a:ea typeface="+mn-lt"/>
                <a:cs typeface="+mn-lt"/>
              </a:rPr>
              <a:t>Spectrum Of the Filter Output</a:t>
            </a:r>
          </a:p>
          <a:p>
            <a:pPr algn="ctr"/>
            <a:r>
              <a:rPr lang="en-US" sz="2400" b="1">
                <a:ea typeface="Calibri"/>
                <a:cs typeface="Calibri"/>
              </a:rPr>
              <a:t>At GBW = 1e6</a:t>
            </a:r>
            <a:endParaRPr lang="en-US" sz="2400" b="1"/>
          </a:p>
        </p:txBody>
      </p:sp>
      <p:sp>
        <p:nvSpPr>
          <p:cNvPr id="7" name="TextBox 10">
            <a:extLst>
              <a:ext uri="{FF2B5EF4-FFF2-40B4-BE49-F238E27FC236}">
                <a16:creationId xmlns:a16="http://schemas.microsoft.com/office/drawing/2014/main" id="{BD9C4516-6B72-0E2D-A33F-E287DA41B96B}"/>
              </a:ext>
            </a:extLst>
          </p:cNvPr>
          <p:cNvSpPr txBox="1"/>
          <p:nvPr/>
        </p:nvSpPr>
        <p:spPr>
          <a:xfrm>
            <a:off x="12250515" y="9000682"/>
            <a:ext cx="4095750" cy="83099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baseline="0">
                <a:latin typeface="Calibri"/>
              </a:rPr>
              <a:t>Spectrum Of the Filter Output </a:t>
            </a:r>
            <a:r>
              <a:rPr lang="en-US" sz="2400">
                <a:latin typeface="Calibri"/>
                <a:ea typeface="Calibri"/>
                <a:cs typeface="Calibri"/>
              </a:rPr>
              <a:t>​</a:t>
            </a:r>
            <a:endParaRPr lang="en-US" sz="2400">
              <a:ea typeface="Calibri"/>
              <a:cs typeface="Calibri"/>
            </a:endParaRPr>
          </a:p>
          <a:p>
            <a:pPr algn="ctr"/>
            <a:r>
              <a:rPr lang="en-US" sz="2400" b="1">
                <a:ea typeface="Calibri"/>
                <a:cs typeface="Calibri"/>
              </a:rPr>
              <a:t>At GBW = 1e4</a:t>
            </a:r>
          </a:p>
        </p:txBody>
      </p:sp>
      <p:cxnSp>
        <p:nvCxnSpPr>
          <p:cNvPr id="8" name="Straight Arrow Connector 7">
            <a:extLst>
              <a:ext uri="{FF2B5EF4-FFF2-40B4-BE49-F238E27FC236}">
                <a16:creationId xmlns:a16="http://schemas.microsoft.com/office/drawing/2014/main" id="{3B4BDBD1-165D-9BBD-08B1-AE50CC51A22F}"/>
              </a:ext>
            </a:extLst>
          </p:cNvPr>
          <p:cNvCxnSpPr/>
          <p:nvPr/>
        </p:nvCxnSpPr>
        <p:spPr>
          <a:xfrm>
            <a:off x="12324531" y="5584453"/>
            <a:ext cx="9525" cy="1874722"/>
          </a:xfrm>
          <a:prstGeom prst="straightConnector1">
            <a:avLst/>
          </a:prstGeom>
          <a:ln>
            <a:solidFill>
              <a:srgbClr val="E46C0A"/>
            </a:solidFill>
            <a:tailEnd type="triangle"/>
          </a:ln>
        </p:spPr>
        <p:style>
          <a:lnRef idx="3">
            <a:schemeClr val="accent2"/>
          </a:lnRef>
          <a:fillRef idx="0">
            <a:schemeClr val="accent2"/>
          </a:fillRef>
          <a:effectRef idx="2">
            <a:schemeClr val="accent2"/>
          </a:effectRef>
          <a:fontRef idx="minor">
            <a:schemeClr val="tx1"/>
          </a:fontRef>
        </p:style>
      </p:cxnSp>
      <p:sp>
        <p:nvSpPr>
          <p:cNvPr id="9" name="TextBox 13">
            <a:extLst>
              <a:ext uri="{FF2B5EF4-FFF2-40B4-BE49-F238E27FC236}">
                <a16:creationId xmlns:a16="http://schemas.microsoft.com/office/drawing/2014/main" id="{C596986E-706B-F423-1CCE-24DD2A45A19C}"/>
              </a:ext>
            </a:extLst>
          </p:cNvPr>
          <p:cNvSpPr txBox="1"/>
          <p:nvPr/>
        </p:nvSpPr>
        <p:spPr>
          <a:xfrm>
            <a:off x="10812176" y="5138105"/>
            <a:ext cx="30480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a:ea typeface="Calibri"/>
                <a:cs typeface="Calibri"/>
              </a:rPr>
              <a:t>Increase In the Noise Floor</a:t>
            </a:r>
            <a:r>
              <a:rPr lang="en-US" sz="2800">
                <a:ea typeface="Calibri"/>
                <a:cs typeface="Calibri"/>
              </a:rPr>
              <a:t> </a:t>
            </a:r>
          </a:p>
        </p:txBody>
      </p:sp>
      <p:sp>
        <p:nvSpPr>
          <p:cNvPr id="17" name="TextBox 16">
            <a:extLst>
              <a:ext uri="{FF2B5EF4-FFF2-40B4-BE49-F238E27FC236}">
                <a16:creationId xmlns:a16="http://schemas.microsoft.com/office/drawing/2014/main" id="{A6D723D7-2222-4393-3611-62E9230CAF2B}"/>
              </a:ext>
            </a:extLst>
          </p:cNvPr>
          <p:cNvSpPr txBox="1"/>
          <p:nvPr/>
        </p:nvSpPr>
        <p:spPr>
          <a:xfrm>
            <a:off x="458716" y="4129093"/>
            <a:ext cx="9463816" cy="35413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800" b="1">
                <a:latin typeface="Calibri"/>
                <a:ea typeface="+mn-lt"/>
                <a:cs typeface="Poppins Bold"/>
              </a:rPr>
              <a:t>Reasons</a:t>
            </a:r>
            <a:r>
              <a:rPr lang="en-US" sz="2800">
                <a:latin typeface="Calibri"/>
                <a:ea typeface="+mn-lt"/>
                <a:cs typeface="Poppins Bold"/>
              </a:rPr>
              <a:t>:</a:t>
            </a:r>
            <a:endParaRPr lang="en-US" sz="2800" b="1">
              <a:latin typeface="Calibri"/>
              <a:ea typeface="+mn-lt"/>
              <a:cs typeface="Calibri"/>
            </a:endParaRPr>
          </a:p>
          <a:p>
            <a:pPr algn="just"/>
            <a:br>
              <a:rPr lang="en-US" sz="2400" b="1">
                <a:ea typeface="+mn-lt"/>
                <a:cs typeface="+mn-lt"/>
              </a:rPr>
            </a:br>
            <a:r>
              <a:rPr lang="en-US" sz="2400" b="1">
                <a:latin typeface="Calibri"/>
                <a:ea typeface="+mn-lt"/>
                <a:cs typeface="+mn-lt"/>
              </a:rPr>
              <a:t>Slower Op-Amp Response:</a:t>
            </a:r>
            <a:r>
              <a:rPr lang="en-US" sz="2400">
                <a:latin typeface="Calibri"/>
                <a:ea typeface="+mn-lt"/>
                <a:cs typeface="+mn-lt"/>
              </a:rPr>
              <a:t> </a:t>
            </a:r>
            <a:endParaRPr lang="en-US" sz="2800" b="1">
              <a:latin typeface="Calibri"/>
              <a:ea typeface="+mn-lt"/>
              <a:cs typeface="+mn-lt"/>
            </a:endParaRPr>
          </a:p>
          <a:p>
            <a:pPr algn="just"/>
            <a:r>
              <a:rPr lang="en-US" sz="2400">
                <a:latin typeface="Calibri"/>
                <a:ea typeface="+mn-lt"/>
                <a:cs typeface="+mn-lt"/>
              </a:rPr>
              <a:t>A low-GBW op-amp cannot settle fully within one clock cycle, introducing </a:t>
            </a:r>
            <a:r>
              <a:rPr lang="en-US" sz="2400" b="1">
                <a:latin typeface="Calibri"/>
                <a:ea typeface="+mn-lt"/>
                <a:cs typeface="+mn-lt"/>
              </a:rPr>
              <a:t>settling error</a:t>
            </a:r>
            <a:r>
              <a:rPr lang="en-US" sz="2400">
                <a:latin typeface="Calibri"/>
                <a:ea typeface="+mn-lt"/>
                <a:cs typeface="+mn-lt"/>
              </a:rPr>
              <a:t>, which adds extra noise.</a:t>
            </a:r>
          </a:p>
          <a:p>
            <a:pPr algn="just"/>
            <a:endParaRPr lang="en-US" sz="2400">
              <a:latin typeface="Calibri"/>
              <a:ea typeface="+mn-lt"/>
              <a:cs typeface="Calibri"/>
            </a:endParaRPr>
          </a:p>
          <a:p>
            <a:pPr algn="just"/>
            <a:r>
              <a:rPr lang="en-US" sz="2400" b="1">
                <a:latin typeface="Calibri"/>
                <a:ea typeface="+mn-lt"/>
                <a:cs typeface="Poppins"/>
              </a:rPr>
              <a:t>Integrator Becomes Non-Ideal:</a:t>
            </a:r>
          </a:p>
          <a:p>
            <a:pPr algn="just"/>
            <a:r>
              <a:rPr lang="en-US" sz="2400">
                <a:latin typeface="Calibri"/>
                <a:ea typeface="+mn-lt"/>
                <a:cs typeface="Poppins"/>
              </a:rPr>
              <a:t>The integrator no longer behaves like an ideal 1/s integrator and becomes a leaky/attenuated integrator.</a:t>
            </a:r>
            <a:endParaRPr lang="en-US" sz="2400">
              <a:latin typeface="Calibri"/>
              <a:ea typeface="Calibri"/>
              <a:cs typeface="Poppins"/>
            </a:endParaRPr>
          </a:p>
        </p:txBody>
      </p:sp>
      <p:pic>
        <p:nvPicPr>
          <p:cNvPr id="2" name="Picture 1" descr="A screen shot of a graph&#10;&#10;AI-generated content may be incorrect.">
            <a:extLst>
              <a:ext uri="{FF2B5EF4-FFF2-40B4-BE49-F238E27FC236}">
                <a16:creationId xmlns:a16="http://schemas.microsoft.com/office/drawing/2014/main" id="{B11BF5E5-A826-FD31-B33D-021DC03E67E2}"/>
              </a:ext>
            </a:extLst>
          </p:cNvPr>
          <p:cNvPicPr>
            <a:picLocks noChangeAspect="1"/>
          </p:cNvPicPr>
          <p:nvPr/>
        </p:nvPicPr>
        <p:blipFill>
          <a:blip r:embed="rId3"/>
          <a:stretch>
            <a:fillRect/>
          </a:stretch>
        </p:blipFill>
        <p:spPr>
          <a:xfrm>
            <a:off x="10080841" y="777875"/>
            <a:ext cx="8072652" cy="3095625"/>
          </a:xfrm>
          <a:prstGeom prst="rect">
            <a:avLst/>
          </a:prstGeom>
        </p:spPr>
      </p:pic>
    </p:spTree>
    <p:extLst>
      <p:ext uri="{BB962C8B-B14F-4D97-AF65-F5344CB8AC3E}">
        <p14:creationId xmlns:p14="http://schemas.microsoft.com/office/powerpoint/2010/main" val="4190979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A75AA-3F93-DE2E-634C-1AD8A22D26E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2D5B065-E68C-A7CD-FEC7-BFE3989B6142}"/>
              </a:ext>
            </a:extLst>
          </p:cNvPr>
          <p:cNvSpPr/>
          <p:nvPr/>
        </p:nvSpPr>
        <p:spPr>
          <a:xfrm>
            <a:off x="4942" y="5089575"/>
            <a:ext cx="18277339" cy="5195448"/>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diagram of a block diagram&#10;&#10;AI-generated content may be incorrect.">
            <a:extLst>
              <a:ext uri="{FF2B5EF4-FFF2-40B4-BE49-F238E27FC236}">
                <a16:creationId xmlns:a16="http://schemas.microsoft.com/office/drawing/2014/main" id="{0601C2D4-58F0-51D7-2E1C-20DD8CABB471}"/>
              </a:ext>
            </a:extLst>
          </p:cNvPr>
          <p:cNvPicPr>
            <a:picLocks noChangeAspect="1"/>
          </p:cNvPicPr>
          <p:nvPr/>
        </p:nvPicPr>
        <p:blipFill>
          <a:blip r:embed="rId2"/>
          <a:stretch>
            <a:fillRect/>
          </a:stretch>
        </p:blipFill>
        <p:spPr>
          <a:xfrm>
            <a:off x="3590141" y="1652888"/>
            <a:ext cx="11112327" cy="2805918"/>
          </a:xfrm>
          <a:prstGeom prst="rect">
            <a:avLst/>
          </a:prstGeom>
          <a:ln>
            <a:noFill/>
          </a:ln>
          <a:effectLst>
            <a:outerShdw blurRad="190500" algn="tl" rotWithShape="0">
              <a:srgbClr val="000000">
                <a:alpha val="70000"/>
              </a:srgbClr>
            </a:outerShdw>
          </a:effectLst>
        </p:spPr>
      </p:pic>
      <p:sp>
        <p:nvSpPr>
          <p:cNvPr id="2" name="Rectangle 25">
            <a:extLst>
              <a:ext uri="{FF2B5EF4-FFF2-40B4-BE49-F238E27FC236}">
                <a16:creationId xmlns:a16="http://schemas.microsoft.com/office/drawing/2014/main" id="{D8BC5DE2-3208-5CD7-A780-9162DDBD7C72}"/>
              </a:ext>
            </a:extLst>
          </p:cNvPr>
          <p:cNvSpPr/>
          <p:nvPr/>
        </p:nvSpPr>
        <p:spPr>
          <a:xfrm>
            <a:off x="7375349" y="4455454"/>
            <a:ext cx="3546557" cy="481538"/>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600">
                <a:solidFill>
                  <a:schemeClr val="tx1"/>
                </a:solidFill>
                <a:latin typeface="Poppins"/>
                <a:ea typeface="Calibri"/>
                <a:cs typeface="Segoe UI"/>
              </a:rPr>
              <a:t>2nd Order Hybrid</a:t>
            </a:r>
          </a:p>
        </p:txBody>
      </p:sp>
      <p:sp>
        <p:nvSpPr>
          <p:cNvPr id="11" name="Rectangle 25">
            <a:extLst>
              <a:ext uri="{FF2B5EF4-FFF2-40B4-BE49-F238E27FC236}">
                <a16:creationId xmlns:a16="http://schemas.microsoft.com/office/drawing/2014/main" id="{2FFCD58E-C82C-AB87-D346-368CA366BC65}"/>
              </a:ext>
            </a:extLst>
          </p:cNvPr>
          <p:cNvSpPr/>
          <p:nvPr/>
        </p:nvSpPr>
        <p:spPr>
          <a:xfrm>
            <a:off x="11458822" y="8995330"/>
            <a:ext cx="3546557" cy="1295729"/>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r>
              <a:rPr lang="en-US" sz="2600" b="1">
                <a:solidFill>
                  <a:schemeClr val="tx1"/>
                </a:solidFill>
                <a:latin typeface="Poppins"/>
                <a:ea typeface="Segoe UI"/>
                <a:cs typeface="Segoe UI"/>
              </a:rPr>
              <a:t>Observation :</a:t>
            </a:r>
            <a:r>
              <a:rPr lang="en-US" sz="2600">
                <a:solidFill>
                  <a:schemeClr val="tx1"/>
                </a:solidFill>
                <a:latin typeface="Poppins"/>
                <a:ea typeface="Segoe UI"/>
                <a:cs typeface="Segoe UI"/>
              </a:rPr>
              <a:t>​</a:t>
            </a:r>
            <a:endParaRPr lang="en-US"/>
          </a:p>
          <a:p>
            <a:pPr algn="ctr"/>
            <a:r>
              <a:rPr lang="en-US" sz="2600" baseline="0">
                <a:solidFill>
                  <a:schemeClr val="tx1"/>
                </a:solidFill>
                <a:latin typeface="Poppins"/>
                <a:ea typeface="Segoe UI"/>
                <a:cs typeface="Segoe UI"/>
              </a:rPr>
              <a:t>SNR =</a:t>
            </a:r>
            <a:r>
              <a:rPr lang="en-US" sz="2600">
                <a:solidFill>
                  <a:schemeClr val="tx1"/>
                </a:solidFill>
                <a:latin typeface="Poppins"/>
                <a:ea typeface="Segoe UI"/>
                <a:cs typeface="Segoe UI"/>
              </a:rPr>
              <a:t>87.3 dB</a:t>
            </a:r>
            <a:endParaRPr lang="en-US">
              <a:solidFill>
                <a:schemeClr val="tx1"/>
              </a:solidFill>
              <a:ea typeface="Calibri"/>
              <a:cs typeface="Calibri"/>
            </a:endParaRPr>
          </a:p>
        </p:txBody>
      </p:sp>
      <p:sp>
        <p:nvSpPr>
          <p:cNvPr id="12" name="TextBox 11">
            <a:extLst>
              <a:ext uri="{FF2B5EF4-FFF2-40B4-BE49-F238E27FC236}">
                <a16:creationId xmlns:a16="http://schemas.microsoft.com/office/drawing/2014/main" id="{7027354B-09C4-0012-1678-B982BFBDF651}"/>
              </a:ext>
            </a:extLst>
          </p:cNvPr>
          <p:cNvSpPr txBox="1"/>
          <p:nvPr/>
        </p:nvSpPr>
        <p:spPr>
          <a:xfrm>
            <a:off x="11188754" y="5786777"/>
            <a:ext cx="4084543"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Poppins"/>
                <a:cs typeface="Poppins"/>
              </a:rPr>
              <a:t>Spectrum Of the Filter Output</a:t>
            </a:r>
            <a:r>
              <a:rPr lang="en-US">
                <a:latin typeface="Poppins"/>
                <a:cs typeface="Poppins"/>
              </a:rPr>
              <a:t> </a:t>
            </a:r>
            <a:r>
              <a:rPr lang="en-US">
                <a:latin typeface="Poppins"/>
                <a:ea typeface="Calibri"/>
                <a:cs typeface="Poppins"/>
              </a:rPr>
              <a:t>​</a:t>
            </a:r>
            <a:endParaRPr lang="en-US">
              <a:latin typeface="Poppins"/>
              <a:cs typeface="Poppins"/>
            </a:endParaRPr>
          </a:p>
          <a:p>
            <a:pPr algn="ctr"/>
            <a:endParaRPr lang="en-US"/>
          </a:p>
        </p:txBody>
      </p:sp>
      <p:sp>
        <p:nvSpPr>
          <p:cNvPr id="14" name="TextBox 13">
            <a:extLst>
              <a:ext uri="{FF2B5EF4-FFF2-40B4-BE49-F238E27FC236}">
                <a16:creationId xmlns:a16="http://schemas.microsoft.com/office/drawing/2014/main" id="{1913DC04-C23C-C4A7-9AC9-E6F2F01B8372}"/>
              </a:ext>
            </a:extLst>
          </p:cNvPr>
          <p:cNvSpPr txBox="1"/>
          <p:nvPr/>
        </p:nvSpPr>
        <p:spPr>
          <a:xfrm>
            <a:off x="338800" y="5151620"/>
            <a:ext cx="7660712" cy="51706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Arial"/>
              <a:buChar char="•"/>
            </a:pPr>
            <a:r>
              <a:rPr lang="en-US" sz="2200">
                <a:latin typeface="Poppins"/>
                <a:ea typeface="+mn-lt"/>
                <a:cs typeface="+mn-lt"/>
              </a:rPr>
              <a:t>Even though the </a:t>
            </a:r>
            <a:r>
              <a:rPr lang="en-US" sz="2200" b="1">
                <a:latin typeface="Poppins"/>
                <a:ea typeface="+mn-lt"/>
                <a:cs typeface="+mn-lt"/>
              </a:rPr>
              <a:t>2nd-order Hybrid achieved higher SNR (87.3 dB)</a:t>
            </a:r>
            <a:r>
              <a:rPr lang="en-US" sz="2200">
                <a:latin typeface="Poppins"/>
                <a:ea typeface="+mn-lt"/>
                <a:cs typeface="+mn-lt"/>
              </a:rPr>
              <a:t> than the 2nd-order DT-CIFF (83.5 dB), the improvement is </a:t>
            </a:r>
            <a:r>
              <a:rPr lang="en-US" sz="2200" b="1">
                <a:latin typeface="Poppins"/>
                <a:ea typeface="+mn-lt"/>
                <a:cs typeface="+mn-lt"/>
              </a:rPr>
              <a:t>small and still below the required 16-bit ENOB</a:t>
            </a:r>
            <a:r>
              <a:rPr lang="en-US" sz="2200">
                <a:latin typeface="Poppins"/>
                <a:ea typeface="+mn-lt"/>
                <a:cs typeface="+mn-lt"/>
              </a:rPr>
              <a:t>.</a:t>
            </a:r>
            <a:endParaRPr lang="en-US" sz="2200">
              <a:latin typeface="Poppins"/>
              <a:ea typeface="Calibri"/>
              <a:cs typeface="Calibri"/>
            </a:endParaRPr>
          </a:p>
          <a:p>
            <a:pPr marL="342900" indent="-342900" algn="just">
              <a:buFont typeface="Arial"/>
              <a:buChar char="•"/>
            </a:pPr>
            <a:endParaRPr lang="en-US" sz="2200">
              <a:latin typeface="Poppins"/>
              <a:ea typeface="+mn-lt"/>
              <a:cs typeface="+mn-lt"/>
            </a:endParaRPr>
          </a:p>
          <a:p>
            <a:pPr marL="342900" indent="-342900" algn="just">
              <a:buFont typeface="Arial"/>
              <a:buChar char="•"/>
            </a:pPr>
            <a:r>
              <a:rPr lang="en-US" sz="2200">
                <a:latin typeface="Poppins"/>
                <a:ea typeface="+mn-lt"/>
                <a:cs typeface="+mn-lt"/>
              </a:rPr>
              <a:t>The Hybrid structure combines </a:t>
            </a:r>
            <a:r>
              <a:rPr lang="en-US" sz="2200" b="1">
                <a:latin typeface="Poppins"/>
                <a:ea typeface="+mn-lt"/>
                <a:cs typeface="+mn-lt"/>
              </a:rPr>
              <a:t>CT + DT domains</a:t>
            </a:r>
            <a:r>
              <a:rPr lang="en-US" sz="2200">
                <a:latin typeface="Poppins"/>
                <a:ea typeface="+mn-lt"/>
                <a:cs typeface="+mn-lt"/>
              </a:rPr>
              <a:t>, which significantly increases </a:t>
            </a:r>
            <a:r>
              <a:rPr lang="en-US" sz="2200" b="1">
                <a:latin typeface="Poppins"/>
                <a:ea typeface="+mn-lt"/>
                <a:cs typeface="+mn-lt"/>
              </a:rPr>
              <a:t>analog complexity, verification effort, and sensitivity to clock/phase alignment</a:t>
            </a:r>
            <a:r>
              <a:rPr lang="en-US" sz="2200">
                <a:latin typeface="Poppins"/>
                <a:ea typeface="+mn-lt"/>
                <a:cs typeface="+mn-lt"/>
              </a:rPr>
              <a:t>.</a:t>
            </a:r>
            <a:endParaRPr lang="en-US" sz="2200">
              <a:latin typeface="Poppins"/>
              <a:ea typeface="Calibri"/>
              <a:cs typeface="Calibri"/>
            </a:endParaRPr>
          </a:p>
          <a:p>
            <a:pPr marL="342900" indent="-342900" algn="just">
              <a:buFont typeface="Arial"/>
              <a:buChar char="•"/>
            </a:pPr>
            <a:endParaRPr lang="en-US" sz="2200">
              <a:latin typeface="Poppins"/>
              <a:ea typeface="+mn-lt"/>
              <a:cs typeface="+mn-lt"/>
            </a:endParaRPr>
          </a:p>
          <a:p>
            <a:pPr marL="342900" indent="-342900" algn="just">
              <a:buFont typeface="Arial"/>
              <a:buChar char="•"/>
            </a:pPr>
            <a:r>
              <a:rPr lang="en-US" sz="2200">
                <a:latin typeface="Poppins"/>
                <a:ea typeface="+mn-lt"/>
                <a:cs typeface="+mn-lt"/>
              </a:rPr>
              <a:t>Implementing Hybrid DSM requires </a:t>
            </a:r>
            <a:r>
              <a:rPr lang="en-US" sz="2200" b="1">
                <a:latin typeface="Poppins"/>
                <a:ea typeface="+mn-lt"/>
                <a:cs typeface="+mn-lt"/>
              </a:rPr>
              <a:t>additional analog blocks, inter-domain DAC paths,</a:t>
            </a:r>
            <a:br>
              <a:rPr lang="en-US" sz="2200" b="1">
                <a:latin typeface="Poppins"/>
                <a:ea typeface="+mn-lt"/>
                <a:cs typeface="+mn-lt"/>
              </a:rPr>
            </a:br>
            <a:r>
              <a:rPr lang="en-US" sz="2200" b="1">
                <a:latin typeface="Poppins"/>
                <a:ea typeface="+mn-lt"/>
                <a:cs typeface="+mn-lt"/>
              </a:rPr>
              <a:t> precise timing, and calibration circuitry</a:t>
            </a:r>
            <a:r>
              <a:rPr lang="en-US" sz="2200">
                <a:latin typeface="Poppins"/>
                <a:ea typeface="+mn-lt"/>
                <a:cs typeface="+mn-lt"/>
              </a:rPr>
              <a:t>, making its hardware cost </a:t>
            </a:r>
            <a:r>
              <a:rPr lang="en-US" sz="2200" b="1">
                <a:latin typeface="Poppins"/>
                <a:ea typeface="+mn-lt"/>
                <a:cs typeface="+mn-lt"/>
              </a:rPr>
              <a:t>equivalent to a 4th-order DT modulator</a:t>
            </a:r>
            <a:r>
              <a:rPr lang="en-US" sz="2200">
                <a:latin typeface="Poppins"/>
                <a:ea typeface="+mn-lt"/>
                <a:cs typeface="+mn-lt"/>
              </a:rPr>
              <a:t>.</a:t>
            </a:r>
            <a:endParaRPr lang="en-US" sz="2200">
              <a:latin typeface="Poppins"/>
              <a:ea typeface="Calibri"/>
              <a:cs typeface="Calibri"/>
            </a:endParaRPr>
          </a:p>
        </p:txBody>
      </p:sp>
      <p:pic>
        <p:nvPicPr>
          <p:cNvPr id="5" name="Picture 4" descr="A screen shot of a graph&#10;&#10;AI-generated content may be incorrect.">
            <a:extLst>
              <a:ext uri="{FF2B5EF4-FFF2-40B4-BE49-F238E27FC236}">
                <a16:creationId xmlns:a16="http://schemas.microsoft.com/office/drawing/2014/main" id="{D61B8617-871D-34E6-2C33-04A834B76235}"/>
              </a:ext>
            </a:extLst>
          </p:cNvPr>
          <p:cNvPicPr>
            <a:picLocks noChangeAspect="1"/>
          </p:cNvPicPr>
          <p:nvPr/>
        </p:nvPicPr>
        <p:blipFill>
          <a:blip r:embed="rId3"/>
          <a:stretch>
            <a:fillRect/>
          </a:stretch>
        </p:blipFill>
        <p:spPr>
          <a:xfrm>
            <a:off x="8500220" y="6412439"/>
            <a:ext cx="9459446" cy="2545603"/>
          </a:xfrm>
          <a:prstGeom prst="rect">
            <a:avLst/>
          </a:prstGeom>
        </p:spPr>
      </p:pic>
      <p:sp>
        <p:nvSpPr>
          <p:cNvPr id="8" name="Rectangle: Rounded Corners 7">
            <a:extLst>
              <a:ext uri="{FF2B5EF4-FFF2-40B4-BE49-F238E27FC236}">
                <a16:creationId xmlns:a16="http://schemas.microsoft.com/office/drawing/2014/main" id="{EEBC4342-AAB2-DA1D-6139-5EF0D67122EC}"/>
              </a:ext>
            </a:extLst>
          </p:cNvPr>
          <p:cNvSpPr/>
          <p:nvPr/>
        </p:nvSpPr>
        <p:spPr>
          <a:xfrm>
            <a:off x="1581407" y="-311569"/>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13" name="TextBox 12">
            <a:extLst>
              <a:ext uri="{FF2B5EF4-FFF2-40B4-BE49-F238E27FC236}">
                <a16:creationId xmlns:a16="http://schemas.microsoft.com/office/drawing/2014/main" id="{2A4CBDDF-B3DD-EA02-53BD-F3C5B78B3ADA}"/>
              </a:ext>
            </a:extLst>
          </p:cNvPr>
          <p:cNvSpPr txBox="1"/>
          <p:nvPr/>
        </p:nvSpPr>
        <p:spPr>
          <a:xfrm>
            <a:off x="6541742" y="140268"/>
            <a:ext cx="521823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solidFill>
                  <a:schemeClr val="bg1"/>
                </a:solidFill>
                <a:ea typeface="Calibri"/>
                <a:cs typeface="Calibri"/>
              </a:rPr>
              <a:t>Hybrid Modulator</a:t>
            </a:r>
            <a:endParaRPr lang="en-US" sz="5400">
              <a:solidFill>
                <a:schemeClr val="bg1"/>
              </a:solidFill>
            </a:endParaRPr>
          </a:p>
        </p:txBody>
      </p:sp>
    </p:spTree>
    <p:extLst>
      <p:ext uri="{BB962C8B-B14F-4D97-AF65-F5344CB8AC3E}">
        <p14:creationId xmlns:p14="http://schemas.microsoft.com/office/powerpoint/2010/main" val="16969496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BE9FD-E8CD-9F46-8D43-B165E391A763}"/>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D9E5820C-5D78-A662-E193-462D8E5185BD}"/>
              </a:ext>
            </a:extLst>
          </p:cNvPr>
          <p:cNvSpPr txBox="1"/>
          <p:nvPr/>
        </p:nvSpPr>
        <p:spPr>
          <a:xfrm>
            <a:off x="1252675" y="7721643"/>
            <a:ext cx="1669427" cy="322287"/>
          </a:xfrm>
          <a:prstGeom prst="rect">
            <a:avLst/>
          </a:prstGeom>
        </p:spPr>
        <p:txBody>
          <a:bodyPr lIns="0" tIns="0" rIns="0" bIns="0" rtlCol="0" anchor="t">
            <a:spAutoFit/>
          </a:bodyPr>
          <a:lstStyle/>
          <a:p>
            <a:pPr algn="l">
              <a:lnSpc>
                <a:spcPts val="2576"/>
              </a:lnSpc>
            </a:pPr>
            <a:r>
              <a:rPr lang="en-US" sz="1840" b="1">
                <a:solidFill>
                  <a:srgbClr val="FFFFFF"/>
                </a:solidFill>
                <a:latin typeface="Poppins Bold"/>
                <a:ea typeface="Poppins Bold"/>
                <a:cs typeface="Poppins Bold"/>
                <a:sym typeface="Poppins Bold"/>
              </a:rPr>
              <a:t>1.6 Billion</a:t>
            </a:r>
          </a:p>
        </p:txBody>
      </p:sp>
      <p:sp>
        <p:nvSpPr>
          <p:cNvPr id="5" name="TextBox 5">
            <a:extLst>
              <a:ext uri="{FF2B5EF4-FFF2-40B4-BE49-F238E27FC236}">
                <a16:creationId xmlns:a16="http://schemas.microsoft.com/office/drawing/2014/main" id="{6B432E8E-EEA4-F44A-5B6B-38284700257F}"/>
              </a:ext>
            </a:extLst>
          </p:cNvPr>
          <p:cNvSpPr txBox="1"/>
          <p:nvPr/>
        </p:nvSpPr>
        <p:spPr>
          <a:xfrm>
            <a:off x="1252675" y="8075088"/>
            <a:ext cx="1669427" cy="148590"/>
          </a:xfrm>
          <a:prstGeom prst="rect">
            <a:avLst/>
          </a:prstGeom>
        </p:spPr>
        <p:txBody>
          <a:bodyPr lIns="0" tIns="0" rIns="0" bIns="0" rtlCol="0" anchor="t">
            <a:spAutoFit/>
          </a:bodyPr>
          <a:lstStyle/>
          <a:p>
            <a:pPr algn="l">
              <a:lnSpc>
                <a:spcPts val="1259"/>
              </a:lnSpc>
            </a:pPr>
            <a:r>
              <a:rPr lang="en-US" sz="899" b="1">
                <a:solidFill>
                  <a:srgbClr val="FFFFFF"/>
                </a:solidFill>
                <a:latin typeface="Poppins Bold"/>
                <a:ea typeface="Poppins Bold"/>
                <a:cs typeface="Poppins Bold"/>
                <a:sym typeface="Poppins Bold"/>
              </a:rPr>
              <a:t>Total Available Market </a:t>
            </a:r>
          </a:p>
        </p:txBody>
      </p:sp>
      <p:sp>
        <p:nvSpPr>
          <p:cNvPr id="6" name="TextBox 6">
            <a:extLst>
              <a:ext uri="{FF2B5EF4-FFF2-40B4-BE49-F238E27FC236}">
                <a16:creationId xmlns:a16="http://schemas.microsoft.com/office/drawing/2014/main" id="{A4F97CD1-B91B-7337-710A-A59BC54BD3B9}"/>
              </a:ext>
            </a:extLst>
          </p:cNvPr>
          <p:cNvSpPr txBox="1"/>
          <p:nvPr/>
        </p:nvSpPr>
        <p:spPr>
          <a:xfrm>
            <a:off x="742959" y="7501021"/>
            <a:ext cx="77137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TAM</a:t>
            </a:r>
          </a:p>
        </p:txBody>
      </p:sp>
      <p:sp>
        <p:nvSpPr>
          <p:cNvPr id="8" name="TextBox 8">
            <a:extLst>
              <a:ext uri="{FF2B5EF4-FFF2-40B4-BE49-F238E27FC236}">
                <a16:creationId xmlns:a16="http://schemas.microsoft.com/office/drawing/2014/main" id="{32074024-2F7D-D33A-F3EC-4B4F8046900F}"/>
              </a:ext>
            </a:extLst>
          </p:cNvPr>
          <p:cNvSpPr txBox="1"/>
          <p:nvPr/>
        </p:nvSpPr>
        <p:spPr>
          <a:xfrm>
            <a:off x="3764298" y="8096835"/>
            <a:ext cx="2095788" cy="148590"/>
          </a:xfrm>
          <a:prstGeom prst="rect">
            <a:avLst/>
          </a:prstGeom>
        </p:spPr>
        <p:txBody>
          <a:bodyPr lIns="0" tIns="0" rIns="0" bIns="0" rtlCol="0" anchor="t">
            <a:spAutoFit/>
          </a:bodyPr>
          <a:lstStyle/>
          <a:p>
            <a:pPr algn="l">
              <a:lnSpc>
                <a:spcPts val="1260"/>
              </a:lnSpc>
            </a:pPr>
            <a:r>
              <a:rPr lang="en-US" sz="900" b="1">
                <a:solidFill>
                  <a:srgbClr val="FFFFFF"/>
                </a:solidFill>
                <a:latin typeface="Poppins Bold"/>
                <a:ea typeface="Poppins Bold"/>
                <a:cs typeface="Poppins Bold"/>
                <a:sym typeface="Poppins Bold"/>
              </a:rPr>
              <a:t>Serviceable Available Market </a:t>
            </a:r>
          </a:p>
        </p:txBody>
      </p:sp>
      <p:sp>
        <p:nvSpPr>
          <p:cNvPr id="9" name="TextBox 9">
            <a:extLst>
              <a:ext uri="{FF2B5EF4-FFF2-40B4-BE49-F238E27FC236}">
                <a16:creationId xmlns:a16="http://schemas.microsoft.com/office/drawing/2014/main" id="{7A549CA4-A9CF-C802-2470-DDD0611ABCB2}"/>
              </a:ext>
            </a:extLst>
          </p:cNvPr>
          <p:cNvSpPr txBox="1"/>
          <p:nvPr/>
        </p:nvSpPr>
        <p:spPr>
          <a:xfrm>
            <a:off x="3254582" y="7501021"/>
            <a:ext cx="69398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SAM</a:t>
            </a:r>
          </a:p>
        </p:txBody>
      </p:sp>
      <p:sp>
        <p:nvSpPr>
          <p:cNvPr id="10" name="TextBox 10">
            <a:extLst>
              <a:ext uri="{FF2B5EF4-FFF2-40B4-BE49-F238E27FC236}">
                <a16:creationId xmlns:a16="http://schemas.microsoft.com/office/drawing/2014/main" id="{F1896B04-2A76-B5A5-5C01-2028FC50EB04}"/>
              </a:ext>
            </a:extLst>
          </p:cNvPr>
          <p:cNvSpPr txBox="1"/>
          <p:nvPr/>
        </p:nvSpPr>
        <p:spPr>
          <a:xfrm>
            <a:off x="6275921" y="7721643"/>
            <a:ext cx="1666072" cy="322287"/>
          </a:xfrm>
          <a:prstGeom prst="rect">
            <a:avLst/>
          </a:prstGeom>
        </p:spPr>
        <p:txBody>
          <a:bodyPr lIns="0" tIns="0" rIns="0" bIns="0" rtlCol="0" anchor="t">
            <a:spAutoFit/>
          </a:bodyPr>
          <a:lstStyle/>
          <a:p>
            <a:pPr algn="l">
              <a:lnSpc>
                <a:spcPts val="2576"/>
              </a:lnSpc>
            </a:pPr>
            <a:r>
              <a:rPr lang="en-US" sz="1840" b="1">
                <a:solidFill>
                  <a:srgbClr val="FFFFFF"/>
                </a:solidFill>
                <a:latin typeface="Poppins Bold"/>
                <a:ea typeface="Poppins Bold"/>
                <a:cs typeface="Poppins Bold"/>
                <a:sym typeface="Poppins Bold"/>
              </a:rPr>
              <a:t>181 Million</a:t>
            </a:r>
          </a:p>
        </p:txBody>
      </p:sp>
      <p:sp>
        <p:nvSpPr>
          <p:cNvPr id="11" name="TextBox 11">
            <a:extLst>
              <a:ext uri="{FF2B5EF4-FFF2-40B4-BE49-F238E27FC236}">
                <a16:creationId xmlns:a16="http://schemas.microsoft.com/office/drawing/2014/main" id="{18474FD6-456D-A2B3-6E1C-60869CC98A0D}"/>
              </a:ext>
            </a:extLst>
          </p:cNvPr>
          <p:cNvSpPr txBox="1"/>
          <p:nvPr/>
        </p:nvSpPr>
        <p:spPr>
          <a:xfrm>
            <a:off x="6275921" y="8096835"/>
            <a:ext cx="2027367" cy="148590"/>
          </a:xfrm>
          <a:prstGeom prst="rect">
            <a:avLst/>
          </a:prstGeom>
        </p:spPr>
        <p:txBody>
          <a:bodyPr lIns="0" tIns="0" rIns="0" bIns="0" rtlCol="0" anchor="t">
            <a:spAutoFit/>
          </a:bodyPr>
          <a:lstStyle/>
          <a:p>
            <a:pPr algn="l">
              <a:lnSpc>
                <a:spcPts val="1260"/>
              </a:lnSpc>
            </a:pPr>
            <a:r>
              <a:rPr lang="en-US" sz="900" b="1">
                <a:solidFill>
                  <a:srgbClr val="FFFFFF"/>
                </a:solidFill>
                <a:latin typeface="Poppins Bold"/>
                <a:ea typeface="Poppins Bold"/>
                <a:cs typeface="Poppins Bold"/>
                <a:sym typeface="Poppins Bold"/>
              </a:rPr>
              <a:t>Serviceable Obtainable Market </a:t>
            </a:r>
          </a:p>
        </p:txBody>
      </p:sp>
      <p:sp>
        <p:nvSpPr>
          <p:cNvPr id="29" name="AutoShape 29">
            <a:extLst>
              <a:ext uri="{FF2B5EF4-FFF2-40B4-BE49-F238E27FC236}">
                <a16:creationId xmlns:a16="http://schemas.microsoft.com/office/drawing/2014/main" id="{737FBB80-A42B-124C-3163-947ED9C0DFFD}"/>
              </a:ext>
            </a:extLst>
          </p:cNvPr>
          <p:cNvSpPr/>
          <p:nvPr/>
        </p:nvSpPr>
        <p:spPr>
          <a:xfrm rot="5400000">
            <a:off x="3008122" y="7812274"/>
            <a:ext cx="659629" cy="0"/>
          </a:xfrm>
          <a:prstGeom prst="line">
            <a:avLst/>
          </a:prstGeom>
          <a:ln w="19050" cap="rnd">
            <a:solidFill>
              <a:srgbClr val="FFFFFF"/>
            </a:solidFill>
            <a:prstDash val="solid"/>
            <a:headEnd type="none" w="sm" len="sm"/>
            <a:tailEnd type="none" w="sm" len="sm"/>
          </a:ln>
        </p:spPr>
        <p:txBody>
          <a:bodyPr/>
          <a:lstStyle/>
          <a:p>
            <a:endParaRPr lang="en-IN"/>
          </a:p>
        </p:txBody>
      </p:sp>
      <p:graphicFrame>
        <p:nvGraphicFramePr>
          <p:cNvPr id="7" name="Table 6">
            <a:extLst>
              <a:ext uri="{FF2B5EF4-FFF2-40B4-BE49-F238E27FC236}">
                <a16:creationId xmlns:a16="http://schemas.microsoft.com/office/drawing/2014/main" id="{01787D96-F8F2-5902-7139-A187D4DF5824}"/>
              </a:ext>
            </a:extLst>
          </p:cNvPr>
          <p:cNvGraphicFramePr>
            <a:graphicFrameLocks noGrp="1"/>
          </p:cNvGraphicFramePr>
          <p:nvPr>
            <p:extLst>
              <p:ext uri="{D42A27DB-BD31-4B8C-83A1-F6EECF244321}">
                <p14:modId xmlns:p14="http://schemas.microsoft.com/office/powerpoint/2010/main" val="2786544097"/>
              </p:ext>
            </p:extLst>
          </p:nvPr>
        </p:nvGraphicFramePr>
        <p:xfrm>
          <a:off x="1881187" y="1782944"/>
          <a:ext cx="14506935" cy="7231527"/>
        </p:xfrm>
        <a:graphic>
          <a:graphicData uri="http://schemas.openxmlformats.org/drawingml/2006/table">
            <a:tbl>
              <a:tblPr bandRow="1">
                <a:tableStyleId>{5C22544A-7EE6-4342-B048-85BDC9FD1C3A}</a:tableStyleId>
              </a:tblPr>
              <a:tblGrid>
                <a:gridCol w="4621579">
                  <a:extLst>
                    <a:ext uri="{9D8B030D-6E8A-4147-A177-3AD203B41FA5}">
                      <a16:colId xmlns:a16="http://schemas.microsoft.com/office/drawing/2014/main" val="1325937469"/>
                    </a:ext>
                  </a:extLst>
                </a:gridCol>
                <a:gridCol w="4621579">
                  <a:extLst>
                    <a:ext uri="{9D8B030D-6E8A-4147-A177-3AD203B41FA5}">
                      <a16:colId xmlns:a16="http://schemas.microsoft.com/office/drawing/2014/main" val="197783903"/>
                    </a:ext>
                  </a:extLst>
                </a:gridCol>
                <a:gridCol w="5263777">
                  <a:extLst>
                    <a:ext uri="{9D8B030D-6E8A-4147-A177-3AD203B41FA5}">
                      <a16:colId xmlns:a16="http://schemas.microsoft.com/office/drawing/2014/main" val="2020799594"/>
                    </a:ext>
                  </a:extLst>
                </a:gridCol>
              </a:tblGrid>
              <a:tr h="502848">
                <a:tc>
                  <a:txBody>
                    <a:bodyPr/>
                    <a:lstStyle/>
                    <a:p>
                      <a:pPr algn="ctr">
                        <a:buNone/>
                      </a:pPr>
                      <a:r>
                        <a:rPr lang="en-US" sz="2800"/>
                        <a:t>Criterion</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75000"/>
                      </a:schemeClr>
                    </a:solidFill>
                  </a:tcPr>
                </a:tc>
                <a:tc>
                  <a:txBody>
                    <a:bodyPr/>
                    <a:lstStyle/>
                    <a:p>
                      <a:pPr algn="ctr">
                        <a:buNone/>
                      </a:pPr>
                      <a:r>
                        <a:rPr lang="en-US" sz="2800"/>
                        <a:t>CT</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75000"/>
                      </a:schemeClr>
                    </a:solidFill>
                  </a:tcPr>
                </a:tc>
                <a:tc>
                  <a:txBody>
                    <a:bodyPr/>
                    <a:lstStyle/>
                    <a:p>
                      <a:pPr algn="ctr">
                        <a:buNone/>
                      </a:pPr>
                      <a:r>
                        <a:rPr lang="en-US" sz="2800"/>
                        <a:t>DT</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75000"/>
                      </a:schemeClr>
                    </a:solidFill>
                  </a:tcPr>
                </a:tc>
                <a:extLst>
                  <a:ext uri="{0D108BD9-81ED-4DB2-BD59-A6C34878D82A}">
                    <a16:rowId xmlns:a16="http://schemas.microsoft.com/office/drawing/2014/main" val="1554968208"/>
                  </a:ext>
                </a:extLst>
              </a:tr>
              <a:tr h="718354">
                <a:tc>
                  <a:txBody>
                    <a:bodyPr/>
                    <a:lstStyle/>
                    <a:p>
                      <a:pPr algn="l">
                        <a:buNone/>
                      </a:pPr>
                      <a:r>
                        <a:rPr lang="en-US" sz="2400" b="1"/>
                        <a:t>ENOB (f</a:t>
                      </a:r>
                      <a:r>
                        <a:rPr lang="en-US" sz="2400" b="1" baseline="-25000"/>
                        <a:t>nyquist</a:t>
                      </a:r>
                      <a:r>
                        <a:rPr lang="en-US" sz="2400" b="1"/>
                        <a:t> 0.5–2 ksps)</a:t>
                      </a:r>
                      <a:endParaRPr lang="en-US" sz="2400" b="1" err="1"/>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tc>
                  <a:txBody>
                    <a:bodyPr/>
                    <a:lstStyle/>
                    <a:p>
                      <a:pPr algn="l">
                        <a:buNone/>
                      </a:pPr>
                      <a:r>
                        <a:rPr lang="en-US" sz="2400" b="0"/>
                        <a:t>&lt;16 bits (failed to reach target)</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tc>
                  <a:txBody>
                    <a:bodyPr/>
                    <a:lstStyle/>
                    <a:p>
                      <a:pPr algn="l">
                        <a:buNone/>
                      </a:pPr>
                      <a:r>
                        <a:rPr lang="en-US" sz="2400" b="0"/>
                        <a:t>&gt;16 bits (3rd-order CRFB)</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extLst>
                  <a:ext uri="{0D108BD9-81ED-4DB2-BD59-A6C34878D82A}">
                    <a16:rowId xmlns:a16="http://schemas.microsoft.com/office/drawing/2014/main" val="330887035"/>
                  </a:ext>
                </a:extLst>
              </a:tr>
              <a:tr h="718354">
                <a:tc>
                  <a:txBody>
                    <a:bodyPr/>
                    <a:lstStyle/>
                    <a:p>
                      <a:pPr algn="l">
                        <a:buNone/>
                      </a:pPr>
                      <a:r>
                        <a:rPr lang="en-US" sz="2400" b="1"/>
                        <a:t>Clock-jitter sensitivity</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tc>
                  <a:txBody>
                    <a:bodyPr/>
                    <a:lstStyle/>
                    <a:p>
                      <a:pPr algn="l">
                        <a:buNone/>
                      </a:pPr>
                      <a:r>
                        <a:rPr lang="en-US" sz="2400" b="0"/>
                        <a:t>High — severe SNR/peak changes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tc>
                  <a:txBody>
                    <a:bodyPr/>
                    <a:lstStyle/>
                    <a:p>
                      <a:pPr algn="l">
                        <a:buNone/>
                      </a:pPr>
                      <a:r>
                        <a:rPr lang="en-US" sz="2400" b="0"/>
                        <a:t>Low — minimal SNR change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extLst>
                  <a:ext uri="{0D108BD9-81ED-4DB2-BD59-A6C34878D82A}">
                    <a16:rowId xmlns:a16="http://schemas.microsoft.com/office/drawing/2014/main" val="1294637765"/>
                  </a:ext>
                </a:extLst>
              </a:tr>
              <a:tr h="1149368">
                <a:tc>
                  <a:txBody>
                    <a:bodyPr/>
                    <a:lstStyle/>
                    <a:p>
                      <a:pPr algn="l">
                        <a:buNone/>
                      </a:pPr>
                      <a:r>
                        <a:rPr lang="en-US" sz="2400" b="1"/>
                        <a:t>Op-amp non-ideal tolerance (GBW/SR/</a:t>
                      </a:r>
                      <a:r>
                        <a:rPr lang="el-GR" sz="2400" b="1"/>
                        <a:t>α)</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tc>
                  <a:txBody>
                    <a:bodyPr/>
                    <a:lstStyle/>
                    <a:p>
                      <a:pPr algn="l">
                        <a:buNone/>
                      </a:pPr>
                      <a:r>
                        <a:rPr lang="en-US" sz="2400" b="0"/>
                        <a:t>More tolerant in some CT configs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tc>
                  <a:txBody>
                    <a:bodyPr/>
                    <a:lstStyle/>
                    <a:p>
                      <a:pPr algn="l">
                        <a:buNone/>
                      </a:pPr>
                      <a:r>
                        <a:rPr lang="en-US" sz="2400" b="0"/>
                        <a:t>DT needs decent GBW/SR; ENOB drops if op-amps weak</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extLst>
                  <a:ext uri="{0D108BD9-81ED-4DB2-BD59-A6C34878D82A}">
                    <a16:rowId xmlns:a16="http://schemas.microsoft.com/office/drawing/2014/main" val="2219175590"/>
                  </a:ext>
                </a:extLst>
              </a:tr>
              <a:tr h="1029643">
                <a:tc>
                  <a:txBody>
                    <a:bodyPr/>
                    <a:lstStyle/>
                    <a:p>
                      <a:pPr algn="l">
                        <a:buNone/>
                      </a:pPr>
                      <a:r>
                        <a:rPr lang="en-US" sz="2400" b="1"/>
                        <a:t>Thermal-noise sensitivity (observed)</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tc>
                  <a:txBody>
                    <a:bodyPr/>
                    <a:lstStyle/>
                    <a:p>
                      <a:pPr algn="l">
                        <a:buNone/>
                      </a:pPr>
                      <a:r>
                        <a:rPr lang="en-US" sz="2400" b="0"/>
                        <a:t>Thermal adds directly to continuous signal → noticeable floor lift</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tc>
                  <a:txBody>
                    <a:bodyPr/>
                    <a:lstStyle/>
                    <a:p>
                      <a:pPr algn="l">
                        <a:buNone/>
                      </a:pPr>
                      <a:r>
                        <a:rPr lang="en-US" sz="2400" b="0"/>
                        <a:t>Thermal appears as </a:t>
                      </a:r>
                      <a:r>
                        <a:rPr lang="en-US" sz="2400" b="0" err="1"/>
                        <a:t>kT</a:t>
                      </a:r>
                      <a:r>
                        <a:rPr lang="en-US" sz="2400" b="0"/>
                        <a:t>/C in sampling → impact manageable with larger caps/OSR</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extLst>
                  <a:ext uri="{0D108BD9-81ED-4DB2-BD59-A6C34878D82A}">
                    <a16:rowId xmlns:a16="http://schemas.microsoft.com/office/drawing/2014/main" val="2667758840"/>
                  </a:ext>
                </a:extLst>
              </a:tr>
              <a:tr h="1364876">
                <a:tc>
                  <a:txBody>
                    <a:bodyPr/>
                    <a:lstStyle/>
                    <a:p>
                      <a:pPr algn="l">
                        <a:buNone/>
                      </a:pPr>
                      <a:r>
                        <a:rPr lang="en-US" sz="2400" b="1"/>
                        <a:t>Flicker-noise susceptibility (observed)</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tc>
                  <a:txBody>
                    <a:bodyPr/>
                    <a:lstStyle/>
                    <a:p>
                      <a:pPr algn="l">
                        <a:buNone/>
                      </a:pPr>
                      <a:r>
                        <a:rPr lang="en-US" sz="2400" b="0"/>
                        <a:t>Continuous operation → higher flicker influence at low </a:t>
                      </a:r>
                      <a:r>
                        <a:rPr lang="en-US" sz="2400" b="0" err="1"/>
                        <a:t>freq</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tc>
                  <a:txBody>
                    <a:bodyPr/>
                    <a:lstStyle/>
                    <a:p>
                      <a:pPr algn="l">
                        <a:buNone/>
                      </a:pPr>
                      <a:r>
                        <a:rPr lang="en-US" sz="2400" b="0"/>
                        <a:t>DT sampling reduces flicker impact; still significant without mitigation</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extLst>
                  <a:ext uri="{0D108BD9-81ED-4DB2-BD59-A6C34878D82A}">
                    <a16:rowId xmlns:a16="http://schemas.microsoft.com/office/drawing/2014/main" val="3637768106"/>
                  </a:ext>
                </a:extLst>
              </a:tr>
              <a:tr h="1573695">
                <a:tc>
                  <a:txBody>
                    <a:bodyPr/>
                    <a:lstStyle/>
                    <a:p>
                      <a:pPr algn="l">
                        <a:buNone/>
                      </a:pPr>
                      <a:r>
                        <a:rPr lang="en-US" sz="2400" b="1"/>
                        <a:t>Flicker mitigation (</a:t>
                      </a:r>
                      <a:r>
                        <a:rPr lang="en-US" sz="2400" b="1" err="1"/>
                        <a:t>simulink</a:t>
                      </a:r>
                      <a:r>
                        <a:rPr lang="en-US" sz="2400" b="1"/>
                        <a:t> results)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tc>
                  <a:txBody>
                    <a:bodyPr/>
                    <a:lstStyle/>
                    <a:p>
                      <a:pPr algn="l">
                        <a:buNone/>
                      </a:pPr>
                      <a:r>
                        <a:rPr lang="en-US" sz="2400" b="0"/>
                        <a:t>Auto Zeroing/chopping not deeply modeled for CT in our sims; mitigation is non-trivial</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tc>
                  <a:txBody>
                    <a:bodyPr/>
                    <a:lstStyle/>
                    <a:p>
                      <a:pPr algn="l">
                        <a:buNone/>
                      </a:pPr>
                      <a:r>
                        <a:rPr lang="en-US" sz="2400" b="0"/>
                        <a:t>Auto Zeroing implemented (delayed subtraction) → significant in-band noise reduction; chopping across loop increased in-band noise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extLst>
                  <a:ext uri="{0D108BD9-81ED-4DB2-BD59-A6C34878D82A}">
                    <a16:rowId xmlns:a16="http://schemas.microsoft.com/office/drawing/2014/main" val="3229133006"/>
                  </a:ext>
                </a:extLst>
              </a:tr>
            </a:tbl>
          </a:graphicData>
        </a:graphic>
      </p:graphicFrame>
      <p:sp>
        <p:nvSpPr>
          <p:cNvPr id="12" name="Rectangle: Rounded Corners 11">
            <a:extLst>
              <a:ext uri="{FF2B5EF4-FFF2-40B4-BE49-F238E27FC236}">
                <a16:creationId xmlns:a16="http://schemas.microsoft.com/office/drawing/2014/main" id="{56493AB5-DB13-88F4-9E4F-28DD2459495D}"/>
              </a:ext>
            </a:extLst>
          </p:cNvPr>
          <p:cNvSpPr/>
          <p:nvPr/>
        </p:nvSpPr>
        <p:spPr>
          <a:xfrm>
            <a:off x="1581407" y="-311569"/>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15" name="TextBox 14">
            <a:extLst>
              <a:ext uri="{FF2B5EF4-FFF2-40B4-BE49-F238E27FC236}">
                <a16:creationId xmlns:a16="http://schemas.microsoft.com/office/drawing/2014/main" id="{62F8AB97-590E-9498-48F9-50C9A85CD729}"/>
              </a:ext>
            </a:extLst>
          </p:cNvPr>
          <p:cNvSpPr txBox="1"/>
          <p:nvPr/>
        </p:nvSpPr>
        <p:spPr>
          <a:xfrm>
            <a:off x="6061351" y="140268"/>
            <a:ext cx="617901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solidFill>
                  <a:schemeClr val="bg1"/>
                </a:solidFill>
                <a:ea typeface="Calibri"/>
                <a:cs typeface="Calibri"/>
              </a:rPr>
              <a:t>Comparative Analysis</a:t>
            </a:r>
            <a:endParaRPr lang="en-US">
              <a:solidFill>
                <a:schemeClr val="bg1"/>
              </a:solidFill>
            </a:endParaRPr>
          </a:p>
        </p:txBody>
      </p:sp>
    </p:spTree>
    <p:extLst>
      <p:ext uri="{BB962C8B-B14F-4D97-AF65-F5344CB8AC3E}">
        <p14:creationId xmlns:p14="http://schemas.microsoft.com/office/powerpoint/2010/main" val="24348506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25">
            <a:extLst>
              <a:ext uri="{FF2B5EF4-FFF2-40B4-BE49-F238E27FC236}">
                <a16:creationId xmlns:a16="http://schemas.microsoft.com/office/drawing/2014/main" id="{4A47B049-82C1-C781-5DE2-980DB0DF7C14}"/>
              </a:ext>
            </a:extLst>
          </p:cNvPr>
          <p:cNvSpPr/>
          <p:nvPr/>
        </p:nvSpPr>
        <p:spPr>
          <a:xfrm>
            <a:off x="10412321" y="9276589"/>
            <a:ext cx="7375111" cy="826736"/>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25">
            <a:extLst>
              <a:ext uri="{FF2B5EF4-FFF2-40B4-BE49-F238E27FC236}">
                <a16:creationId xmlns:a16="http://schemas.microsoft.com/office/drawing/2014/main" id="{2FC4F47D-91EB-AAA9-D486-7AB4E8F64E79}"/>
              </a:ext>
            </a:extLst>
          </p:cNvPr>
          <p:cNvSpPr/>
          <p:nvPr/>
        </p:nvSpPr>
        <p:spPr>
          <a:xfrm>
            <a:off x="12093204" y="4654162"/>
            <a:ext cx="3946111" cy="641839"/>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C945DEA-FCA7-6C04-4240-8B965C4F5146}"/>
              </a:ext>
            </a:extLst>
          </p:cNvPr>
          <p:cNvSpPr/>
          <p:nvPr/>
        </p:nvSpPr>
        <p:spPr>
          <a:xfrm>
            <a:off x="-7660" y="1527117"/>
            <a:ext cx="9943737" cy="8763120"/>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0"/>
          <p:cNvSpPr txBox="1"/>
          <p:nvPr/>
        </p:nvSpPr>
        <p:spPr>
          <a:xfrm>
            <a:off x="12322085" y="2080051"/>
            <a:ext cx="3945214" cy="397475"/>
          </a:xfrm>
          <a:prstGeom prst="rect">
            <a:avLst/>
          </a:prstGeom>
        </p:spPr>
        <p:txBody>
          <a:bodyPr lIns="0" tIns="0" rIns="0" bIns="0" rtlCol="0" anchor="t">
            <a:spAutoFit/>
          </a:bodyPr>
          <a:lstStyle/>
          <a:p>
            <a:pPr algn="l">
              <a:lnSpc>
                <a:spcPts val="3057"/>
              </a:lnSpc>
            </a:pPr>
            <a:r>
              <a:rPr lang="en-US" sz="2183">
                <a:solidFill>
                  <a:srgbClr val="FFFFFF"/>
                </a:solidFill>
                <a:latin typeface="Poppins"/>
                <a:ea typeface="Poppins"/>
                <a:cs typeface="Poppins"/>
                <a:sym typeface="Poppins"/>
              </a:rPr>
              <a:t>Internet of Things Tools</a:t>
            </a:r>
          </a:p>
        </p:txBody>
      </p:sp>
      <p:sp>
        <p:nvSpPr>
          <p:cNvPr id="13" name="TextBox 13"/>
          <p:cNvSpPr txBox="1"/>
          <p:nvPr/>
        </p:nvSpPr>
        <p:spPr>
          <a:xfrm>
            <a:off x="11752132" y="6204149"/>
            <a:ext cx="4349624" cy="1862886"/>
          </a:xfrm>
          <a:prstGeom prst="rect">
            <a:avLst/>
          </a:prstGeom>
        </p:spPr>
        <p:txBody>
          <a:bodyPr lIns="0" tIns="0" rIns="0" bIns="0" rtlCol="0" anchor="t">
            <a:spAutoFit/>
          </a:bodyPr>
          <a:lstStyle/>
          <a:p>
            <a:pPr algn="l">
              <a:lnSpc>
                <a:spcPts val="2485"/>
              </a:lnSpc>
            </a:pPr>
            <a:r>
              <a:rPr lang="en-US" sz="1775">
                <a:solidFill>
                  <a:srgbClr val="FFFFFF"/>
                </a:solidFill>
                <a:latin typeface="Poppins"/>
                <a:ea typeface="Poppins"/>
                <a:cs typeface="Poppins"/>
                <a:sym typeface="Poppins"/>
              </a:rPr>
              <a:t>Describe one by one the products </a:t>
            </a:r>
          </a:p>
          <a:p>
            <a:pPr algn="l">
              <a:lnSpc>
                <a:spcPts val="2485"/>
              </a:lnSpc>
            </a:pPr>
            <a:r>
              <a:rPr lang="en-US" sz="1775">
                <a:solidFill>
                  <a:srgbClr val="FFFFFF"/>
                </a:solidFill>
                <a:latin typeface="Poppins"/>
                <a:ea typeface="Poppins"/>
                <a:cs typeface="Poppins"/>
                <a:sym typeface="Poppins"/>
              </a:rPr>
              <a:t>we have in detail and effectively. </a:t>
            </a:r>
          </a:p>
          <a:p>
            <a:pPr algn="l">
              <a:lnSpc>
                <a:spcPts val="2485"/>
              </a:lnSpc>
            </a:pPr>
            <a:r>
              <a:rPr lang="en-US" sz="1775">
                <a:solidFill>
                  <a:srgbClr val="FFFFFF"/>
                </a:solidFill>
                <a:latin typeface="Poppins"/>
                <a:ea typeface="Poppins"/>
                <a:cs typeface="Poppins"/>
                <a:sym typeface="Poppins"/>
              </a:rPr>
              <a:t>The more products/services</a:t>
            </a:r>
          </a:p>
          <a:p>
            <a:pPr algn="l">
              <a:lnSpc>
                <a:spcPts val="2485"/>
              </a:lnSpc>
            </a:pPr>
            <a:r>
              <a:rPr lang="en-US" sz="1775">
                <a:solidFill>
                  <a:srgbClr val="FFFFFF"/>
                </a:solidFill>
                <a:latin typeface="Poppins"/>
                <a:ea typeface="Poppins"/>
                <a:cs typeface="Poppins"/>
                <a:sym typeface="Poppins"/>
              </a:rPr>
              <a:t>we have, it can show the level of </a:t>
            </a:r>
          </a:p>
          <a:p>
            <a:pPr algn="l">
              <a:lnSpc>
                <a:spcPts val="2485"/>
              </a:lnSpc>
            </a:pPr>
            <a:r>
              <a:rPr lang="en-US" sz="1775">
                <a:solidFill>
                  <a:srgbClr val="FFFFFF"/>
                </a:solidFill>
                <a:latin typeface="Poppins"/>
                <a:ea typeface="Poppins"/>
                <a:cs typeface="Poppins"/>
                <a:sym typeface="Poppins"/>
              </a:rPr>
              <a:t>our exploration towards solving </a:t>
            </a:r>
          </a:p>
          <a:p>
            <a:pPr algn="l">
              <a:lnSpc>
                <a:spcPts val="2485"/>
              </a:lnSpc>
            </a:pPr>
            <a:r>
              <a:rPr lang="en-US" sz="1775">
                <a:solidFill>
                  <a:srgbClr val="FFFFFF"/>
                </a:solidFill>
                <a:latin typeface="Poppins"/>
                <a:ea typeface="Poppins"/>
                <a:cs typeface="Poppins"/>
                <a:sym typeface="Poppins"/>
              </a:rPr>
              <a:t>community and market problems.</a:t>
            </a:r>
          </a:p>
        </p:txBody>
      </p:sp>
      <p:sp>
        <p:nvSpPr>
          <p:cNvPr id="26" name="AutoShape 26"/>
          <p:cNvSpPr/>
          <p:nvPr/>
        </p:nvSpPr>
        <p:spPr>
          <a:xfrm rot="5400000">
            <a:off x="16399966" y="6264625"/>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27" name="TextBox 27"/>
          <p:cNvSpPr txBox="1"/>
          <p:nvPr/>
        </p:nvSpPr>
        <p:spPr>
          <a:xfrm rot="-5400000">
            <a:off x="17310518" y="8275412"/>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28" name="TextBox 28"/>
          <p:cNvSpPr txBox="1"/>
          <p:nvPr/>
        </p:nvSpPr>
        <p:spPr>
          <a:xfrm rot="-5400000">
            <a:off x="16161626" y="2739884"/>
            <a:ext cx="3231104" cy="272161"/>
          </a:xfrm>
          <a:prstGeom prst="rect">
            <a:avLst/>
          </a:prstGeom>
        </p:spPr>
        <p:txBody>
          <a:bodyPr lIns="0" tIns="0" rIns="0" bIns="0" rtlCol="0" anchor="t">
            <a:spAutoFit/>
          </a:bodyPr>
          <a:lstStyle/>
          <a:p>
            <a:pPr algn="ctr">
              <a:lnSpc>
                <a:spcPts val="2324"/>
              </a:lnSpc>
            </a:pPr>
            <a:r>
              <a:rPr lang="en-US" sz="1660">
                <a:solidFill>
                  <a:srgbClr val="FFFFFF"/>
                </a:solidFill>
                <a:latin typeface="Quicksand"/>
                <a:ea typeface="Quicksand"/>
                <a:cs typeface="Quicksand"/>
                <a:sym typeface="Quicksand"/>
              </a:rPr>
              <a:t>www.reallygreatsite.com </a:t>
            </a:r>
          </a:p>
        </p:txBody>
      </p:sp>
      <p:sp>
        <p:nvSpPr>
          <p:cNvPr id="32" name="TextBox 3">
            <a:extLst>
              <a:ext uri="{FF2B5EF4-FFF2-40B4-BE49-F238E27FC236}">
                <a16:creationId xmlns:a16="http://schemas.microsoft.com/office/drawing/2014/main" id="{897F5C60-7B29-2A8E-FBE7-DB4932A2FA62}"/>
              </a:ext>
            </a:extLst>
          </p:cNvPr>
          <p:cNvSpPr txBox="1"/>
          <p:nvPr/>
        </p:nvSpPr>
        <p:spPr>
          <a:xfrm>
            <a:off x="464384" y="1767070"/>
            <a:ext cx="3390902" cy="389081"/>
          </a:xfrm>
          <a:prstGeom prst="rect">
            <a:avLst/>
          </a:prstGeom>
        </p:spPr>
        <p:txBody>
          <a:bodyPr wrap="square" lIns="0" tIns="0" rIns="0" bIns="0" rtlCol="0" anchor="t">
            <a:spAutoFit/>
          </a:bodyPr>
          <a:lstStyle/>
          <a:p>
            <a:pPr algn="l">
              <a:lnSpc>
                <a:spcPts val="2973"/>
              </a:lnSpc>
            </a:pPr>
            <a:r>
              <a:rPr lang="en-US" sz="2800" b="1">
                <a:solidFill>
                  <a:schemeClr val="tx1">
                    <a:lumMod val="95000"/>
                    <a:lumOff val="5000"/>
                  </a:schemeClr>
                </a:solidFill>
                <a:latin typeface="Poppins Bold"/>
                <a:ea typeface="Poppins Bold"/>
                <a:cs typeface="Poppins Bold"/>
                <a:sym typeface="Poppins Bold"/>
              </a:rPr>
              <a:t>Noises Modelled  : </a:t>
            </a:r>
            <a:endParaRPr lang="en-US" sz="2800" b="1">
              <a:solidFill>
                <a:schemeClr val="tx1">
                  <a:lumMod val="95000"/>
                  <a:lumOff val="5000"/>
                </a:schemeClr>
              </a:solidFill>
              <a:latin typeface="Poppins Bold"/>
              <a:ea typeface="Poppins Bold"/>
              <a:cs typeface="Poppins Bold"/>
            </a:endParaRPr>
          </a:p>
        </p:txBody>
      </p:sp>
      <p:sp>
        <p:nvSpPr>
          <p:cNvPr id="36" name="TextBox 4">
            <a:extLst>
              <a:ext uri="{FF2B5EF4-FFF2-40B4-BE49-F238E27FC236}">
                <a16:creationId xmlns:a16="http://schemas.microsoft.com/office/drawing/2014/main" id="{284CD69D-F0B8-3A1F-B93B-3433B0F0FB85}"/>
              </a:ext>
            </a:extLst>
          </p:cNvPr>
          <p:cNvSpPr txBox="1"/>
          <p:nvPr/>
        </p:nvSpPr>
        <p:spPr>
          <a:xfrm>
            <a:off x="472048" y="2729199"/>
            <a:ext cx="5468314" cy="317010"/>
          </a:xfrm>
          <a:prstGeom prst="rect">
            <a:avLst/>
          </a:prstGeom>
        </p:spPr>
        <p:txBody>
          <a:bodyPr wrap="square" lIns="0" tIns="0" rIns="0" bIns="0" rtlCol="0" anchor="t">
            <a:spAutoFit/>
          </a:bodyPr>
          <a:lstStyle/>
          <a:p>
            <a:pPr marL="471805" lvl="1" indent="-285750">
              <a:lnSpc>
                <a:spcPts val="2420"/>
              </a:lnSpc>
              <a:buFont typeface="Arial" panose="020B0604020202020204" pitchFamily="34" charset="0"/>
              <a:buChar char="•"/>
            </a:pPr>
            <a:r>
              <a:rPr lang="en-US" sz="2400" b="1">
                <a:solidFill>
                  <a:schemeClr val="tx1">
                    <a:lumMod val="95000"/>
                    <a:lumOff val="5000"/>
                  </a:schemeClr>
                </a:solidFill>
                <a:latin typeface="Poppins"/>
                <a:ea typeface="Poppins"/>
                <a:cs typeface="Poppins"/>
                <a:sym typeface="Poppins"/>
              </a:rPr>
              <a:t>Flicker Noise</a:t>
            </a:r>
            <a:r>
              <a:rPr lang="en-US" sz="2400" b="1">
                <a:solidFill>
                  <a:srgbClr val="545454"/>
                </a:solidFill>
                <a:latin typeface="Poppins"/>
                <a:ea typeface="Poppins"/>
                <a:cs typeface="Poppins"/>
                <a:sym typeface="Poppins"/>
              </a:rPr>
              <a:t> </a:t>
            </a:r>
            <a:r>
              <a:rPr lang="en-US" sz="2400">
                <a:solidFill>
                  <a:srgbClr val="545454"/>
                </a:solidFill>
                <a:latin typeface="Poppins"/>
                <a:ea typeface="Poppins"/>
                <a:cs typeface="Poppins"/>
                <a:sym typeface="Poppins"/>
              </a:rPr>
              <a:t> </a:t>
            </a:r>
            <a:endParaRPr lang="en-US" sz="2400" b="1">
              <a:latin typeface="Poppins"/>
              <a:ea typeface="Poppins"/>
              <a:cs typeface="Poppins"/>
            </a:endParaRPr>
          </a:p>
        </p:txBody>
      </p:sp>
      <p:pic>
        <p:nvPicPr>
          <p:cNvPr id="45" name="Picture 44" descr="A diagram of a filter&#10;&#10;AI-generated content may be incorrect.">
            <a:extLst>
              <a:ext uri="{FF2B5EF4-FFF2-40B4-BE49-F238E27FC236}">
                <a16:creationId xmlns:a16="http://schemas.microsoft.com/office/drawing/2014/main" id="{9EC6BA67-8B32-1D9C-1D93-CED4453FF701}"/>
              </a:ext>
            </a:extLst>
          </p:cNvPr>
          <p:cNvPicPr>
            <a:picLocks noChangeAspect="1"/>
          </p:cNvPicPr>
          <p:nvPr/>
        </p:nvPicPr>
        <p:blipFill>
          <a:blip r:embed="rId2"/>
          <a:srcRect l="905" t="596" r="333" b="-289"/>
          <a:stretch>
            <a:fillRect/>
          </a:stretch>
        </p:blipFill>
        <p:spPr>
          <a:xfrm>
            <a:off x="10352192" y="1515068"/>
            <a:ext cx="7455686" cy="3207621"/>
          </a:xfrm>
          <a:prstGeom prst="rect">
            <a:avLst/>
          </a:prstGeom>
          <a:ln>
            <a:noFill/>
          </a:ln>
          <a:effectLst>
            <a:outerShdw blurRad="190500" algn="tl" rotWithShape="0">
              <a:srgbClr val="000000">
                <a:alpha val="70000"/>
              </a:srgbClr>
            </a:outerShdw>
          </a:effectLst>
        </p:spPr>
      </p:pic>
      <p:sp>
        <p:nvSpPr>
          <p:cNvPr id="49" name="TextBox 48">
            <a:extLst>
              <a:ext uri="{FF2B5EF4-FFF2-40B4-BE49-F238E27FC236}">
                <a16:creationId xmlns:a16="http://schemas.microsoft.com/office/drawing/2014/main" id="{37EE067B-E5CF-D8E2-31DC-D1230C79456C}"/>
              </a:ext>
            </a:extLst>
          </p:cNvPr>
          <p:cNvSpPr txBox="1"/>
          <p:nvPr/>
        </p:nvSpPr>
        <p:spPr>
          <a:xfrm>
            <a:off x="524256" y="5840090"/>
            <a:ext cx="9130241" cy="3416320"/>
          </a:xfrm>
          <a:prstGeom prst="rect">
            <a:avLst/>
          </a:prstGeom>
          <a:noFill/>
        </p:spPr>
        <p:txBody>
          <a:bodyPr wrap="square" lIns="91440" tIns="45720" rIns="91440" bIns="45720" anchor="t">
            <a:spAutoFit/>
          </a:bodyPr>
          <a:lstStyle/>
          <a:p>
            <a:pPr algn="just"/>
            <a:r>
              <a:rPr lang="en-US" sz="2400"/>
              <a:t>How we modeled it : </a:t>
            </a:r>
            <a:endParaRPr lang="en-US" sz="2400">
              <a:ea typeface="Calibri"/>
              <a:cs typeface="Calibri"/>
            </a:endParaRPr>
          </a:p>
          <a:p>
            <a:pPr marL="285750" indent="-285750" algn="just" fontAlgn="base">
              <a:buFont typeface="Arial" panose="020B0604020202020204" pitchFamily="34" charset="0"/>
              <a:buChar char="•"/>
            </a:pPr>
            <a:r>
              <a:rPr lang="en-US" sz="2400" b="1"/>
              <a:t> Create a continuous filter that approximates a 1/f response</a:t>
            </a:r>
            <a:r>
              <a:rPr lang="en-US" sz="2400"/>
              <a:t> using multiple logarithmically spaced pole–zero pairs.</a:t>
            </a:r>
            <a:endParaRPr lang="en-US" sz="2400">
              <a:ea typeface="Calibri"/>
              <a:cs typeface="Calibri"/>
            </a:endParaRPr>
          </a:p>
          <a:p>
            <a:pPr marL="285750" indent="-285750" algn="just" fontAlgn="base">
              <a:buFont typeface="Arial" panose="020B0604020202020204" pitchFamily="34" charset="0"/>
              <a:buChar char="•"/>
            </a:pPr>
            <a:r>
              <a:rPr lang="en-US" sz="2400" b="1"/>
              <a:t>Normalize the filter</a:t>
            </a:r>
            <a:r>
              <a:rPr lang="en-US" sz="2400"/>
              <a:t> so that its gain matches the physical noise at the corner frequency.</a:t>
            </a:r>
            <a:endParaRPr lang="en-US" sz="2400">
              <a:ea typeface="Calibri"/>
              <a:cs typeface="Calibri"/>
            </a:endParaRPr>
          </a:p>
          <a:p>
            <a:pPr marL="285750" indent="-285750" algn="just" fontAlgn="base">
              <a:buFont typeface="Arial" panose="020B0604020202020204" pitchFamily="34" charset="0"/>
              <a:buChar char="•"/>
            </a:pPr>
            <a:r>
              <a:rPr lang="en-US" sz="2400" b="1"/>
              <a:t>Convert the filter to discrete time</a:t>
            </a:r>
            <a:r>
              <a:rPr lang="en-US" sz="2400"/>
              <a:t> to match the simulation sampling rate.</a:t>
            </a:r>
            <a:endParaRPr lang="en-US" sz="2400">
              <a:ea typeface="Calibri"/>
              <a:cs typeface="Calibri"/>
            </a:endParaRPr>
          </a:p>
          <a:p>
            <a:pPr marL="285750" indent="-285750" algn="just" fontAlgn="base">
              <a:buFont typeface="Arial" panose="020B0604020202020204" pitchFamily="34" charset="0"/>
              <a:buChar char="•"/>
            </a:pPr>
            <a:r>
              <a:rPr lang="en-US" sz="2400" b="1"/>
              <a:t>Implement the filter in Simulink as a state-space system</a:t>
            </a:r>
            <a:r>
              <a:rPr lang="en-US" sz="2400"/>
              <a:t>.</a:t>
            </a:r>
            <a:endParaRPr lang="en-US" sz="2400">
              <a:ea typeface="Calibri"/>
              <a:cs typeface="Calibri"/>
            </a:endParaRPr>
          </a:p>
          <a:p>
            <a:pPr marL="285750" indent="-285750" algn="just">
              <a:buFont typeface="Arial" panose="020B0604020202020204" pitchFamily="34" charset="0"/>
              <a:buChar char="•"/>
            </a:pPr>
            <a:r>
              <a:rPr lang="en-US" sz="2400" b="1"/>
              <a:t>Drive the filter with white noise</a:t>
            </a:r>
            <a:r>
              <a:rPr lang="en-US" sz="2400"/>
              <a:t> to produce realistic flicker noise.</a:t>
            </a:r>
            <a:endParaRPr lang="en-US" sz="2400" b="1">
              <a:solidFill>
                <a:srgbClr val="545454"/>
              </a:solidFill>
              <a:latin typeface="Poppins"/>
              <a:ea typeface="Poppins"/>
              <a:cs typeface="Poppins"/>
            </a:endParaRPr>
          </a:p>
        </p:txBody>
      </p:sp>
      <p:sp>
        <p:nvSpPr>
          <p:cNvPr id="51" name="TextBox 50">
            <a:extLst>
              <a:ext uri="{FF2B5EF4-FFF2-40B4-BE49-F238E27FC236}">
                <a16:creationId xmlns:a16="http://schemas.microsoft.com/office/drawing/2014/main" id="{5F958159-0DE1-2110-7777-A6A0BF4595E3}"/>
              </a:ext>
            </a:extLst>
          </p:cNvPr>
          <p:cNvSpPr txBox="1"/>
          <p:nvPr/>
        </p:nvSpPr>
        <p:spPr>
          <a:xfrm>
            <a:off x="11986030" y="4725841"/>
            <a:ext cx="4163695" cy="477989"/>
          </a:xfrm>
          <a:prstGeom prst="rect">
            <a:avLst/>
          </a:prstGeom>
          <a:noFill/>
        </p:spPr>
        <p:txBody>
          <a:bodyPr wrap="square" lIns="91440" tIns="45720" rIns="91440" bIns="45720" anchor="t">
            <a:spAutoFit/>
          </a:bodyPr>
          <a:lstStyle/>
          <a:p>
            <a:pPr>
              <a:lnSpc>
                <a:spcPts val="2973"/>
              </a:lnSpc>
            </a:pPr>
            <a:r>
              <a:rPr lang="en-US" sz="2400">
                <a:solidFill>
                  <a:schemeClr val="tx1">
                    <a:lumMod val="95000"/>
                    <a:lumOff val="5000"/>
                  </a:schemeClr>
                </a:solidFill>
                <a:latin typeface="Calibri"/>
                <a:cs typeface="Poppins Bold"/>
                <a:sym typeface="Poppins Bold"/>
              </a:rPr>
              <a:t>Simulink Model Of Flicker Noise</a:t>
            </a:r>
            <a:endParaRPr lang="en-US" sz="2400">
              <a:solidFill>
                <a:schemeClr val="tx1">
                  <a:lumMod val="95000"/>
                  <a:lumOff val="5000"/>
                </a:schemeClr>
              </a:solidFill>
              <a:ea typeface="Calibri"/>
              <a:cs typeface="Poppins Bold"/>
            </a:endParaRPr>
          </a:p>
        </p:txBody>
      </p:sp>
      <p:pic>
        <p:nvPicPr>
          <p:cNvPr id="3" name="Picture 2" descr="A screen shot of a graph&#10;&#10;AI-generated content may be incorrect.">
            <a:extLst>
              <a:ext uri="{FF2B5EF4-FFF2-40B4-BE49-F238E27FC236}">
                <a16:creationId xmlns:a16="http://schemas.microsoft.com/office/drawing/2014/main" id="{6C1B3F4C-8CC4-9764-3CEF-F3BBA3DAFF92}"/>
              </a:ext>
            </a:extLst>
          </p:cNvPr>
          <p:cNvPicPr>
            <a:picLocks noChangeAspect="1"/>
          </p:cNvPicPr>
          <p:nvPr/>
        </p:nvPicPr>
        <p:blipFill>
          <a:blip r:embed="rId3"/>
          <a:srcRect l="226" t="10494" r="-226" b="39"/>
          <a:stretch>
            <a:fillRect/>
          </a:stretch>
        </p:blipFill>
        <p:spPr>
          <a:xfrm>
            <a:off x="10365882" y="5261129"/>
            <a:ext cx="7491342" cy="4024243"/>
          </a:xfrm>
          <a:prstGeom prst="rect">
            <a:avLst/>
          </a:prstGeom>
        </p:spPr>
      </p:pic>
      <p:sp>
        <p:nvSpPr>
          <p:cNvPr id="4" name="TextBox 3">
            <a:extLst>
              <a:ext uri="{FF2B5EF4-FFF2-40B4-BE49-F238E27FC236}">
                <a16:creationId xmlns:a16="http://schemas.microsoft.com/office/drawing/2014/main" id="{3A73F24F-3FB9-6EAB-847C-ACC5FFCF6288}"/>
              </a:ext>
            </a:extLst>
          </p:cNvPr>
          <p:cNvSpPr txBox="1"/>
          <p:nvPr/>
        </p:nvSpPr>
        <p:spPr>
          <a:xfrm>
            <a:off x="10474969" y="9275833"/>
            <a:ext cx="689308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latin typeface="Calibri"/>
                <a:ea typeface="Calibri"/>
                <a:cs typeface="Calibri"/>
              </a:rPr>
              <a:t>Flicker Noise Spectrum  With Cutt-Off Frequency </a:t>
            </a:r>
            <a:br>
              <a:rPr lang="en-US" sz="2400">
                <a:latin typeface="Calibri"/>
                <a:ea typeface="Calibri"/>
                <a:cs typeface="Calibri"/>
              </a:rPr>
            </a:br>
            <a:r>
              <a:rPr lang="en-US" sz="2400">
                <a:latin typeface="Calibri"/>
                <a:ea typeface="Calibri"/>
                <a:cs typeface="Calibri"/>
              </a:rPr>
              <a:t>Fc = 10khz</a:t>
            </a:r>
            <a:endParaRPr lang="en-US" sz="2400">
              <a:ea typeface="Calibri"/>
              <a:cs typeface="Calibri"/>
            </a:endParaRPr>
          </a:p>
        </p:txBody>
      </p:sp>
      <p:sp>
        <p:nvSpPr>
          <p:cNvPr id="11" name="TextBox 4">
            <a:extLst>
              <a:ext uri="{FF2B5EF4-FFF2-40B4-BE49-F238E27FC236}">
                <a16:creationId xmlns:a16="http://schemas.microsoft.com/office/drawing/2014/main" id="{EF8ACEB9-C746-3BC4-F8BA-668BA4B8297A}"/>
              </a:ext>
            </a:extLst>
          </p:cNvPr>
          <p:cNvSpPr txBox="1"/>
          <p:nvPr/>
        </p:nvSpPr>
        <p:spPr>
          <a:xfrm>
            <a:off x="3122483" y="5040737"/>
            <a:ext cx="3928439" cy="317010"/>
          </a:xfrm>
          <a:prstGeom prst="rect">
            <a:avLst/>
          </a:prstGeom>
        </p:spPr>
        <p:txBody>
          <a:bodyPr wrap="square" lIns="0" tIns="0" rIns="0" bIns="0" rtlCol="0" anchor="t">
            <a:spAutoFit/>
          </a:bodyPr>
          <a:lstStyle/>
          <a:p>
            <a:pPr marL="186055" lvl="1">
              <a:lnSpc>
                <a:spcPts val="2420"/>
              </a:lnSpc>
            </a:pPr>
            <a:r>
              <a:rPr lang="en-US" sz="2400">
                <a:solidFill>
                  <a:schemeClr val="tx1">
                    <a:lumMod val="95000"/>
                    <a:lumOff val="5000"/>
                  </a:schemeClr>
                </a:solidFill>
                <a:latin typeface="Poppins"/>
                <a:ea typeface="Poppins"/>
                <a:cs typeface="Poppins"/>
              </a:rPr>
              <a:t>Flicker Noise Expression</a:t>
            </a:r>
          </a:p>
        </p:txBody>
      </p:sp>
      <p:pic>
        <p:nvPicPr>
          <p:cNvPr id="2" name="Picture 1" descr="A black text on a white background&#10;&#10;AI-generated content may be incorrect.">
            <a:extLst>
              <a:ext uri="{FF2B5EF4-FFF2-40B4-BE49-F238E27FC236}">
                <a16:creationId xmlns:a16="http://schemas.microsoft.com/office/drawing/2014/main" id="{F27DD2DC-D8F5-577F-BF81-B5E02DC07DE3}"/>
              </a:ext>
            </a:extLst>
          </p:cNvPr>
          <p:cNvPicPr>
            <a:picLocks noChangeAspect="1"/>
          </p:cNvPicPr>
          <p:nvPr/>
        </p:nvPicPr>
        <p:blipFill>
          <a:blip r:embed="rId4"/>
          <a:stretch>
            <a:fillRect/>
          </a:stretch>
        </p:blipFill>
        <p:spPr>
          <a:xfrm>
            <a:off x="1766817" y="3805146"/>
            <a:ext cx="6651008" cy="1070211"/>
          </a:xfrm>
          <a:prstGeom prst="rect">
            <a:avLst/>
          </a:prstGeom>
          <a:ln>
            <a:noFill/>
          </a:ln>
          <a:effectLst>
            <a:outerShdw blurRad="190500" algn="tl" rotWithShape="0">
              <a:srgbClr val="000000">
                <a:alpha val="70000"/>
              </a:srgbClr>
            </a:outerShdw>
          </a:effectLst>
        </p:spPr>
      </p:pic>
      <p:sp>
        <p:nvSpPr>
          <p:cNvPr id="9" name="Rectangle: Rounded Corners 8">
            <a:extLst>
              <a:ext uri="{FF2B5EF4-FFF2-40B4-BE49-F238E27FC236}">
                <a16:creationId xmlns:a16="http://schemas.microsoft.com/office/drawing/2014/main" id="{57426BB2-D165-36C8-01C5-094CEE673B93}"/>
              </a:ext>
            </a:extLst>
          </p:cNvPr>
          <p:cNvSpPr/>
          <p:nvPr/>
        </p:nvSpPr>
        <p:spPr>
          <a:xfrm>
            <a:off x="1581407" y="-311569"/>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16" name="TextBox 2">
            <a:extLst>
              <a:ext uri="{FF2B5EF4-FFF2-40B4-BE49-F238E27FC236}">
                <a16:creationId xmlns:a16="http://schemas.microsoft.com/office/drawing/2014/main" id="{88E3CB7A-EBA2-C5DF-36C9-F612D28C9BA8}"/>
              </a:ext>
            </a:extLst>
          </p:cNvPr>
          <p:cNvSpPr txBox="1"/>
          <p:nvPr/>
        </p:nvSpPr>
        <p:spPr>
          <a:xfrm>
            <a:off x="2158134" y="-2285"/>
            <a:ext cx="13983340" cy="1009956"/>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8645"/>
              </a:lnSpc>
            </a:pPr>
            <a:r>
              <a:rPr lang="en-US" sz="5400">
                <a:solidFill>
                  <a:schemeClr val="bg1"/>
                </a:solidFill>
                <a:latin typeface="Calibri"/>
                <a:ea typeface="Quicksand Bold"/>
                <a:cs typeface="Quicksand Bold"/>
                <a:sym typeface="Quicksand Bold"/>
              </a:rPr>
              <a:t>Noise Modelling And Non-ideal Effects Considered</a:t>
            </a:r>
            <a:r>
              <a:rPr lang="en-US" sz="5400" b="1">
                <a:solidFill>
                  <a:schemeClr val="bg1"/>
                </a:solidFill>
                <a:latin typeface="Calibri"/>
                <a:ea typeface="Quicksand Bold"/>
                <a:cs typeface="Quicksand Bold"/>
                <a:sym typeface="Quicksand Bold"/>
              </a:rPr>
              <a:t> </a:t>
            </a:r>
            <a:endParaRPr lang="en-US" sz="5400" b="1">
              <a:solidFill>
                <a:schemeClr val="bg1"/>
              </a:solidFill>
              <a:latin typeface="Calibri"/>
              <a:ea typeface="Quicksand Bold"/>
              <a:cs typeface="Quicksand Bo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571A6-41E3-E9F3-8023-DB76D011C221}"/>
            </a:ext>
          </a:extLst>
        </p:cNvPr>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F232443F-9146-61C2-34B5-148D08A29352}"/>
              </a:ext>
            </a:extLst>
          </p:cNvPr>
          <p:cNvSpPr/>
          <p:nvPr/>
        </p:nvSpPr>
        <p:spPr>
          <a:xfrm>
            <a:off x="1611486" y="-264681"/>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26" name="Rectangle 25">
            <a:extLst>
              <a:ext uri="{FF2B5EF4-FFF2-40B4-BE49-F238E27FC236}">
                <a16:creationId xmlns:a16="http://schemas.microsoft.com/office/drawing/2014/main" id="{D7410810-F70F-0CE1-B084-B010AF1C84FF}"/>
              </a:ext>
            </a:extLst>
          </p:cNvPr>
          <p:cNvSpPr/>
          <p:nvPr/>
        </p:nvSpPr>
        <p:spPr>
          <a:xfrm>
            <a:off x="10459849" y="9386278"/>
            <a:ext cx="5076955" cy="438925"/>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solidFill>
                <a:srgbClr val="000000"/>
              </a:solidFill>
              <a:ea typeface="Calibri"/>
              <a:cs typeface="Calibri"/>
            </a:endParaRPr>
          </a:p>
        </p:txBody>
      </p:sp>
      <p:sp>
        <p:nvSpPr>
          <p:cNvPr id="15" name="Rectangle 25">
            <a:extLst>
              <a:ext uri="{FF2B5EF4-FFF2-40B4-BE49-F238E27FC236}">
                <a16:creationId xmlns:a16="http://schemas.microsoft.com/office/drawing/2014/main" id="{41B60451-A7BB-1361-FC84-B0A7CA5DC3C6}"/>
              </a:ext>
            </a:extLst>
          </p:cNvPr>
          <p:cNvSpPr/>
          <p:nvPr/>
        </p:nvSpPr>
        <p:spPr>
          <a:xfrm>
            <a:off x="10267337" y="3832541"/>
            <a:ext cx="5076955" cy="438925"/>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solidFill>
                <a:srgbClr val="000000"/>
              </a:solidFill>
              <a:ea typeface="Calibri"/>
              <a:cs typeface="Calibri"/>
            </a:endParaRPr>
          </a:p>
        </p:txBody>
      </p:sp>
      <p:sp>
        <p:nvSpPr>
          <p:cNvPr id="17" name="Rectangle 16">
            <a:extLst>
              <a:ext uri="{FF2B5EF4-FFF2-40B4-BE49-F238E27FC236}">
                <a16:creationId xmlns:a16="http://schemas.microsoft.com/office/drawing/2014/main" id="{C49A9AF1-FD0D-4B40-553B-5BD93EEA2BC2}"/>
              </a:ext>
            </a:extLst>
          </p:cNvPr>
          <p:cNvSpPr/>
          <p:nvPr/>
        </p:nvSpPr>
        <p:spPr>
          <a:xfrm>
            <a:off x="83094" y="1599730"/>
            <a:ext cx="8568716" cy="8673470"/>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4">
            <a:extLst>
              <a:ext uri="{FF2B5EF4-FFF2-40B4-BE49-F238E27FC236}">
                <a16:creationId xmlns:a16="http://schemas.microsoft.com/office/drawing/2014/main" id="{BBD83DA6-569E-7BDF-017A-6F39CEF031B7}"/>
              </a:ext>
            </a:extLst>
          </p:cNvPr>
          <p:cNvSpPr txBox="1"/>
          <p:nvPr/>
        </p:nvSpPr>
        <p:spPr>
          <a:xfrm>
            <a:off x="1202215" y="13018294"/>
            <a:ext cx="1669427" cy="322287"/>
          </a:xfrm>
          <a:prstGeom prst="rect">
            <a:avLst/>
          </a:prstGeom>
        </p:spPr>
        <p:txBody>
          <a:bodyPr lIns="0" tIns="0" rIns="0" bIns="0" rtlCol="0" anchor="t">
            <a:spAutoFit/>
          </a:bodyPr>
          <a:lstStyle/>
          <a:p>
            <a:pPr algn="l">
              <a:lnSpc>
                <a:spcPts val="2576"/>
              </a:lnSpc>
            </a:pPr>
            <a:r>
              <a:rPr lang="en-US" sz="1840" b="1">
                <a:solidFill>
                  <a:srgbClr val="FFFFFF"/>
                </a:solidFill>
                <a:latin typeface="Poppins Bold"/>
                <a:ea typeface="Poppins Bold"/>
                <a:cs typeface="Poppins Bold"/>
                <a:sym typeface="Poppins Bold"/>
              </a:rPr>
              <a:t>1.6 Billion</a:t>
            </a:r>
          </a:p>
        </p:txBody>
      </p:sp>
      <p:sp>
        <p:nvSpPr>
          <p:cNvPr id="5" name="TextBox 5">
            <a:extLst>
              <a:ext uri="{FF2B5EF4-FFF2-40B4-BE49-F238E27FC236}">
                <a16:creationId xmlns:a16="http://schemas.microsoft.com/office/drawing/2014/main" id="{D1761817-BE95-9C5C-37BA-E15FBB8C2AB8}"/>
              </a:ext>
            </a:extLst>
          </p:cNvPr>
          <p:cNvSpPr txBox="1"/>
          <p:nvPr/>
        </p:nvSpPr>
        <p:spPr>
          <a:xfrm>
            <a:off x="1202215" y="13371739"/>
            <a:ext cx="1669427" cy="148590"/>
          </a:xfrm>
          <a:prstGeom prst="rect">
            <a:avLst/>
          </a:prstGeom>
        </p:spPr>
        <p:txBody>
          <a:bodyPr lIns="0" tIns="0" rIns="0" bIns="0" rtlCol="0" anchor="t">
            <a:spAutoFit/>
          </a:bodyPr>
          <a:lstStyle/>
          <a:p>
            <a:pPr algn="l">
              <a:lnSpc>
                <a:spcPts val="1259"/>
              </a:lnSpc>
            </a:pPr>
            <a:r>
              <a:rPr lang="en-US" sz="899" b="1">
                <a:solidFill>
                  <a:srgbClr val="FFFFFF"/>
                </a:solidFill>
                <a:latin typeface="Poppins Bold"/>
                <a:ea typeface="Poppins Bold"/>
                <a:cs typeface="Poppins Bold"/>
                <a:sym typeface="Poppins Bold"/>
              </a:rPr>
              <a:t>Total Available Market </a:t>
            </a:r>
          </a:p>
        </p:txBody>
      </p:sp>
      <p:sp>
        <p:nvSpPr>
          <p:cNvPr id="6" name="TextBox 6">
            <a:extLst>
              <a:ext uri="{FF2B5EF4-FFF2-40B4-BE49-F238E27FC236}">
                <a16:creationId xmlns:a16="http://schemas.microsoft.com/office/drawing/2014/main" id="{5E143821-A1EC-0D83-C54C-32918779D416}"/>
              </a:ext>
            </a:extLst>
          </p:cNvPr>
          <p:cNvSpPr txBox="1"/>
          <p:nvPr/>
        </p:nvSpPr>
        <p:spPr>
          <a:xfrm>
            <a:off x="1202215" y="12704996"/>
            <a:ext cx="77137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TAM</a:t>
            </a:r>
          </a:p>
        </p:txBody>
      </p:sp>
      <p:sp>
        <p:nvSpPr>
          <p:cNvPr id="7" name="TextBox 7">
            <a:extLst>
              <a:ext uri="{FF2B5EF4-FFF2-40B4-BE49-F238E27FC236}">
                <a16:creationId xmlns:a16="http://schemas.microsoft.com/office/drawing/2014/main" id="{92727D5D-08F6-E186-80B6-2586D613940D}"/>
              </a:ext>
            </a:extLst>
          </p:cNvPr>
          <p:cNvSpPr txBox="1"/>
          <p:nvPr/>
        </p:nvSpPr>
        <p:spPr>
          <a:xfrm>
            <a:off x="3703312" y="13018294"/>
            <a:ext cx="1690479" cy="322287"/>
          </a:xfrm>
          <a:prstGeom prst="rect">
            <a:avLst/>
          </a:prstGeom>
        </p:spPr>
        <p:txBody>
          <a:bodyPr lIns="0" tIns="0" rIns="0" bIns="0" rtlCol="0" anchor="t">
            <a:spAutoFit/>
          </a:bodyPr>
          <a:lstStyle/>
          <a:p>
            <a:pPr algn="l">
              <a:lnSpc>
                <a:spcPts val="2576"/>
              </a:lnSpc>
            </a:pPr>
            <a:r>
              <a:rPr lang="en-US" sz="1840" b="1">
                <a:solidFill>
                  <a:srgbClr val="FFFFFF"/>
                </a:solidFill>
                <a:latin typeface="Poppins Bold"/>
                <a:ea typeface="Poppins Bold"/>
                <a:cs typeface="Poppins Bold"/>
                <a:sym typeface="Poppins Bold"/>
              </a:rPr>
              <a:t>126 Million</a:t>
            </a:r>
          </a:p>
        </p:txBody>
      </p:sp>
      <p:sp>
        <p:nvSpPr>
          <p:cNvPr id="8" name="TextBox 8">
            <a:extLst>
              <a:ext uri="{FF2B5EF4-FFF2-40B4-BE49-F238E27FC236}">
                <a16:creationId xmlns:a16="http://schemas.microsoft.com/office/drawing/2014/main" id="{6FFC3B7A-907F-C48D-2B0C-71A4C3519DE3}"/>
              </a:ext>
            </a:extLst>
          </p:cNvPr>
          <p:cNvSpPr txBox="1"/>
          <p:nvPr/>
        </p:nvSpPr>
        <p:spPr>
          <a:xfrm>
            <a:off x="3713838" y="13393486"/>
            <a:ext cx="2095788" cy="148590"/>
          </a:xfrm>
          <a:prstGeom prst="rect">
            <a:avLst/>
          </a:prstGeom>
        </p:spPr>
        <p:txBody>
          <a:bodyPr lIns="0" tIns="0" rIns="0" bIns="0" rtlCol="0" anchor="t">
            <a:spAutoFit/>
          </a:bodyPr>
          <a:lstStyle/>
          <a:p>
            <a:pPr algn="l">
              <a:lnSpc>
                <a:spcPts val="1260"/>
              </a:lnSpc>
            </a:pPr>
            <a:r>
              <a:rPr lang="en-US" sz="900" b="1">
                <a:solidFill>
                  <a:srgbClr val="FFFFFF"/>
                </a:solidFill>
                <a:latin typeface="Poppins Bold"/>
                <a:ea typeface="Poppins Bold"/>
                <a:cs typeface="Poppins Bold"/>
                <a:sym typeface="Poppins Bold"/>
              </a:rPr>
              <a:t>Serviceable Available Market </a:t>
            </a:r>
          </a:p>
        </p:txBody>
      </p:sp>
      <p:sp>
        <p:nvSpPr>
          <p:cNvPr id="9" name="TextBox 9">
            <a:extLst>
              <a:ext uri="{FF2B5EF4-FFF2-40B4-BE49-F238E27FC236}">
                <a16:creationId xmlns:a16="http://schemas.microsoft.com/office/drawing/2014/main" id="{1757873E-D6A8-066D-1DC0-4F28ACC4D8E6}"/>
              </a:ext>
            </a:extLst>
          </p:cNvPr>
          <p:cNvSpPr txBox="1"/>
          <p:nvPr/>
        </p:nvSpPr>
        <p:spPr>
          <a:xfrm>
            <a:off x="3713838" y="12704996"/>
            <a:ext cx="69398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SAM</a:t>
            </a:r>
          </a:p>
        </p:txBody>
      </p:sp>
      <p:sp>
        <p:nvSpPr>
          <p:cNvPr id="10" name="TextBox 10">
            <a:extLst>
              <a:ext uri="{FF2B5EF4-FFF2-40B4-BE49-F238E27FC236}">
                <a16:creationId xmlns:a16="http://schemas.microsoft.com/office/drawing/2014/main" id="{2D33C370-4E6C-78F7-5B94-CFA2D954FAEE}"/>
              </a:ext>
            </a:extLst>
          </p:cNvPr>
          <p:cNvSpPr txBox="1"/>
          <p:nvPr/>
        </p:nvSpPr>
        <p:spPr>
          <a:xfrm>
            <a:off x="6225461" y="13018294"/>
            <a:ext cx="1666072" cy="322287"/>
          </a:xfrm>
          <a:prstGeom prst="rect">
            <a:avLst/>
          </a:prstGeom>
        </p:spPr>
        <p:txBody>
          <a:bodyPr lIns="0" tIns="0" rIns="0" bIns="0" rtlCol="0" anchor="t">
            <a:spAutoFit/>
          </a:bodyPr>
          <a:lstStyle/>
          <a:p>
            <a:pPr algn="l">
              <a:lnSpc>
                <a:spcPts val="2576"/>
              </a:lnSpc>
            </a:pPr>
            <a:r>
              <a:rPr lang="en-US" sz="1840" b="1">
                <a:solidFill>
                  <a:srgbClr val="FFFFFF"/>
                </a:solidFill>
                <a:latin typeface="Poppins Bold"/>
                <a:ea typeface="Poppins Bold"/>
                <a:cs typeface="Poppins Bold"/>
                <a:sym typeface="Poppins Bold"/>
              </a:rPr>
              <a:t>181 Million</a:t>
            </a:r>
          </a:p>
        </p:txBody>
      </p:sp>
      <p:sp>
        <p:nvSpPr>
          <p:cNvPr id="11" name="TextBox 11">
            <a:extLst>
              <a:ext uri="{FF2B5EF4-FFF2-40B4-BE49-F238E27FC236}">
                <a16:creationId xmlns:a16="http://schemas.microsoft.com/office/drawing/2014/main" id="{336C055A-4586-BA15-F18C-49A2CAF8E49E}"/>
              </a:ext>
            </a:extLst>
          </p:cNvPr>
          <p:cNvSpPr txBox="1"/>
          <p:nvPr/>
        </p:nvSpPr>
        <p:spPr>
          <a:xfrm>
            <a:off x="6225461" y="13393486"/>
            <a:ext cx="2027367" cy="148590"/>
          </a:xfrm>
          <a:prstGeom prst="rect">
            <a:avLst/>
          </a:prstGeom>
        </p:spPr>
        <p:txBody>
          <a:bodyPr lIns="0" tIns="0" rIns="0" bIns="0" rtlCol="0" anchor="t">
            <a:spAutoFit/>
          </a:bodyPr>
          <a:lstStyle/>
          <a:p>
            <a:pPr algn="l">
              <a:lnSpc>
                <a:spcPts val="1260"/>
              </a:lnSpc>
            </a:pPr>
            <a:r>
              <a:rPr lang="en-US" sz="900" b="1">
                <a:solidFill>
                  <a:srgbClr val="FFFFFF"/>
                </a:solidFill>
                <a:latin typeface="Poppins Bold"/>
                <a:ea typeface="Poppins Bold"/>
                <a:cs typeface="Poppins Bold"/>
                <a:sym typeface="Poppins Bold"/>
              </a:rPr>
              <a:t>Serviceable Obtainable Market </a:t>
            </a:r>
          </a:p>
        </p:txBody>
      </p:sp>
      <p:sp>
        <p:nvSpPr>
          <p:cNvPr id="12" name="TextBox 12">
            <a:extLst>
              <a:ext uri="{FF2B5EF4-FFF2-40B4-BE49-F238E27FC236}">
                <a16:creationId xmlns:a16="http://schemas.microsoft.com/office/drawing/2014/main" id="{A646FA80-7A9C-1F88-6204-54ED2F2E61D6}"/>
              </a:ext>
            </a:extLst>
          </p:cNvPr>
          <p:cNvSpPr txBox="1"/>
          <p:nvPr/>
        </p:nvSpPr>
        <p:spPr>
          <a:xfrm>
            <a:off x="6225461" y="12704996"/>
            <a:ext cx="70740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SOM</a:t>
            </a:r>
          </a:p>
        </p:txBody>
      </p:sp>
      <p:sp>
        <p:nvSpPr>
          <p:cNvPr id="28" name="AutoShape 28">
            <a:extLst>
              <a:ext uri="{FF2B5EF4-FFF2-40B4-BE49-F238E27FC236}">
                <a16:creationId xmlns:a16="http://schemas.microsoft.com/office/drawing/2014/main" id="{61306E86-F2E8-91CD-2799-4339DD19C001}"/>
              </a:ext>
            </a:extLst>
          </p:cNvPr>
          <p:cNvSpPr/>
          <p:nvPr/>
        </p:nvSpPr>
        <p:spPr>
          <a:xfrm rot="5400000">
            <a:off x="5479812" y="13108925"/>
            <a:ext cx="659629" cy="0"/>
          </a:xfrm>
          <a:prstGeom prst="line">
            <a:avLst/>
          </a:prstGeom>
          <a:ln w="19050" cap="rnd">
            <a:solidFill>
              <a:srgbClr val="FFFFFF"/>
            </a:solidFill>
            <a:prstDash val="solid"/>
            <a:headEnd type="none" w="sm" len="sm"/>
            <a:tailEnd type="none" w="sm" len="sm"/>
          </a:ln>
        </p:spPr>
        <p:txBody>
          <a:bodyPr/>
          <a:lstStyle/>
          <a:p>
            <a:endParaRPr lang="en-IN"/>
          </a:p>
        </p:txBody>
      </p:sp>
      <p:sp>
        <p:nvSpPr>
          <p:cNvPr id="29" name="AutoShape 29">
            <a:extLst>
              <a:ext uri="{FF2B5EF4-FFF2-40B4-BE49-F238E27FC236}">
                <a16:creationId xmlns:a16="http://schemas.microsoft.com/office/drawing/2014/main" id="{9E21D21E-9822-F182-F2EF-687821460B2E}"/>
              </a:ext>
            </a:extLst>
          </p:cNvPr>
          <p:cNvSpPr/>
          <p:nvPr/>
        </p:nvSpPr>
        <p:spPr>
          <a:xfrm rot="5400000">
            <a:off x="2957662" y="13108925"/>
            <a:ext cx="659629" cy="0"/>
          </a:xfrm>
          <a:prstGeom prst="line">
            <a:avLst/>
          </a:prstGeom>
          <a:ln w="19050" cap="rnd">
            <a:solidFill>
              <a:srgbClr val="FFFFFF"/>
            </a:solidFill>
            <a:prstDash val="solid"/>
            <a:headEnd type="none" w="sm" len="sm"/>
            <a:tailEnd type="none" w="sm" len="sm"/>
          </a:ln>
        </p:spPr>
        <p:txBody>
          <a:bodyPr/>
          <a:lstStyle/>
          <a:p>
            <a:endParaRPr lang="en-IN"/>
          </a:p>
        </p:txBody>
      </p:sp>
      <p:sp>
        <p:nvSpPr>
          <p:cNvPr id="39" name="TextBox 38">
            <a:extLst>
              <a:ext uri="{FF2B5EF4-FFF2-40B4-BE49-F238E27FC236}">
                <a16:creationId xmlns:a16="http://schemas.microsoft.com/office/drawing/2014/main" id="{3F590FA0-3510-8D90-060E-2EB1D1148577}"/>
              </a:ext>
            </a:extLst>
          </p:cNvPr>
          <p:cNvSpPr txBox="1"/>
          <p:nvPr/>
        </p:nvSpPr>
        <p:spPr>
          <a:xfrm>
            <a:off x="168332" y="6441443"/>
            <a:ext cx="9138848" cy="477054"/>
          </a:xfrm>
          <a:prstGeom prst="rect">
            <a:avLst/>
          </a:prstGeom>
          <a:noFill/>
        </p:spPr>
        <p:txBody>
          <a:bodyPr wrap="square" lIns="91440" tIns="45720" rIns="91440" bIns="45720" anchor="t">
            <a:spAutoFit/>
          </a:bodyPr>
          <a:lstStyle/>
          <a:p>
            <a:pPr algn="l">
              <a:lnSpc>
                <a:spcPts val="2973"/>
              </a:lnSpc>
            </a:pPr>
            <a:r>
              <a:rPr lang="en-US" sz="2800" b="1">
                <a:solidFill>
                  <a:schemeClr val="tx1">
                    <a:lumMod val="95000"/>
                    <a:lumOff val="5000"/>
                  </a:schemeClr>
                </a:solidFill>
                <a:latin typeface="Calibri"/>
                <a:ea typeface="Poppins Bold"/>
                <a:cs typeface="Poppins Bold"/>
                <a:sym typeface="Poppins Bold"/>
              </a:rPr>
              <a:t>Non–Ideal Effect  Considerations In Op-Amp Perspective: </a:t>
            </a:r>
            <a:endParaRPr lang="en-US" sz="2800" b="1">
              <a:solidFill>
                <a:schemeClr val="tx1">
                  <a:lumMod val="95000"/>
                  <a:lumOff val="5000"/>
                </a:schemeClr>
              </a:solidFill>
              <a:latin typeface="Calibri"/>
              <a:ea typeface="Poppins Bold"/>
              <a:cs typeface="Poppins Bold"/>
            </a:endParaRPr>
          </a:p>
        </p:txBody>
      </p:sp>
      <p:sp>
        <p:nvSpPr>
          <p:cNvPr id="2" name="TextBox 4">
            <a:extLst>
              <a:ext uri="{FF2B5EF4-FFF2-40B4-BE49-F238E27FC236}">
                <a16:creationId xmlns:a16="http://schemas.microsoft.com/office/drawing/2014/main" id="{666E7B01-CD7B-7AD5-6B37-04BAE8C498C9}"/>
              </a:ext>
            </a:extLst>
          </p:cNvPr>
          <p:cNvSpPr txBox="1"/>
          <p:nvPr/>
        </p:nvSpPr>
        <p:spPr>
          <a:xfrm>
            <a:off x="92163" y="6928129"/>
            <a:ext cx="4672968" cy="927626"/>
          </a:xfrm>
          <a:prstGeom prst="rect">
            <a:avLst/>
          </a:prstGeom>
        </p:spPr>
        <p:txBody>
          <a:bodyPr wrap="square" lIns="0" tIns="0" rIns="0" bIns="0" rtlCol="0" anchor="t">
            <a:spAutoFit/>
          </a:bodyPr>
          <a:lstStyle/>
          <a:p>
            <a:pPr marL="528955" lvl="1" indent="-342900">
              <a:lnSpc>
                <a:spcPts val="2420"/>
              </a:lnSpc>
              <a:buFont typeface="Arial"/>
              <a:buChar char="•"/>
            </a:pPr>
            <a:r>
              <a:rPr lang="en-US" sz="2400">
                <a:solidFill>
                  <a:schemeClr val="tx1">
                    <a:lumMod val="95000"/>
                    <a:lumOff val="5000"/>
                  </a:schemeClr>
                </a:solidFill>
                <a:latin typeface="Calibri"/>
                <a:ea typeface="Calibri"/>
                <a:cs typeface="Calibri"/>
                <a:sym typeface="Poppins"/>
              </a:rPr>
              <a:t>Finite Gain Bandwidth (GBW) </a:t>
            </a:r>
            <a:endParaRPr lang="en-US" sz="2400">
              <a:solidFill>
                <a:schemeClr val="tx1">
                  <a:lumMod val="95000"/>
                  <a:lumOff val="5000"/>
                </a:schemeClr>
              </a:solidFill>
              <a:latin typeface="Calibri"/>
              <a:ea typeface="Calibri"/>
              <a:cs typeface="Calibri"/>
            </a:endParaRPr>
          </a:p>
          <a:p>
            <a:pPr marL="528955" lvl="1" indent="-342900">
              <a:lnSpc>
                <a:spcPts val="2420"/>
              </a:lnSpc>
              <a:buFont typeface="Arial"/>
              <a:buChar char="•"/>
            </a:pPr>
            <a:r>
              <a:rPr lang="en-US" sz="2400">
                <a:solidFill>
                  <a:schemeClr val="tx1">
                    <a:lumMod val="95000"/>
                    <a:lumOff val="5000"/>
                  </a:schemeClr>
                </a:solidFill>
                <a:latin typeface="Calibri"/>
                <a:ea typeface="Calibri"/>
                <a:cs typeface="Calibri"/>
                <a:sym typeface="Poppins"/>
              </a:rPr>
              <a:t>Finite Slew Rate </a:t>
            </a:r>
            <a:endParaRPr lang="en-US" sz="2400">
              <a:solidFill>
                <a:schemeClr val="tx1">
                  <a:lumMod val="95000"/>
                  <a:lumOff val="5000"/>
                </a:schemeClr>
              </a:solidFill>
              <a:latin typeface="Calibri"/>
              <a:ea typeface="Calibri"/>
              <a:cs typeface="Calibri"/>
            </a:endParaRPr>
          </a:p>
          <a:p>
            <a:pPr marL="528955" lvl="1" indent="-342900">
              <a:lnSpc>
                <a:spcPts val="2420"/>
              </a:lnSpc>
              <a:buFont typeface="Arial"/>
              <a:buChar char="•"/>
            </a:pPr>
            <a:r>
              <a:rPr lang="en-US" sz="2400">
                <a:solidFill>
                  <a:schemeClr val="tx1">
                    <a:lumMod val="95000"/>
                    <a:lumOff val="5000"/>
                  </a:schemeClr>
                </a:solidFill>
                <a:latin typeface="Calibri"/>
                <a:ea typeface="Calibri"/>
                <a:cs typeface="Calibri"/>
                <a:sym typeface="Poppins"/>
              </a:rPr>
              <a:t>Finite Dc Gain </a:t>
            </a:r>
            <a:endParaRPr lang="en-US" sz="2400">
              <a:solidFill>
                <a:schemeClr val="tx1">
                  <a:lumMod val="95000"/>
                  <a:lumOff val="5000"/>
                </a:schemeClr>
              </a:solidFill>
              <a:latin typeface="Calibri"/>
              <a:ea typeface="Calibri"/>
              <a:cs typeface="Calibri"/>
            </a:endParaRPr>
          </a:p>
        </p:txBody>
      </p:sp>
      <p:pic>
        <p:nvPicPr>
          <p:cNvPr id="2054" name="Picture 6">
            <a:extLst>
              <a:ext uri="{FF2B5EF4-FFF2-40B4-BE49-F238E27FC236}">
                <a16:creationId xmlns:a16="http://schemas.microsoft.com/office/drawing/2014/main" id="{FA31D7FF-2BD5-BAF1-16E5-E964E7D646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91881" y="7391778"/>
            <a:ext cx="7184277" cy="2014068"/>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D4311A76-1D7F-9E51-DE9A-9CFA920012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1125" y="8045491"/>
            <a:ext cx="4857374" cy="1792041"/>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E3F534F-7631-0818-2E10-8A959B643C44}"/>
              </a:ext>
            </a:extLst>
          </p:cNvPr>
          <p:cNvSpPr txBox="1"/>
          <p:nvPr/>
        </p:nvSpPr>
        <p:spPr>
          <a:xfrm>
            <a:off x="11709559" y="9380551"/>
            <a:ext cx="2639449" cy="448584"/>
          </a:xfrm>
          <a:prstGeom prst="rect">
            <a:avLst/>
          </a:prstGeom>
          <a:noFill/>
        </p:spPr>
        <p:txBody>
          <a:bodyPr wrap="square" lIns="91440" tIns="45720" rIns="91440" bIns="45720" anchor="t">
            <a:spAutoFit/>
          </a:bodyPr>
          <a:lstStyle/>
          <a:p>
            <a:pPr algn="l">
              <a:lnSpc>
                <a:spcPts val="2973"/>
              </a:lnSpc>
            </a:pPr>
            <a:r>
              <a:rPr lang="en-US" b="1">
                <a:solidFill>
                  <a:schemeClr val="tx1">
                    <a:lumMod val="95000"/>
                    <a:lumOff val="5000"/>
                  </a:schemeClr>
                </a:solidFill>
                <a:latin typeface="Calibri"/>
                <a:ea typeface="Poppins Bold"/>
                <a:cs typeface="Poppins Bold"/>
                <a:sym typeface="Poppins Bold"/>
              </a:rPr>
              <a:t>Non-Ideal Function Block </a:t>
            </a:r>
            <a:endParaRPr lang="en-US" b="1">
              <a:solidFill>
                <a:schemeClr val="tx1">
                  <a:lumMod val="95000"/>
                  <a:lumOff val="5000"/>
                </a:schemeClr>
              </a:solidFill>
              <a:latin typeface="Calibri"/>
              <a:ea typeface="Poppins Bold"/>
              <a:cs typeface="Poppins Bold"/>
            </a:endParaRPr>
          </a:p>
        </p:txBody>
      </p:sp>
      <p:pic>
        <p:nvPicPr>
          <p:cNvPr id="2058" name="Picture 10">
            <a:extLst>
              <a:ext uri="{FF2B5EF4-FFF2-40B4-BE49-F238E27FC236}">
                <a16:creationId xmlns:a16="http://schemas.microsoft.com/office/drawing/2014/main" id="{80C51EA9-510E-D930-B605-1DE73616C1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7312" y="4966540"/>
            <a:ext cx="2473774" cy="860443"/>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54CFD95E-DCF2-1E31-4ED1-2EEBCB07E086}"/>
              </a:ext>
            </a:extLst>
          </p:cNvPr>
          <p:cNvSpPr txBox="1"/>
          <p:nvPr/>
        </p:nvSpPr>
        <p:spPr>
          <a:xfrm>
            <a:off x="2849" y="3610792"/>
            <a:ext cx="8478320" cy="1331518"/>
          </a:xfrm>
          <a:prstGeom prst="rect">
            <a:avLst/>
          </a:prstGeom>
          <a:noFill/>
        </p:spPr>
        <p:txBody>
          <a:bodyPr wrap="square" lIns="91440" tIns="45720" rIns="91440" bIns="45720" rtlCol="0" anchor="t">
            <a:spAutoFit/>
          </a:bodyPr>
          <a:lstStyle/>
          <a:p>
            <a:pPr marL="186055" lvl="1">
              <a:lnSpc>
                <a:spcPts val="2420"/>
              </a:lnSpc>
            </a:pPr>
            <a:endParaRPr lang="en-US" sz="2400" b="1">
              <a:solidFill>
                <a:srgbClr val="545454"/>
              </a:solidFill>
              <a:latin typeface="Poppins"/>
              <a:ea typeface="Poppins"/>
              <a:cs typeface="Poppins"/>
            </a:endParaRPr>
          </a:p>
          <a:p>
            <a:pPr marL="186055" lvl="1">
              <a:lnSpc>
                <a:spcPts val="2420"/>
              </a:lnSpc>
            </a:pPr>
            <a:r>
              <a:rPr lang="en-US" sz="2800" b="1">
                <a:solidFill>
                  <a:schemeClr val="tx1">
                    <a:lumMod val="95000"/>
                    <a:lumOff val="5000"/>
                  </a:schemeClr>
                </a:solidFill>
                <a:latin typeface="Calibri"/>
                <a:ea typeface="Poppins"/>
                <a:cs typeface="Poppins"/>
                <a:sym typeface="Poppins"/>
              </a:rPr>
              <a:t>Clock Jitter:</a:t>
            </a:r>
            <a:r>
              <a:rPr lang="en-US" sz="2800" b="1">
                <a:solidFill>
                  <a:srgbClr val="545454"/>
                </a:solidFill>
                <a:latin typeface="Calibri"/>
                <a:ea typeface="Poppins"/>
                <a:cs typeface="Poppins"/>
                <a:sym typeface="Poppins"/>
              </a:rPr>
              <a:t> </a:t>
            </a:r>
            <a:endParaRPr lang="en-US" sz="2800" b="1">
              <a:solidFill>
                <a:srgbClr val="545454"/>
              </a:solidFill>
              <a:latin typeface="Calibri"/>
              <a:ea typeface="Poppins"/>
              <a:cs typeface="Poppins"/>
            </a:endParaRPr>
          </a:p>
          <a:p>
            <a:pPr marL="471805" lvl="1" indent="-285750">
              <a:lnSpc>
                <a:spcPts val="2420"/>
              </a:lnSpc>
              <a:buFont typeface="Arial" panose="020B0604020202020204" pitchFamily="34" charset="0"/>
              <a:buChar char="•"/>
            </a:pPr>
            <a:r>
              <a:rPr lang="en-US" sz="2400">
                <a:solidFill>
                  <a:srgbClr val="545454"/>
                </a:solidFill>
                <a:latin typeface="Calibri"/>
                <a:ea typeface="Poppins"/>
                <a:cs typeface="Poppins"/>
                <a:sym typeface="Poppins"/>
              </a:rPr>
              <a:t> Considered a  jitter of 50ps for a modulator                     	</a:t>
            </a:r>
            <a:endParaRPr lang="en-US" sz="2400">
              <a:solidFill>
                <a:srgbClr val="545454"/>
              </a:solidFill>
              <a:latin typeface="Calibri"/>
              <a:ea typeface="Poppins"/>
              <a:cs typeface="Poppins"/>
            </a:endParaRPr>
          </a:p>
          <a:p>
            <a:pPr marL="471805" lvl="1" indent="-285750">
              <a:lnSpc>
                <a:spcPts val="2420"/>
              </a:lnSpc>
              <a:buFont typeface="Arial" panose="020B0604020202020204" pitchFamily="34" charset="0"/>
              <a:buChar char="•"/>
            </a:pPr>
            <a:r>
              <a:rPr lang="en-US" sz="2400">
                <a:solidFill>
                  <a:srgbClr val="545454"/>
                </a:solidFill>
                <a:latin typeface="Calibri"/>
                <a:ea typeface="Poppins"/>
                <a:cs typeface="Poppins"/>
                <a:sym typeface="Poppins"/>
              </a:rPr>
              <a:t> Clock frequency of 512khz</a:t>
            </a:r>
            <a:r>
              <a:rPr lang="en-US" sz="2400">
                <a:solidFill>
                  <a:srgbClr val="545454"/>
                </a:solidFill>
                <a:latin typeface="Poppins"/>
                <a:ea typeface="Poppins"/>
                <a:cs typeface="Poppins"/>
                <a:sym typeface="Poppins"/>
              </a:rPr>
              <a:t> </a:t>
            </a:r>
            <a:endParaRPr lang="en-US" sz="2400">
              <a:solidFill>
                <a:srgbClr val="545454"/>
              </a:solidFill>
              <a:latin typeface="Poppins"/>
              <a:ea typeface="Poppins"/>
              <a:cs typeface="Poppins"/>
            </a:endParaRPr>
          </a:p>
        </p:txBody>
      </p:sp>
      <p:sp>
        <p:nvSpPr>
          <p:cNvPr id="18" name="TextBox 17">
            <a:extLst>
              <a:ext uri="{FF2B5EF4-FFF2-40B4-BE49-F238E27FC236}">
                <a16:creationId xmlns:a16="http://schemas.microsoft.com/office/drawing/2014/main" id="{67A7F875-D00F-4B8B-3C7E-C6B2840A9938}"/>
              </a:ext>
            </a:extLst>
          </p:cNvPr>
          <p:cNvSpPr txBox="1"/>
          <p:nvPr/>
        </p:nvSpPr>
        <p:spPr>
          <a:xfrm>
            <a:off x="2990361" y="5842834"/>
            <a:ext cx="2790190" cy="369332"/>
          </a:xfrm>
          <a:prstGeom prst="rect">
            <a:avLst/>
          </a:prstGeom>
          <a:noFill/>
        </p:spPr>
        <p:txBody>
          <a:bodyPr wrap="square" lIns="91440" tIns="45720" rIns="91440" bIns="45720" anchor="t">
            <a:spAutoFit/>
          </a:bodyPr>
          <a:lstStyle/>
          <a:p>
            <a:r>
              <a:rPr lang="en-US" sz="1800">
                <a:solidFill>
                  <a:srgbClr val="545454"/>
                </a:solidFill>
                <a:latin typeface="Poppins"/>
                <a:ea typeface="Poppins"/>
                <a:cs typeface="Poppins"/>
                <a:sym typeface="Poppins"/>
              </a:rPr>
              <a:t>Expression </a:t>
            </a:r>
            <a:r>
              <a:rPr lang="en-US">
                <a:solidFill>
                  <a:srgbClr val="545454"/>
                </a:solidFill>
                <a:latin typeface="Poppins"/>
                <a:ea typeface="Poppins"/>
                <a:cs typeface="Poppins"/>
                <a:sym typeface="Poppins"/>
              </a:rPr>
              <a:t>Clock Jitter </a:t>
            </a:r>
            <a:endParaRPr lang="en-IN"/>
          </a:p>
        </p:txBody>
      </p:sp>
      <p:pic>
        <p:nvPicPr>
          <p:cNvPr id="43" name="Picture 42" descr="A diagram of a mathematical equation&#10;&#10;AI-generated content may be incorrect.">
            <a:extLst>
              <a:ext uri="{FF2B5EF4-FFF2-40B4-BE49-F238E27FC236}">
                <a16:creationId xmlns:a16="http://schemas.microsoft.com/office/drawing/2014/main" id="{A943DB81-AB33-8A35-82DE-FD1398F421EE}"/>
              </a:ext>
            </a:extLst>
          </p:cNvPr>
          <p:cNvPicPr>
            <a:picLocks noChangeAspect="1"/>
          </p:cNvPicPr>
          <p:nvPr/>
        </p:nvPicPr>
        <p:blipFill>
          <a:blip r:embed="rId5"/>
          <a:stretch>
            <a:fillRect/>
          </a:stretch>
        </p:blipFill>
        <p:spPr>
          <a:xfrm>
            <a:off x="9306941" y="2050064"/>
            <a:ext cx="7171216" cy="1781643"/>
          </a:xfrm>
          <a:prstGeom prst="rect">
            <a:avLst/>
          </a:prstGeom>
          <a:ln>
            <a:noFill/>
          </a:ln>
          <a:effectLst>
            <a:outerShdw blurRad="190500" algn="tl" rotWithShape="0">
              <a:srgbClr val="000000">
                <a:alpha val="70000"/>
              </a:srgbClr>
            </a:outerShdw>
          </a:effectLst>
        </p:spPr>
      </p:pic>
      <p:sp>
        <p:nvSpPr>
          <p:cNvPr id="52" name="TextBox 51">
            <a:extLst>
              <a:ext uri="{FF2B5EF4-FFF2-40B4-BE49-F238E27FC236}">
                <a16:creationId xmlns:a16="http://schemas.microsoft.com/office/drawing/2014/main" id="{B0A0CEE4-475D-EF5B-F415-5DEBA3F8A9CB}"/>
              </a:ext>
            </a:extLst>
          </p:cNvPr>
          <p:cNvSpPr txBox="1"/>
          <p:nvPr/>
        </p:nvSpPr>
        <p:spPr>
          <a:xfrm>
            <a:off x="11198225" y="3830557"/>
            <a:ext cx="3385820" cy="441788"/>
          </a:xfrm>
          <a:prstGeom prst="rect">
            <a:avLst/>
          </a:prstGeom>
          <a:noFill/>
        </p:spPr>
        <p:txBody>
          <a:bodyPr wrap="square" lIns="91440" tIns="45720" rIns="91440" bIns="45720" anchor="t">
            <a:spAutoFit/>
          </a:bodyPr>
          <a:lstStyle/>
          <a:p>
            <a:pPr algn="l">
              <a:lnSpc>
                <a:spcPts val="2973"/>
              </a:lnSpc>
            </a:pPr>
            <a:r>
              <a:rPr lang="en-US" sz="1800" b="1">
                <a:solidFill>
                  <a:schemeClr val="tx1">
                    <a:lumMod val="95000"/>
                    <a:lumOff val="5000"/>
                  </a:schemeClr>
                </a:solidFill>
                <a:latin typeface="Calibri"/>
                <a:ea typeface="Poppins Bold"/>
                <a:cs typeface="Poppins Bold"/>
                <a:sym typeface="Poppins Bold"/>
              </a:rPr>
              <a:t>Simulink Model Of Thermal Noise </a:t>
            </a:r>
            <a:endParaRPr lang="en-US" sz="1800" b="1">
              <a:solidFill>
                <a:schemeClr val="tx1">
                  <a:lumMod val="95000"/>
                  <a:lumOff val="5000"/>
                </a:schemeClr>
              </a:solidFill>
              <a:latin typeface="Calibri"/>
              <a:ea typeface="Poppins Bold"/>
              <a:cs typeface="Poppins Bold"/>
            </a:endParaRPr>
          </a:p>
        </p:txBody>
      </p:sp>
      <p:sp>
        <p:nvSpPr>
          <p:cNvPr id="25" name="TextBox 24">
            <a:extLst>
              <a:ext uri="{FF2B5EF4-FFF2-40B4-BE49-F238E27FC236}">
                <a16:creationId xmlns:a16="http://schemas.microsoft.com/office/drawing/2014/main" id="{6F2725F0-1E36-672F-20A6-A32731A1B494}"/>
              </a:ext>
            </a:extLst>
          </p:cNvPr>
          <p:cNvSpPr txBox="1"/>
          <p:nvPr/>
        </p:nvSpPr>
        <p:spPr>
          <a:xfrm>
            <a:off x="154039" y="1610730"/>
            <a:ext cx="8510574" cy="20005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800" b="1">
                <a:solidFill>
                  <a:schemeClr val="tx1">
                    <a:lumMod val="95000"/>
                    <a:lumOff val="5000"/>
                  </a:schemeClr>
                </a:solidFill>
                <a:latin typeface="Calibri"/>
                <a:ea typeface="+mn-lt"/>
                <a:cs typeface="+mn-lt"/>
              </a:rPr>
              <a:t>Thermal Noise:</a:t>
            </a:r>
            <a:endParaRPr lang="en-US" sz="2800" b="1">
              <a:solidFill>
                <a:schemeClr val="tx1">
                  <a:lumMod val="95000"/>
                  <a:lumOff val="5000"/>
                </a:schemeClr>
              </a:solidFill>
              <a:latin typeface="Calibri"/>
              <a:ea typeface="Calibri"/>
              <a:cs typeface="Calibri"/>
            </a:endParaRPr>
          </a:p>
          <a:p>
            <a:pPr algn="just"/>
            <a:r>
              <a:rPr lang="en-US" sz="2400">
                <a:solidFill>
                  <a:schemeClr val="tx1">
                    <a:lumMod val="65000"/>
                    <a:lumOff val="35000"/>
                  </a:schemeClr>
                </a:solidFill>
                <a:latin typeface="Calibri"/>
                <a:ea typeface="+mn-lt"/>
                <a:cs typeface="Poppins Bold"/>
              </a:rPr>
              <a:t>The thermal noise was modelled using the RMS relation vₙ,ᵣₘₛ = √(</a:t>
            </a:r>
            <a:r>
              <a:rPr lang="en-US" sz="2400" err="1">
                <a:solidFill>
                  <a:schemeClr val="tx1">
                    <a:lumMod val="65000"/>
                    <a:lumOff val="35000"/>
                  </a:schemeClr>
                </a:solidFill>
                <a:latin typeface="Calibri"/>
                <a:ea typeface="+mn-lt"/>
                <a:cs typeface="Poppins Bold"/>
              </a:rPr>
              <a:t>kT</a:t>
            </a:r>
            <a:r>
              <a:rPr lang="en-US" sz="2400">
                <a:solidFill>
                  <a:schemeClr val="tx1">
                    <a:lumMod val="65000"/>
                    <a:lumOff val="35000"/>
                  </a:schemeClr>
                </a:solidFill>
                <a:latin typeface="Calibri"/>
                <a:ea typeface="+mn-lt"/>
                <a:cs typeface="Poppins Bold"/>
              </a:rPr>
              <a:t> / Cₛ). The sampling capacitor Cₛ was then selected by inverting this expression,</a:t>
            </a:r>
          </a:p>
          <a:p>
            <a:pPr algn="just"/>
            <a:r>
              <a:rPr lang="en-US" sz="2400">
                <a:solidFill>
                  <a:schemeClr val="tx1">
                    <a:lumMod val="65000"/>
                    <a:lumOff val="35000"/>
                  </a:schemeClr>
                </a:solidFill>
                <a:latin typeface="Calibri"/>
                <a:ea typeface="+mn-lt"/>
                <a:cs typeface="Poppins Bold"/>
              </a:rPr>
              <a:t>choosing Cₛ = </a:t>
            </a:r>
            <a:r>
              <a:rPr lang="en-US" sz="2400" err="1">
                <a:solidFill>
                  <a:schemeClr val="tx1">
                    <a:lumMod val="65000"/>
                    <a:lumOff val="35000"/>
                  </a:schemeClr>
                </a:solidFill>
                <a:latin typeface="Calibri"/>
                <a:ea typeface="+mn-lt"/>
                <a:cs typeface="Poppins Bold"/>
              </a:rPr>
              <a:t>kT</a:t>
            </a:r>
            <a:r>
              <a:rPr lang="en-US" sz="2400">
                <a:solidFill>
                  <a:schemeClr val="tx1">
                    <a:lumMod val="65000"/>
                    <a:lumOff val="35000"/>
                  </a:schemeClr>
                </a:solidFill>
                <a:latin typeface="Calibri"/>
                <a:ea typeface="+mn-lt"/>
                <a:cs typeface="Poppins Bold"/>
              </a:rPr>
              <a:t> / vₙ,ᵣₘₛ,ₜₐᵣgₑₜ² to satisfy the required noise level.</a:t>
            </a:r>
            <a:endParaRPr lang="en-US" sz="2400">
              <a:solidFill>
                <a:schemeClr val="tx1">
                  <a:lumMod val="65000"/>
                  <a:lumOff val="35000"/>
                </a:schemeClr>
              </a:solidFill>
              <a:latin typeface="Calibri"/>
              <a:ea typeface="Calibri"/>
              <a:cs typeface="Poppins Bold"/>
            </a:endParaRPr>
          </a:p>
        </p:txBody>
      </p:sp>
      <p:sp>
        <p:nvSpPr>
          <p:cNvPr id="32" name="Rectangle 25">
            <a:extLst>
              <a:ext uri="{FF2B5EF4-FFF2-40B4-BE49-F238E27FC236}">
                <a16:creationId xmlns:a16="http://schemas.microsoft.com/office/drawing/2014/main" id="{7FAA4E1E-6A56-6396-A0F4-F2E357F64722}"/>
              </a:ext>
            </a:extLst>
          </p:cNvPr>
          <p:cNvSpPr/>
          <p:nvPr/>
        </p:nvSpPr>
        <p:spPr>
          <a:xfrm>
            <a:off x="10271072" y="6483358"/>
            <a:ext cx="5076955" cy="438925"/>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solidFill>
                <a:srgbClr val="000000"/>
              </a:solidFill>
              <a:ea typeface="Calibri"/>
              <a:cs typeface="Calibri"/>
            </a:endParaRPr>
          </a:p>
        </p:txBody>
      </p:sp>
      <p:sp>
        <p:nvSpPr>
          <p:cNvPr id="35" name="TextBox 34">
            <a:extLst>
              <a:ext uri="{FF2B5EF4-FFF2-40B4-BE49-F238E27FC236}">
                <a16:creationId xmlns:a16="http://schemas.microsoft.com/office/drawing/2014/main" id="{CCB00685-D3D4-CE8E-E8F5-03180FABD98D}"/>
              </a:ext>
            </a:extLst>
          </p:cNvPr>
          <p:cNvSpPr txBox="1"/>
          <p:nvPr/>
        </p:nvSpPr>
        <p:spPr>
          <a:xfrm>
            <a:off x="11309349" y="6447757"/>
            <a:ext cx="3163570" cy="441788"/>
          </a:xfrm>
          <a:prstGeom prst="rect">
            <a:avLst/>
          </a:prstGeom>
          <a:noFill/>
        </p:spPr>
        <p:txBody>
          <a:bodyPr wrap="square" lIns="91440" tIns="45720" rIns="91440" bIns="45720" anchor="t">
            <a:spAutoFit/>
          </a:bodyPr>
          <a:lstStyle/>
          <a:p>
            <a:pPr>
              <a:lnSpc>
                <a:spcPts val="2973"/>
              </a:lnSpc>
            </a:pPr>
            <a:r>
              <a:rPr lang="en-US" b="1">
                <a:solidFill>
                  <a:schemeClr val="tx1">
                    <a:lumMod val="95000"/>
                    <a:lumOff val="5000"/>
                  </a:schemeClr>
                </a:solidFill>
                <a:latin typeface="Calibri"/>
                <a:ea typeface="Poppins Bold"/>
                <a:cs typeface="Poppins Bold"/>
                <a:sym typeface="Poppins Bold"/>
              </a:rPr>
              <a:t>Simulink Model Of Clock Jitter</a:t>
            </a:r>
            <a:endParaRPr lang="en-US" b="1">
              <a:solidFill>
                <a:schemeClr val="tx1">
                  <a:lumMod val="95000"/>
                  <a:lumOff val="5000"/>
                </a:schemeClr>
              </a:solidFill>
              <a:latin typeface="Calibri"/>
              <a:ea typeface="Poppins Bold"/>
              <a:cs typeface="Poppins Bold"/>
            </a:endParaRPr>
          </a:p>
        </p:txBody>
      </p:sp>
      <p:pic>
        <p:nvPicPr>
          <p:cNvPr id="36" name="Picture 35" descr="A diagram of a block diagram&#10;&#10;AI-generated content may be incorrect.">
            <a:extLst>
              <a:ext uri="{FF2B5EF4-FFF2-40B4-BE49-F238E27FC236}">
                <a16:creationId xmlns:a16="http://schemas.microsoft.com/office/drawing/2014/main" id="{3F032C9C-4BEA-628B-AE24-0968C19B17C6}"/>
              </a:ext>
            </a:extLst>
          </p:cNvPr>
          <p:cNvPicPr>
            <a:picLocks noChangeAspect="1"/>
          </p:cNvPicPr>
          <p:nvPr/>
        </p:nvPicPr>
        <p:blipFill>
          <a:blip r:embed="rId6"/>
          <a:stretch>
            <a:fillRect/>
          </a:stretch>
        </p:blipFill>
        <p:spPr>
          <a:xfrm>
            <a:off x="9422747" y="4603138"/>
            <a:ext cx="7175500" cy="1774825"/>
          </a:xfrm>
          <a:prstGeom prst="rect">
            <a:avLst/>
          </a:prstGeom>
          <a:ln>
            <a:noFill/>
          </a:ln>
          <a:effectLst>
            <a:outerShdw blurRad="292100" dist="139700" dir="2700000" algn="tl" rotWithShape="0">
              <a:srgbClr val="333333">
                <a:alpha val="65000"/>
              </a:srgbClr>
            </a:outerShdw>
          </a:effectLst>
        </p:spPr>
      </p:pic>
      <p:sp>
        <p:nvSpPr>
          <p:cNvPr id="37" name="Rectangle 25">
            <a:extLst>
              <a:ext uri="{FF2B5EF4-FFF2-40B4-BE49-F238E27FC236}">
                <a16:creationId xmlns:a16="http://schemas.microsoft.com/office/drawing/2014/main" id="{5C229F93-3268-E915-6C43-22023CD4495B}"/>
              </a:ext>
            </a:extLst>
          </p:cNvPr>
          <p:cNvSpPr/>
          <p:nvPr/>
        </p:nvSpPr>
        <p:spPr>
          <a:xfrm>
            <a:off x="1171620" y="9836301"/>
            <a:ext cx="5076955" cy="438925"/>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000000"/>
              </a:solidFill>
              <a:ea typeface="Calibri"/>
              <a:cs typeface="Calibri"/>
            </a:endParaRPr>
          </a:p>
        </p:txBody>
      </p:sp>
      <p:sp>
        <p:nvSpPr>
          <p:cNvPr id="38" name="TextBox 12">
            <a:extLst>
              <a:ext uri="{FF2B5EF4-FFF2-40B4-BE49-F238E27FC236}">
                <a16:creationId xmlns:a16="http://schemas.microsoft.com/office/drawing/2014/main" id="{F9434193-BDAC-F74F-DFEC-342A7FAFEC5A}"/>
              </a:ext>
            </a:extLst>
          </p:cNvPr>
          <p:cNvSpPr txBox="1"/>
          <p:nvPr/>
        </p:nvSpPr>
        <p:spPr>
          <a:xfrm>
            <a:off x="2395037" y="9833758"/>
            <a:ext cx="2619103" cy="448584"/>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973"/>
              </a:lnSpc>
            </a:pPr>
            <a:r>
              <a:rPr lang="en-US" b="1">
                <a:solidFill>
                  <a:schemeClr val="tx1">
                    <a:lumMod val="95000"/>
                    <a:lumOff val="5000"/>
                  </a:schemeClr>
                </a:solidFill>
                <a:latin typeface="Calibri"/>
                <a:ea typeface="Poppins Bold"/>
                <a:cs typeface="Poppins Bold"/>
                <a:sym typeface="Poppins Bold"/>
              </a:rPr>
              <a:t>Real Integrator Design</a:t>
            </a:r>
            <a:r>
              <a:rPr lang="en-US" sz="1800" b="1">
                <a:solidFill>
                  <a:srgbClr val="545454"/>
                </a:solidFill>
                <a:latin typeface="Calibri"/>
                <a:ea typeface="Poppins Bold"/>
                <a:cs typeface="Poppins Bold"/>
                <a:sym typeface="Poppins Bold"/>
              </a:rPr>
              <a:t> </a:t>
            </a:r>
            <a:r>
              <a:rPr lang="en-US" b="1">
                <a:solidFill>
                  <a:srgbClr val="545454"/>
                </a:solidFill>
                <a:latin typeface="Calibri"/>
                <a:ea typeface="Poppins Bold"/>
                <a:cs typeface="Poppins Bold"/>
                <a:sym typeface="Poppins Bold"/>
              </a:rPr>
              <a:t>                                                         </a:t>
            </a:r>
            <a:endParaRPr lang="en-US" sz="1800" b="1">
              <a:solidFill>
                <a:srgbClr val="545454"/>
              </a:solidFill>
              <a:latin typeface="Calibri"/>
              <a:ea typeface="Poppins Bold"/>
              <a:cs typeface="Poppins Bold"/>
            </a:endParaRPr>
          </a:p>
        </p:txBody>
      </p:sp>
      <p:cxnSp>
        <p:nvCxnSpPr>
          <p:cNvPr id="41" name="Straight Arrow Connector 40">
            <a:extLst>
              <a:ext uri="{FF2B5EF4-FFF2-40B4-BE49-F238E27FC236}">
                <a16:creationId xmlns:a16="http://schemas.microsoft.com/office/drawing/2014/main" id="{31660689-A43D-DBE5-CEA1-C59190FF6865}"/>
              </a:ext>
            </a:extLst>
          </p:cNvPr>
          <p:cNvCxnSpPr>
            <a:cxnSpLocks/>
          </p:cNvCxnSpPr>
          <p:nvPr/>
        </p:nvCxnSpPr>
        <p:spPr>
          <a:xfrm flipV="1">
            <a:off x="4575175" y="8270614"/>
            <a:ext cx="4742427" cy="24291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0" name="TextBox 2">
            <a:extLst>
              <a:ext uri="{FF2B5EF4-FFF2-40B4-BE49-F238E27FC236}">
                <a16:creationId xmlns:a16="http://schemas.microsoft.com/office/drawing/2014/main" id="{7259CB61-B440-6BD4-252F-1DEF3B95B8D4}"/>
              </a:ext>
            </a:extLst>
          </p:cNvPr>
          <p:cNvSpPr txBox="1"/>
          <p:nvPr/>
        </p:nvSpPr>
        <p:spPr>
          <a:xfrm>
            <a:off x="1958864" y="-4963"/>
            <a:ext cx="14298079" cy="1009956"/>
          </a:xfrm>
          <a:prstGeom prst="rect">
            <a:avLst/>
          </a:prstGeom>
        </p:spPr>
        <p:txBody>
          <a:bodyPr wrap="square" lIns="0" tIns="0" rIns="0" bIns="0" rtlCol="0" anchor="t">
            <a:spAutoFit/>
          </a:bodyPr>
          <a:lstStyle/>
          <a:p>
            <a:pPr algn="l">
              <a:lnSpc>
                <a:spcPts val="8645"/>
              </a:lnSpc>
            </a:pPr>
            <a:r>
              <a:rPr lang="en-US" sz="5400">
                <a:solidFill>
                  <a:schemeClr val="bg1"/>
                </a:solidFill>
                <a:latin typeface="Calibri"/>
                <a:ea typeface="Quicksand Bold"/>
                <a:cs typeface="Quicksand Bold"/>
                <a:sym typeface="Quicksand Bold"/>
              </a:rPr>
              <a:t>Noise Modelling And Non-ideal Effects Considered</a:t>
            </a:r>
            <a:r>
              <a:rPr lang="en-US" sz="5400" b="1">
                <a:solidFill>
                  <a:schemeClr val="bg1"/>
                </a:solidFill>
                <a:latin typeface="Calibri"/>
                <a:ea typeface="Quicksand Bold"/>
                <a:cs typeface="Quicksand Bold"/>
                <a:sym typeface="Quicksand Bold"/>
              </a:rPr>
              <a:t> </a:t>
            </a:r>
            <a:endParaRPr lang="en-US" sz="5400" b="1">
              <a:solidFill>
                <a:schemeClr val="bg1"/>
              </a:solidFill>
              <a:latin typeface="Calibri"/>
              <a:ea typeface="Quicksand Bold"/>
              <a:cs typeface="Quicksand Bold"/>
            </a:endParaRPr>
          </a:p>
        </p:txBody>
      </p:sp>
    </p:spTree>
    <p:extLst>
      <p:ext uri="{BB962C8B-B14F-4D97-AF65-F5344CB8AC3E}">
        <p14:creationId xmlns:p14="http://schemas.microsoft.com/office/powerpoint/2010/main" val="27624972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5">
            <a:extLst>
              <a:ext uri="{FF2B5EF4-FFF2-40B4-BE49-F238E27FC236}">
                <a16:creationId xmlns:a16="http://schemas.microsoft.com/office/drawing/2014/main" id="{3FBDDA77-456F-59DE-320D-ACB648C0D30A}"/>
              </a:ext>
            </a:extLst>
          </p:cNvPr>
          <p:cNvSpPr/>
          <p:nvPr/>
        </p:nvSpPr>
        <p:spPr>
          <a:xfrm>
            <a:off x="10030976" y="9257870"/>
            <a:ext cx="5727847" cy="625031"/>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25">
            <a:extLst>
              <a:ext uri="{FF2B5EF4-FFF2-40B4-BE49-F238E27FC236}">
                <a16:creationId xmlns:a16="http://schemas.microsoft.com/office/drawing/2014/main" id="{DBFEF31B-F65B-EB9F-8E78-75B8F382A248}"/>
              </a:ext>
            </a:extLst>
          </p:cNvPr>
          <p:cNvSpPr/>
          <p:nvPr/>
        </p:nvSpPr>
        <p:spPr>
          <a:xfrm>
            <a:off x="1798576" y="8551153"/>
            <a:ext cx="3509082" cy="658648"/>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25">
            <a:extLst>
              <a:ext uri="{FF2B5EF4-FFF2-40B4-BE49-F238E27FC236}">
                <a16:creationId xmlns:a16="http://schemas.microsoft.com/office/drawing/2014/main" id="{C3749166-A642-4250-5D2D-AD8CFE2F1366}"/>
              </a:ext>
            </a:extLst>
          </p:cNvPr>
          <p:cNvSpPr/>
          <p:nvPr/>
        </p:nvSpPr>
        <p:spPr>
          <a:xfrm>
            <a:off x="10777475" y="4375280"/>
            <a:ext cx="4366332" cy="658647"/>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25">
            <a:extLst>
              <a:ext uri="{FF2B5EF4-FFF2-40B4-BE49-F238E27FC236}">
                <a16:creationId xmlns:a16="http://schemas.microsoft.com/office/drawing/2014/main" id="{CFF519A0-F2CA-C664-BAD3-750AC702DD64}"/>
              </a:ext>
            </a:extLst>
          </p:cNvPr>
          <p:cNvSpPr/>
          <p:nvPr/>
        </p:nvSpPr>
        <p:spPr>
          <a:xfrm>
            <a:off x="2034645" y="4390783"/>
            <a:ext cx="3845259" cy="675457"/>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2"/>
          <p:cNvSpPr txBox="1"/>
          <p:nvPr/>
        </p:nvSpPr>
        <p:spPr>
          <a:xfrm>
            <a:off x="704355" y="-201433"/>
            <a:ext cx="8136960" cy="945131"/>
          </a:xfrm>
          <a:prstGeom prst="rect">
            <a:avLst/>
          </a:prstGeom>
        </p:spPr>
        <p:txBody>
          <a:bodyPr wrap="square" lIns="0" tIns="0" rIns="0" bIns="0" rtlCol="0" anchor="t">
            <a:spAutoFit/>
          </a:bodyPr>
          <a:lstStyle/>
          <a:p>
            <a:pPr algn="l">
              <a:lnSpc>
                <a:spcPts val="8720"/>
              </a:lnSpc>
            </a:pPr>
            <a:r>
              <a:rPr lang="en-US" sz="3200" b="1">
                <a:solidFill>
                  <a:schemeClr val="tx1">
                    <a:lumMod val="95000"/>
                    <a:lumOff val="5000"/>
                  </a:schemeClr>
                </a:solidFill>
                <a:latin typeface="Calibri"/>
                <a:ea typeface="Quicksand Bold"/>
                <a:cs typeface="Quicksand Bold"/>
                <a:sym typeface="Quicksand Bold"/>
              </a:rPr>
              <a:t>Solutions For Mitigating Flicker Noise </a:t>
            </a:r>
            <a:endParaRPr lang="en-US" sz="3200" b="1">
              <a:solidFill>
                <a:schemeClr val="tx1">
                  <a:lumMod val="95000"/>
                  <a:lumOff val="5000"/>
                </a:schemeClr>
              </a:solidFill>
              <a:latin typeface="Calibri"/>
              <a:ea typeface="Quicksand Bold"/>
              <a:cs typeface="Quicksand Bold"/>
            </a:endParaRPr>
          </a:p>
        </p:txBody>
      </p:sp>
      <p:sp>
        <p:nvSpPr>
          <p:cNvPr id="36" name="AutoShape 36"/>
          <p:cNvSpPr/>
          <p:nvPr/>
        </p:nvSpPr>
        <p:spPr>
          <a:xfrm rot="5400000">
            <a:off x="16376152" y="6046170"/>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37" name="TextBox 37"/>
          <p:cNvSpPr txBox="1"/>
          <p:nvPr/>
        </p:nvSpPr>
        <p:spPr>
          <a:xfrm rot="-5400000">
            <a:off x="17318191" y="7887802"/>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38" name="TextBox 38"/>
          <p:cNvSpPr txBox="1"/>
          <p:nvPr/>
        </p:nvSpPr>
        <p:spPr>
          <a:xfrm rot="-5400000">
            <a:off x="16161624" y="3347305"/>
            <a:ext cx="3231104" cy="272161"/>
          </a:xfrm>
          <a:prstGeom prst="rect">
            <a:avLst/>
          </a:prstGeom>
        </p:spPr>
        <p:txBody>
          <a:bodyPr lIns="0" tIns="0" rIns="0" bIns="0" rtlCol="0" anchor="t">
            <a:spAutoFit/>
          </a:bodyPr>
          <a:lstStyle/>
          <a:p>
            <a:pPr algn="ctr">
              <a:lnSpc>
                <a:spcPts val="2324"/>
              </a:lnSpc>
            </a:pPr>
            <a:r>
              <a:rPr lang="en-US" sz="1660">
                <a:solidFill>
                  <a:srgbClr val="FFFFFF"/>
                </a:solidFill>
                <a:latin typeface="Quicksand"/>
                <a:ea typeface="Quicksand"/>
                <a:cs typeface="Quicksand"/>
                <a:sym typeface="Quicksand"/>
              </a:rPr>
              <a:t>ww.reallygreatsite.com </a:t>
            </a:r>
          </a:p>
        </p:txBody>
      </p:sp>
      <p:pic>
        <p:nvPicPr>
          <p:cNvPr id="56" name="Picture 55" descr="A graph with a line&#10;&#10;AI-generated content may be incorrect.">
            <a:extLst>
              <a:ext uri="{FF2B5EF4-FFF2-40B4-BE49-F238E27FC236}">
                <a16:creationId xmlns:a16="http://schemas.microsoft.com/office/drawing/2014/main" id="{F93D6C8B-EE11-A87D-A42D-55B3990066C0}"/>
              </a:ext>
            </a:extLst>
          </p:cNvPr>
          <p:cNvPicPr>
            <a:picLocks noChangeAspect="1"/>
          </p:cNvPicPr>
          <p:nvPr/>
        </p:nvPicPr>
        <p:blipFill>
          <a:blip r:embed="rId3"/>
          <a:stretch>
            <a:fillRect/>
          </a:stretch>
        </p:blipFill>
        <p:spPr>
          <a:xfrm>
            <a:off x="715931" y="1118021"/>
            <a:ext cx="7039741" cy="3389204"/>
          </a:xfrm>
          <a:prstGeom prst="rect">
            <a:avLst/>
          </a:prstGeom>
          <a:ln>
            <a:noFill/>
          </a:ln>
          <a:effectLst>
            <a:outerShdw blurRad="292100" dist="139700" dir="2700000" algn="tl" rotWithShape="0">
              <a:srgbClr val="333333">
                <a:alpha val="65000"/>
              </a:srgbClr>
            </a:outerShdw>
          </a:effectLst>
        </p:spPr>
      </p:pic>
      <p:sp>
        <p:nvSpPr>
          <p:cNvPr id="58" name="TextBox 57">
            <a:extLst>
              <a:ext uri="{FF2B5EF4-FFF2-40B4-BE49-F238E27FC236}">
                <a16:creationId xmlns:a16="http://schemas.microsoft.com/office/drawing/2014/main" id="{516474DF-4B9A-828B-6916-7527681C8664}"/>
              </a:ext>
            </a:extLst>
          </p:cNvPr>
          <p:cNvSpPr txBox="1"/>
          <p:nvPr/>
        </p:nvSpPr>
        <p:spPr>
          <a:xfrm>
            <a:off x="2376788" y="4600422"/>
            <a:ext cx="3323098" cy="425437"/>
          </a:xfrm>
          <a:prstGeom prst="rect">
            <a:avLst/>
          </a:prstGeom>
          <a:noFill/>
        </p:spPr>
        <p:txBody>
          <a:bodyPr wrap="square" lIns="91440" tIns="45720" rIns="91440" bIns="45720" anchor="t">
            <a:spAutoFit/>
          </a:bodyPr>
          <a:lstStyle/>
          <a:p>
            <a:pPr algn="l">
              <a:lnSpc>
                <a:spcPts val="2771"/>
              </a:lnSpc>
            </a:pPr>
            <a:r>
              <a:rPr lang="en-US" b="1">
                <a:solidFill>
                  <a:schemeClr val="tx1">
                    <a:lumMod val="95000"/>
                    <a:lumOff val="5000"/>
                  </a:schemeClr>
                </a:solidFill>
                <a:latin typeface="Calibri"/>
                <a:ea typeface="Poppins"/>
                <a:cs typeface="Poppins"/>
                <a:sym typeface="Poppins"/>
              </a:rPr>
              <a:t>Modulator Without Flicker noise</a:t>
            </a:r>
            <a:r>
              <a:rPr lang="en-US" sz="1800" b="1">
                <a:solidFill>
                  <a:srgbClr val="545454"/>
                </a:solidFill>
                <a:latin typeface="Poppins"/>
                <a:ea typeface="Poppins"/>
                <a:cs typeface="Poppins"/>
                <a:sym typeface="Poppins"/>
              </a:rPr>
              <a:t> </a:t>
            </a:r>
          </a:p>
        </p:txBody>
      </p:sp>
      <p:pic>
        <p:nvPicPr>
          <p:cNvPr id="60" name="Picture 59" descr="A graph with lines on it&#10;&#10;AI-generated content may be incorrect.">
            <a:extLst>
              <a:ext uri="{FF2B5EF4-FFF2-40B4-BE49-F238E27FC236}">
                <a16:creationId xmlns:a16="http://schemas.microsoft.com/office/drawing/2014/main" id="{437CAD4C-4E9C-1816-0134-1F3AAA70393A}"/>
              </a:ext>
            </a:extLst>
          </p:cNvPr>
          <p:cNvPicPr>
            <a:picLocks noChangeAspect="1"/>
          </p:cNvPicPr>
          <p:nvPr/>
        </p:nvPicPr>
        <p:blipFill>
          <a:blip r:embed="rId4"/>
          <a:stretch>
            <a:fillRect/>
          </a:stretch>
        </p:blipFill>
        <p:spPr>
          <a:xfrm>
            <a:off x="9038557" y="1169805"/>
            <a:ext cx="8043335" cy="3351296"/>
          </a:xfrm>
          <a:prstGeom prst="rect">
            <a:avLst/>
          </a:prstGeom>
          <a:ln>
            <a:noFill/>
          </a:ln>
          <a:effectLst>
            <a:outerShdw blurRad="292100" dist="139700" dir="2700000" algn="tl" rotWithShape="0">
              <a:srgbClr val="333333">
                <a:alpha val="65000"/>
              </a:srgbClr>
            </a:outerShdw>
          </a:effectLst>
        </p:spPr>
      </p:pic>
      <p:sp>
        <p:nvSpPr>
          <p:cNvPr id="61" name="TextBox 60">
            <a:extLst>
              <a:ext uri="{FF2B5EF4-FFF2-40B4-BE49-F238E27FC236}">
                <a16:creationId xmlns:a16="http://schemas.microsoft.com/office/drawing/2014/main" id="{EBEEC7DF-6594-8F9A-8F79-45DD46103974}"/>
              </a:ext>
            </a:extLst>
          </p:cNvPr>
          <p:cNvSpPr txBox="1"/>
          <p:nvPr/>
        </p:nvSpPr>
        <p:spPr>
          <a:xfrm>
            <a:off x="11149860" y="4602483"/>
            <a:ext cx="3820826" cy="422552"/>
          </a:xfrm>
          <a:prstGeom prst="rect">
            <a:avLst/>
          </a:prstGeom>
          <a:noFill/>
        </p:spPr>
        <p:txBody>
          <a:bodyPr wrap="square" lIns="91440" tIns="45720" rIns="91440" bIns="45720" anchor="t">
            <a:spAutoFit/>
          </a:bodyPr>
          <a:lstStyle/>
          <a:p>
            <a:pPr algn="l">
              <a:lnSpc>
                <a:spcPts val="2771"/>
              </a:lnSpc>
            </a:pPr>
            <a:r>
              <a:rPr lang="en-US" sz="1800" b="1">
                <a:solidFill>
                  <a:schemeClr val="tx1">
                    <a:lumMod val="95000"/>
                    <a:lumOff val="5000"/>
                  </a:schemeClr>
                </a:solidFill>
                <a:latin typeface="Calibri"/>
                <a:ea typeface="Poppins"/>
                <a:cs typeface="Poppins"/>
                <a:sym typeface="Poppins"/>
              </a:rPr>
              <a:t>Modulator output With Flicker Noise </a:t>
            </a:r>
            <a:endParaRPr lang="en-US" sz="1800" b="1">
              <a:solidFill>
                <a:schemeClr val="tx1">
                  <a:lumMod val="95000"/>
                  <a:lumOff val="5000"/>
                </a:schemeClr>
              </a:solidFill>
              <a:latin typeface="Calibri"/>
              <a:ea typeface="Poppins"/>
              <a:cs typeface="Poppins"/>
            </a:endParaRPr>
          </a:p>
        </p:txBody>
      </p:sp>
      <p:grpSp>
        <p:nvGrpSpPr>
          <p:cNvPr id="62" name="Group 39"/>
          <p:cNvGrpSpPr/>
          <p:nvPr/>
        </p:nvGrpSpPr>
        <p:grpSpPr>
          <a:xfrm>
            <a:off x="269065" y="308235"/>
            <a:ext cx="383366" cy="383366"/>
            <a:chOff x="-173576" y="-9151160"/>
            <a:chExt cx="660400" cy="660400"/>
          </a:xfrm>
        </p:grpSpPr>
        <p:sp>
          <p:nvSpPr>
            <p:cNvPr id="63" name="Freeform 40"/>
            <p:cNvSpPr/>
            <p:nvPr/>
          </p:nvSpPr>
          <p:spPr>
            <a:xfrm>
              <a:off x="-173576" y="-9151160"/>
              <a:ext cx="660400" cy="660400"/>
            </a:xfrm>
            <a:custGeom>
              <a:avLst/>
              <a:gdLst/>
              <a:ahLst/>
              <a:cxnLst/>
              <a:rect l="l" t="t" r="r" b="b"/>
              <a:pathLst>
                <a:path w="660400" h="660400">
                  <a:moveTo>
                    <a:pt x="535940" y="660400"/>
                  </a:moveTo>
                  <a:lnTo>
                    <a:pt x="124460" y="660400"/>
                  </a:lnTo>
                  <a:cubicBezTo>
                    <a:pt x="55880" y="660400"/>
                    <a:pt x="0" y="604520"/>
                    <a:pt x="0" y="535940"/>
                  </a:cubicBezTo>
                  <a:lnTo>
                    <a:pt x="0" y="124460"/>
                  </a:lnTo>
                  <a:cubicBezTo>
                    <a:pt x="0" y="55880"/>
                    <a:pt x="55880" y="0"/>
                    <a:pt x="124460" y="0"/>
                  </a:cubicBezTo>
                  <a:lnTo>
                    <a:pt x="535940" y="0"/>
                  </a:lnTo>
                  <a:cubicBezTo>
                    <a:pt x="604520" y="0"/>
                    <a:pt x="660400" y="55880"/>
                    <a:pt x="660400" y="124460"/>
                  </a:cubicBezTo>
                  <a:lnTo>
                    <a:pt x="660400" y="535940"/>
                  </a:lnTo>
                  <a:cubicBezTo>
                    <a:pt x="660400" y="604520"/>
                    <a:pt x="604520" y="660400"/>
                    <a:pt x="535940" y="660400"/>
                  </a:cubicBezTo>
                  <a:close/>
                </a:path>
              </a:pathLst>
            </a:custGeom>
            <a:solidFill>
              <a:srgbClr val="FF914D"/>
            </a:solidFill>
          </p:spPr>
          <p:txBody>
            <a:bodyPr/>
            <a:lstStyle/>
            <a:p>
              <a:endParaRPr lang="en-IN"/>
            </a:p>
          </p:txBody>
        </p:sp>
      </p:grpSp>
      <p:sp>
        <p:nvSpPr>
          <p:cNvPr id="65" name="TextBox 64">
            <a:extLst>
              <a:ext uri="{FF2B5EF4-FFF2-40B4-BE49-F238E27FC236}">
                <a16:creationId xmlns:a16="http://schemas.microsoft.com/office/drawing/2014/main" id="{2310B16E-5999-6B81-DFA5-2F7C3E2FBD29}"/>
              </a:ext>
            </a:extLst>
          </p:cNvPr>
          <p:cNvSpPr txBox="1"/>
          <p:nvPr/>
        </p:nvSpPr>
        <p:spPr>
          <a:xfrm>
            <a:off x="698774" y="5810766"/>
            <a:ext cx="1702824" cy="425758"/>
          </a:xfrm>
          <a:prstGeom prst="rect">
            <a:avLst/>
          </a:prstGeom>
          <a:noFill/>
        </p:spPr>
        <p:txBody>
          <a:bodyPr wrap="square" lIns="91440" tIns="45720" rIns="91440" bIns="45720" anchor="t">
            <a:spAutoFit/>
          </a:bodyPr>
          <a:lstStyle/>
          <a:p>
            <a:pPr algn="l">
              <a:lnSpc>
                <a:spcPts val="2560"/>
              </a:lnSpc>
              <a:spcBef>
                <a:spcPct val="0"/>
              </a:spcBef>
            </a:pPr>
            <a:r>
              <a:rPr lang="en-US" sz="2400" b="1">
                <a:solidFill>
                  <a:schemeClr val="tx1">
                    <a:lumMod val="95000"/>
                    <a:lumOff val="5000"/>
                  </a:schemeClr>
                </a:solidFill>
                <a:latin typeface="+mj-lt"/>
                <a:ea typeface="Poppins"/>
                <a:cs typeface="Poppins"/>
                <a:sym typeface="Poppins"/>
              </a:rPr>
              <a:t>Chopping</a:t>
            </a:r>
            <a:endParaRPr lang="en-US" sz="2400" b="1">
              <a:solidFill>
                <a:schemeClr val="tx1">
                  <a:lumMod val="95000"/>
                  <a:lumOff val="5000"/>
                </a:schemeClr>
              </a:solidFill>
              <a:latin typeface="+mj-lt"/>
              <a:ea typeface="Poppins"/>
              <a:cs typeface="Poppins"/>
            </a:endParaRPr>
          </a:p>
        </p:txBody>
      </p:sp>
      <p:pic>
        <p:nvPicPr>
          <p:cNvPr id="66" name="Picture 65" descr="A graph showing a line&#10;&#10;AI-generated content may be incorrect.">
            <a:extLst>
              <a:ext uri="{FF2B5EF4-FFF2-40B4-BE49-F238E27FC236}">
                <a16:creationId xmlns:a16="http://schemas.microsoft.com/office/drawing/2014/main" id="{9552EEC8-C554-2A7A-A0D8-B5F1C83C5CA5}"/>
              </a:ext>
            </a:extLst>
          </p:cNvPr>
          <p:cNvPicPr>
            <a:picLocks noChangeAspect="1"/>
          </p:cNvPicPr>
          <p:nvPr/>
        </p:nvPicPr>
        <p:blipFill>
          <a:blip r:embed="rId5"/>
          <a:stretch>
            <a:fillRect/>
          </a:stretch>
        </p:blipFill>
        <p:spPr>
          <a:xfrm>
            <a:off x="8440171" y="6045521"/>
            <a:ext cx="8664494" cy="3346245"/>
          </a:xfrm>
          <a:prstGeom prst="rect">
            <a:avLst/>
          </a:prstGeom>
        </p:spPr>
      </p:pic>
      <p:grpSp>
        <p:nvGrpSpPr>
          <p:cNvPr id="69" name="Group 39">
            <a:extLst>
              <a:ext uri="{FF2B5EF4-FFF2-40B4-BE49-F238E27FC236}">
                <a16:creationId xmlns:a16="http://schemas.microsoft.com/office/drawing/2014/main" id="{B24351D5-2BA3-3466-02F3-1A4440A941E3}"/>
              </a:ext>
            </a:extLst>
          </p:cNvPr>
          <p:cNvGrpSpPr/>
          <p:nvPr/>
        </p:nvGrpSpPr>
        <p:grpSpPr>
          <a:xfrm>
            <a:off x="237347" y="5839046"/>
            <a:ext cx="383366" cy="383366"/>
            <a:chOff x="0" y="0"/>
            <a:chExt cx="660400" cy="660400"/>
          </a:xfrm>
        </p:grpSpPr>
        <p:sp>
          <p:nvSpPr>
            <p:cNvPr id="70" name="Freeform 40">
              <a:extLst>
                <a:ext uri="{FF2B5EF4-FFF2-40B4-BE49-F238E27FC236}">
                  <a16:creationId xmlns:a16="http://schemas.microsoft.com/office/drawing/2014/main" id="{7772C30F-8826-021B-ECEF-00908BBAC856}"/>
                </a:ext>
              </a:extLst>
            </p:cNvPr>
            <p:cNvSpPr/>
            <p:nvPr/>
          </p:nvSpPr>
          <p:spPr>
            <a:xfrm>
              <a:off x="0" y="0"/>
              <a:ext cx="660400" cy="660400"/>
            </a:xfrm>
            <a:custGeom>
              <a:avLst/>
              <a:gdLst/>
              <a:ahLst/>
              <a:cxnLst/>
              <a:rect l="l" t="t" r="r" b="b"/>
              <a:pathLst>
                <a:path w="660400" h="660400">
                  <a:moveTo>
                    <a:pt x="535940" y="660400"/>
                  </a:moveTo>
                  <a:lnTo>
                    <a:pt x="124460" y="660400"/>
                  </a:lnTo>
                  <a:cubicBezTo>
                    <a:pt x="55880" y="660400"/>
                    <a:pt x="0" y="604520"/>
                    <a:pt x="0" y="535940"/>
                  </a:cubicBezTo>
                  <a:lnTo>
                    <a:pt x="0" y="124460"/>
                  </a:lnTo>
                  <a:cubicBezTo>
                    <a:pt x="0" y="55880"/>
                    <a:pt x="55880" y="0"/>
                    <a:pt x="124460" y="0"/>
                  </a:cubicBezTo>
                  <a:lnTo>
                    <a:pt x="535940" y="0"/>
                  </a:lnTo>
                  <a:cubicBezTo>
                    <a:pt x="604520" y="0"/>
                    <a:pt x="660400" y="55880"/>
                    <a:pt x="660400" y="124460"/>
                  </a:cubicBezTo>
                  <a:lnTo>
                    <a:pt x="660400" y="535940"/>
                  </a:lnTo>
                  <a:cubicBezTo>
                    <a:pt x="660400" y="604520"/>
                    <a:pt x="604520" y="660400"/>
                    <a:pt x="535940" y="660400"/>
                  </a:cubicBezTo>
                  <a:close/>
                </a:path>
              </a:pathLst>
            </a:custGeom>
            <a:solidFill>
              <a:srgbClr val="FF914D"/>
            </a:solidFill>
          </p:spPr>
          <p:txBody>
            <a:bodyPr/>
            <a:lstStyle/>
            <a:p>
              <a:endParaRPr lang="en-IN"/>
            </a:p>
          </p:txBody>
        </p:sp>
      </p:grpSp>
      <p:cxnSp>
        <p:nvCxnSpPr>
          <p:cNvPr id="71" name="Straight Arrow Connector 70">
            <a:extLst>
              <a:ext uri="{FF2B5EF4-FFF2-40B4-BE49-F238E27FC236}">
                <a16:creationId xmlns:a16="http://schemas.microsoft.com/office/drawing/2014/main" id="{A8EE64D6-E4F4-676F-21B3-6233F758DF6C}"/>
              </a:ext>
            </a:extLst>
          </p:cNvPr>
          <p:cNvCxnSpPr>
            <a:cxnSpLocks/>
          </p:cNvCxnSpPr>
          <p:nvPr/>
        </p:nvCxnSpPr>
        <p:spPr>
          <a:xfrm>
            <a:off x="7621621" y="7374008"/>
            <a:ext cx="1274441" cy="13505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77" name="Straight Arrow Connector 76">
            <a:extLst>
              <a:ext uri="{FF2B5EF4-FFF2-40B4-BE49-F238E27FC236}">
                <a16:creationId xmlns:a16="http://schemas.microsoft.com/office/drawing/2014/main" id="{F164ECE7-636F-16BA-543D-649AB0A4FEB8}"/>
              </a:ext>
            </a:extLst>
          </p:cNvPr>
          <p:cNvCxnSpPr>
            <a:cxnSpLocks/>
          </p:cNvCxnSpPr>
          <p:nvPr/>
        </p:nvCxnSpPr>
        <p:spPr>
          <a:xfrm flipV="1">
            <a:off x="8077760" y="7371791"/>
            <a:ext cx="7053542" cy="174867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81" name="TextBox 80">
            <a:extLst>
              <a:ext uri="{FF2B5EF4-FFF2-40B4-BE49-F238E27FC236}">
                <a16:creationId xmlns:a16="http://schemas.microsoft.com/office/drawing/2014/main" id="{EAD7C126-BBFA-5AE8-FE49-A09652499B08}"/>
              </a:ext>
            </a:extLst>
          </p:cNvPr>
          <p:cNvSpPr txBox="1"/>
          <p:nvPr/>
        </p:nvSpPr>
        <p:spPr>
          <a:xfrm>
            <a:off x="6894831" y="7185745"/>
            <a:ext cx="2706966" cy="369332"/>
          </a:xfrm>
          <a:prstGeom prst="rect">
            <a:avLst/>
          </a:prstGeom>
          <a:noFill/>
        </p:spPr>
        <p:txBody>
          <a:bodyPr wrap="square" rtlCol="0">
            <a:spAutoFit/>
          </a:bodyPr>
          <a:lstStyle/>
          <a:p>
            <a:r>
              <a:rPr lang="en-IN" b="1"/>
              <a:t>Signal</a:t>
            </a:r>
          </a:p>
        </p:txBody>
      </p:sp>
      <p:sp>
        <p:nvSpPr>
          <p:cNvPr id="82" name="TextBox 81">
            <a:extLst>
              <a:ext uri="{FF2B5EF4-FFF2-40B4-BE49-F238E27FC236}">
                <a16:creationId xmlns:a16="http://schemas.microsoft.com/office/drawing/2014/main" id="{6B231186-D21C-A4AA-73F4-0463B2CD0D9A}"/>
              </a:ext>
            </a:extLst>
          </p:cNvPr>
          <p:cNvSpPr txBox="1"/>
          <p:nvPr/>
        </p:nvSpPr>
        <p:spPr>
          <a:xfrm>
            <a:off x="6266988" y="9143498"/>
            <a:ext cx="2690158" cy="369332"/>
          </a:xfrm>
          <a:prstGeom prst="rect">
            <a:avLst/>
          </a:prstGeom>
          <a:noFill/>
        </p:spPr>
        <p:txBody>
          <a:bodyPr wrap="square" rtlCol="0">
            <a:spAutoFit/>
          </a:bodyPr>
          <a:lstStyle/>
          <a:p>
            <a:r>
              <a:rPr lang="en-IN" b="1"/>
              <a:t>Shifted Flicker Noise </a:t>
            </a:r>
          </a:p>
        </p:txBody>
      </p:sp>
      <p:pic>
        <p:nvPicPr>
          <p:cNvPr id="86" name="Picture 85" descr="A diagram of a computer system&#10;&#10;AI-generated content may be incorrect.">
            <a:extLst>
              <a:ext uri="{FF2B5EF4-FFF2-40B4-BE49-F238E27FC236}">
                <a16:creationId xmlns:a16="http://schemas.microsoft.com/office/drawing/2014/main" id="{766A1D45-1161-994F-9FC8-812FF6E04D7D}"/>
              </a:ext>
            </a:extLst>
          </p:cNvPr>
          <p:cNvPicPr>
            <a:picLocks noChangeAspect="1"/>
          </p:cNvPicPr>
          <p:nvPr/>
        </p:nvPicPr>
        <p:blipFill>
          <a:blip r:embed="rId6">
            <a:extLst>
              <a:ext uri="{28A0092B-C50C-407E-A947-70E740481C1C}">
                <a14:useLocalDpi xmlns:a14="http://schemas.microsoft.com/office/drawing/2010/main" val="0"/>
              </a:ext>
            </a:extLst>
          </a:blip>
          <a:srcRect l="6435" t="13295" r="9032" b="19068"/>
          <a:stretch>
            <a:fillRect/>
          </a:stretch>
        </p:blipFill>
        <p:spPr>
          <a:xfrm>
            <a:off x="936809" y="6593492"/>
            <a:ext cx="5222847" cy="1959900"/>
          </a:xfrm>
          <a:prstGeom prst="rect">
            <a:avLst/>
          </a:prstGeom>
          <a:ln>
            <a:noFill/>
          </a:ln>
          <a:effectLst>
            <a:outerShdw blurRad="292100" dist="139700" dir="2700000" algn="tl" rotWithShape="0">
              <a:srgbClr val="333333">
                <a:alpha val="65000"/>
              </a:srgbClr>
            </a:outerShdw>
          </a:effectLst>
        </p:spPr>
      </p:pic>
      <p:sp>
        <p:nvSpPr>
          <p:cNvPr id="87" name="TextBox 86">
            <a:extLst>
              <a:ext uri="{FF2B5EF4-FFF2-40B4-BE49-F238E27FC236}">
                <a16:creationId xmlns:a16="http://schemas.microsoft.com/office/drawing/2014/main" id="{4FD81126-455A-1337-AA3C-C892F018155F}"/>
              </a:ext>
            </a:extLst>
          </p:cNvPr>
          <p:cNvSpPr txBox="1"/>
          <p:nvPr/>
        </p:nvSpPr>
        <p:spPr>
          <a:xfrm>
            <a:off x="2202831" y="8684959"/>
            <a:ext cx="2699213" cy="403316"/>
          </a:xfrm>
          <a:prstGeom prst="rect">
            <a:avLst/>
          </a:prstGeom>
          <a:noFill/>
        </p:spPr>
        <p:txBody>
          <a:bodyPr wrap="square" lIns="91440" tIns="45720" rIns="91440" bIns="45720" anchor="t">
            <a:spAutoFit/>
          </a:bodyPr>
          <a:lstStyle/>
          <a:p>
            <a:pPr algn="l">
              <a:lnSpc>
                <a:spcPts val="2560"/>
              </a:lnSpc>
              <a:spcBef>
                <a:spcPct val="0"/>
              </a:spcBef>
            </a:pPr>
            <a:r>
              <a:rPr lang="en-US" b="1">
                <a:solidFill>
                  <a:schemeClr val="tx1">
                    <a:lumMod val="95000"/>
                    <a:lumOff val="5000"/>
                  </a:schemeClr>
                </a:solidFill>
                <a:latin typeface="Calibri"/>
                <a:ea typeface="Poppins"/>
                <a:cs typeface="Poppins"/>
                <a:sym typeface="Poppins"/>
              </a:rPr>
              <a:t>Chopping Implementation</a:t>
            </a:r>
            <a:r>
              <a:rPr lang="en-US" b="1">
                <a:solidFill>
                  <a:schemeClr val="tx1">
                    <a:lumMod val="95000"/>
                    <a:lumOff val="5000"/>
                  </a:schemeClr>
                </a:solidFill>
                <a:latin typeface="+mj-lt"/>
                <a:ea typeface="Poppins"/>
                <a:cs typeface="Poppins"/>
                <a:sym typeface="Poppins"/>
              </a:rPr>
              <a:t> </a:t>
            </a:r>
            <a:endParaRPr lang="en-US" b="1">
              <a:solidFill>
                <a:schemeClr val="tx1">
                  <a:lumMod val="95000"/>
                  <a:lumOff val="5000"/>
                </a:schemeClr>
              </a:solidFill>
              <a:latin typeface="+mj-lt"/>
              <a:ea typeface="Poppins"/>
              <a:cs typeface="Poppins"/>
            </a:endParaRPr>
          </a:p>
        </p:txBody>
      </p:sp>
      <p:cxnSp>
        <p:nvCxnSpPr>
          <p:cNvPr id="88" name="Straight Arrow Connector 87">
            <a:extLst>
              <a:ext uri="{FF2B5EF4-FFF2-40B4-BE49-F238E27FC236}">
                <a16:creationId xmlns:a16="http://schemas.microsoft.com/office/drawing/2014/main" id="{EF66922A-58C4-0250-BD16-82B42A8DF278}"/>
              </a:ext>
            </a:extLst>
          </p:cNvPr>
          <p:cNvCxnSpPr>
            <a:cxnSpLocks/>
          </p:cNvCxnSpPr>
          <p:nvPr/>
        </p:nvCxnSpPr>
        <p:spPr>
          <a:xfrm flipH="1">
            <a:off x="9698602" y="872824"/>
            <a:ext cx="4703198" cy="116995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92" name="TextBox 91">
            <a:extLst>
              <a:ext uri="{FF2B5EF4-FFF2-40B4-BE49-F238E27FC236}">
                <a16:creationId xmlns:a16="http://schemas.microsoft.com/office/drawing/2014/main" id="{14E582C7-9E68-D78A-3067-42AC74C6E3E3}"/>
              </a:ext>
            </a:extLst>
          </p:cNvPr>
          <p:cNvSpPr txBox="1"/>
          <p:nvPr/>
        </p:nvSpPr>
        <p:spPr>
          <a:xfrm>
            <a:off x="14381594" y="703242"/>
            <a:ext cx="2026285" cy="369332"/>
          </a:xfrm>
          <a:prstGeom prst="rect">
            <a:avLst/>
          </a:prstGeom>
          <a:noFill/>
        </p:spPr>
        <p:txBody>
          <a:bodyPr wrap="square">
            <a:spAutoFit/>
          </a:bodyPr>
          <a:lstStyle/>
          <a:p>
            <a:r>
              <a:rPr lang="en-IN" b="1"/>
              <a:t>Signal Peak</a:t>
            </a:r>
            <a:endParaRPr lang="en-IN"/>
          </a:p>
        </p:txBody>
      </p:sp>
      <p:cxnSp>
        <p:nvCxnSpPr>
          <p:cNvPr id="93" name="Straight Arrow Connector 92">
            <a:extLst>
              <a:ext uri="{FF2B5EF4-FFF2-40B4-BE49-F238E27FC236}">
                <a16:creationId xmlns:a16="http://schemas.microsoft.com/office/drawing/2014/main" id="{1A41F200-AB10-4B8D-1824-721558BB35E8}"/>
              </a:ext>
            </a:extLst>
          </p:cNvPr>
          <p:cNvCxnSpPr>
            <a:cxnSpLocks/>
          </p:cNvCxnSpPr>
          <p:nvPr/>
        </p:nvCxnSpPr>
        <p:spPr>
          <a:xfrm flipH="1">
            <a:off x="9244074" y="954912"/>
            <a:ext cx="1119126" cy="65400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00" name="TextBox 99">
            <a:extLst>
              <a:ext uri="{FF2B5EF4-FFF2-40B4-BE49-F238E27FC236}">
                <a16:creationId xmlns:a16="http://schemas.microsoft.com/office/drawing/2014/main" id="{CD2BCC2E-EB0E-B61B-75C5-A1E0E581F9AB}"/>
              </a:ext>
            </a:extLst>
          </p:cNvPr>
          <p:cNvSpPr txBox="1"/>
          <p:nvPr/>
        </p:nvSpPr>
        <p:spPr>
          <a:xfrm>
            <a:off x="10283166" y="749248"/>
            <a:ext cx="2690158" cy="369332"/>
          </a:xfrm>
          <a:prstGeom prst="rect">
            <a:avLst/>
          </a:prstGeom>
          <a:noFill/>
        </p:spPr>
        <p:txBody>
          <a:bodyPr wrap="square" rtlCol="0">
            <a:spAutoFit/>
          </a:bodyPr>
          <a:lstStyle/>
          <a:p>
            <a:r>
              <a:rPr lang="en-IN" b="1"/>
              <a:t>Flicker Noise  </a:t>
            </a:r>
          </a:p>
        </p:txBody>
      </p:sp>
      <p:cxnSp>
        <p:nvCxnSpPr>
          <p:cNvPr id="101" name="Straight Arrow Connector 100">
            <a:extLst>
              <a:ext uri="{FF2B5EF4-FFF2-40B4-BE49-F238E27FC236}">
                <a16:creationId xmlns:a16="http://schemas.microsoft.com/office/drawing/2014/main" id="{4BFB2710-E021-9AC3-1F10-F88B987C1244}"/>
              </a:ext>
            </a:extLst>
          </p:cNvPr>
          <p:cNvCxnSpPr>
            <a:cxnSpLocks/>
          </p:cNvCxnSpPr>
          <p:nvPr/>
        </p:nvCxnSpPr>
        <p:spPr>
          <a:xfrm flipH="1">
            <a:off x="1492641" y="965522"/>
            <a:ext cx="4470677" cy="106350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02" name="TextBox 101">
            <a:extLst>
              <a:ext uri="{FF2B5EF4-FFF2-40B4-BE49-F238E27FC236}">
                <a16:creationId xmlns:a16="http://schemas.microsoft.com/office/drawing/2014/main" id="{AD598D2A-CD7C-95F6-1454-6B980F9B936B}"/>
              </a:ext>
            </a:extLst>
          </p:cNvPr>
          <p:cNvSpPr txBox="1"/>
          <p:nvPr/>
        </p:nvSpPr>
        <p:spPr>
          <a:xfrm>
            <a:off x="5881776" y="785093"/>
            <a:ext cx="1502410" cy="369332"/>
          </a:xfrm>
          <a:prstGeom prst="rect">
            <a:avLst/>
          </a:prstGeom>
          <a:noFill/>
        </p:spPr>
        <p:txBody>
          <a:bodyPr wrap="square">
            <a:spAutoFit/>
          </a:bodyPr>
          <a:lstStyle/>
          <a:p>
            <a:r>
              <a:rPr lang="en-IN" b="1"/>
              <a:t>Signal Peak</a:t>
            </a:r>
            <a:endParaRPr lang="en-IN"/>
          </a:p>
        </p:txBody>
      </p:sp>
      <p:sp>
        <p:nvSpPr>
          <p:cNvPr id="4" name="TextBox 3">
            <a:extLst>
              <a:ext uri="{FF2B5EF4-FFF2-40B4-BE49-F238E27FC236}">
                <a16:creationId xmlns:a16="http://schemas.microsoft.com/office/drawing/2014/main" id="{4B0BCC9E-A766-1246-7A6D-C323896317D6}"/>
              </a:ext>
            </a:extLst>
          </p:cNvPr>
          <p:cNvSpPr txBox="1"/>
          <p:nvPr/>
        </p:nvSpPr>
        <p:spPr>
          <a:xfrm>
            <a:off x="10506449" y="9478309"/>
            <a:ext cx="574675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solidFill>
                  <a:schemeClr val="tx1">
                    <a:lumMod val="95000"/>
                    <a:lumOff val="5000"/>
                  </a:schemeClr>
                </a:solidFill>
                <a:latin typeface="Calibri"/>
                <a:ea typeface="Calibri"/>
                <a:cs typeface="Calibri"/>
              </a:rPr>
              <a:t>Modulator output With </a:t>
            </a:r>
            <a:r>
              <a:rPr lang="en-US" b="1">
                <a:solidFill>
                  <a:schemeClr val="tx1">
                    <a:lumMod val="95000"/>
                    <a:lumOff val="5000"/>
                  </a:schemeClr>
                </a:solidFill>
                <a:latin typeface="Calibri"/>
                <a:ea typeface="Calibri"/>
                <a:cs typeface="Calibri"/>
              </a:rPr>
              <a:t>Chopping Implemented</a:t>
            </a:r>
          </a:p>
          <a:p>
            <a:pPr algn="ctr"/>
            <a:endParaRPr lang="en-US"/>
          </a:p>
        </p:txBody>
      </p:sp>
      <p:cxnSp>
        <p:nvCxnSpPr>
          <p:cNvPr id="5" name="Straight Arrow Connector 4">
            <a:extLst>
              <a:ext uri="{FF2B5EF4-FFF2-40B4-BE49-F238E27FC236}">
                <a16:creationId xmlns:a16="http://schemas.microsoft.com/office/drawing/2014/main" id="{DAD726C0-DE77-E3E7-23BB-FADC89E85FB5}"/>
              </a:ext>
            </a:extLst>
          </p:cNvPr>
          <p:cNvCxnSpPr>
            <a:cxnSpLocks/>
          </p:cNvCxnSpPr>
          <p:nvPr/>
        </p:nvCxnSpPr>
        <p:spPr>
          <a:xfrm>
            <a:off x="9882408" y="5843471"/>
            <a:ext cx="13778" cy="257233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6" name="TextBox 5">
            <a:extLst>
              <a:ext uri="{FF2B5EF4-FFF2-40B4-BE49-F238E27FC236}">
                <a16:creationId xmlns:a16="http://schemas.microsoft.com/office/drawing/2014/main" id="{FDB53A2B-A6C3-7933-B51A-CD9FFF51B320}"/>
              </a:ext>
            </a:extLst>
          </p:cNvPr>
          <p:cNvSpPr txBox="1"/>
          <p:nvPr/>
        </p:nvSpPr>
        <p:spPr>
          <a:xfrm>
            <a:off x="8444978" y="5581437"/>
            <a:ext cx="3177612" cy="369332"/>
          </a:xfrm>
          <a:prstGeom prst="rect">
            <a:avLst/>
          </a:prstGeom>
          <a:noFill/>
        </p:spPr>
        <p:txBody>
          <a:bodyPr wrap="square" lIns="91440" tIns="45720" rIns="91440" bIns="45720" rtlCol="0" anchor="t">
            <a:spAutoFit/>
          </a:bodyPr>
          <a:lstStyle/>
          <a:p>
            <a:r>
              <a:rPr lang="en-IN" b="1">
                <a:ea typeface="Calibri"/>
                <a:cs typeface="Calibri"/>
              </a:rPr>
              <a:t>Increased in-band Noise </a:t>
            </a:r>
          </a:p>
        </p:txBody>
      </p:sp>
      <p:sp>
        <p:nvSpPr>
          <p:cNvPr id="3" name="Rectangle 25">
            <a:extLst>
              <a:ext uri="{FF2B5EF4-FFF2-40B4-BE49-F238E27FC236}">
                <a16:creationId xmlns:a16="http://schemas.microsoft.com/office/drawing/2014/main" id="{5D9A44FB-23D5-5732-0CA5-98CD17E342CD}"/>
              </a:ext>
            </a:extLst>
          </p:cNvPr>
          <p:cNvSpPr/>
          <p:nvPr/>
        </p:nvSpPr>
        <p:spPr>
          <a:xfrm>
            <a:off x="1212035" y="9438481"/>
            <a:ext cx="4682161" cy="733845"/>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ea typeface="Calibri"/>
                <a:cs typeface="Calibri"/>
              </a:rPr>
              <a:t>If Modulator Clock Frequency Fs Then Chopping Frequency is Fs/4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block diagram&#10;&#10;AI-generated content may be incorrect.">
            <a:extLst>
              <a:ext uri="{FF2B5EF4-FFF2-40B4-BE49-F238E27FC236}">
                <a16:creationId xmlns:a16="http://schemas.microsoft.com/office/drawing/2014/main" id="{0BA96BBD-8CB7-A9C6-94FE-4A15FA7C5433}"/>
              </a:ext>
            </a:extLst>
          </p:cNvPr>
          <p:cNvPicPr>
            <a:picLocks noChangeAspect="1"/>
          </p:cNvPicPr>
          <p:nvPr/>
        </p:nvPicPr>
        <p:blipFill>
          <a:blip r:embed="rId2"/>
          <a:stretch>
            <a:fillRect/>
          </a:stretch>
        </p:blipFill>
        <p:spPr>
          <a:xfrm>
            <a:off x="9205678" y="5607477"/>
            <a:ext cx="7336250" cy="3948396"/>
          </a:xfrm>
          <a:prstGeom prst="rect">
            <a:avLst/>
          </a:prstGeom>
        </p:spPr>
      </p:pic>
      <p:sp>
        <p:nvSpPr>
          <p:cNvPr id="11" name="Rectangle 25">
            <a:extLst>
              <a:ext uri="{FF2B5EF4-FFF2-40B4-BE49-F238E27FC236}">
                <a16:creationId xmlns:a16="http://schemas.microsoft.com/office/drawing/2014/main" id="{AB9AEE5B-B9C9-DF26-84D7-8F64EAD0815A}"/>
              </a:ext>
            </a:extLst>
          </p:cNvPr>
          <p:cNvSpPr/>
          <p:nvPr/>
        </p:nvSpPr>
        <p:spPr>
          <a:xfrm>
            <a:off x="10285887" y="9385147"/>
            <a:ext cx="5907771" cy="578156"/>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ea typeface="Calibri"/>
              <a:cs typeface="Calibri"/>
            </a:endParaRPr>
          </a:p>
        </p:txBody>
      </p:sp>
      <p:sp>
        <p:nvSpPr>
          <p:cNvPr id="8" name="Rectangle 25">
            <a:extLst>
              <a:ext uri="{FF2B5EF4-FFF2-40B4-BE49-F238E27FC236}">
                <a16:creationId xmlns:a16="http://schemas.microsoft.com/office/drawing/2014/main" id="{440CF79F-8D82-B9F7-54A6-52A2C0C94FD1}"/>
              </a:ext>
            </a:extLst>
          </p:cNvPr>
          <p:cNvSpPr/>
          <p:nvPr/>
        </p:nvSpPr>
        <p:spPr>
          <a:xfrm>
            <a:off x="1406432" y="4530127"/>
            <a:ext cx="3509082" cy="658648"/>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F8431739-D363-0573-AFCD-A0949A3CB4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025" y="1011340"/>
            <a:ext cx="4942863" cy="3479619"/>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10" name="Rectangle 25">
            <a:extLst>
              <a:ext uri="{FF2B5EF4-FFF2-40B4-BE49-F238E27FC236}">
                <a16:creationId xmlns:a16="http://schemas.microsoft.com/office/drawing/2014/main" id="{AB16801B-73BE-C928-7A78-25BE806F2806}"/>
              </a:ext>
            </a:extLst>
          </p:cNvPr>
          <p:cNvSpPr/>
          <p:nvPr/>
        </p:nvSpPr>
        <p:spPr>
          <a:xfrm>
            <a:off x="9350863" y="4219075"/>
            <a:ext cx="7033332" cy="1103148"/>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76A0A84-F894-970C-F5AC-0DFB8C674B5A}"/>
              </a:ext>
            </a:extLst>
          </p:cNvPr>
          <p:cNvSpPr/>
          <p:nvPr/>
        </p:nvSpPr>
        <p:spPr>
          <a:xfrm>
            <a:off x="-3528" y="5408368"/>
            <a:ext cx="8920765" cy="4888905"/>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8"/>
          <p:cNvGrpSpPr/>
          <p:nvPr/>
        </p:nvGrpSpPr>
        <p:grpSpPr>
          <a:xfrm>
            <a:off x="191606" y="379600"/>
            <a:ext cx="383366" cy="383366"/>
            <a:chOff x="0" y="0"/>
            <a:chExt cx="660400" cy="660400"/>
          </a:xfrm>
        </p:grpSpPr>
        <p:sp>
          <p:nvSpPr>
            <p:cNvPr id="39" name="Freeform 39"/>
            <p:cNvSpPr/>
            <p:nvPr/>
          </p:nvSpPr>
          <p:spPr>
            <a:xfrm>
              <a:off x="0" y="0"/>
              <a:ext cx="660400" cy="660400"/>
            </a:xfrm>
            <a:custGeom>
              <a:avLst/>
              <a:gdLst/>
              <a:ahLst/>
              <a:cxnLst/>
              <a:rect l="l" t="t" r="r" b="b"/>
              <a:pathLst>
                <a:path w="660400" h="660400">
                  <a:moveTo>
                    <a:pt x="535940" y="660400"/>
                  </a:moveTo>
                  <a:lnTo>
                    <a:pt x="124460" y="660400"/>
                  </a:lnTo>
                  <a:cubicBezTo>
                    <a:pt x="55880" y="660400"/>
                    <a:pt x="0" y="604520"/>
                    <a:pt x="0" y="535940"/>
                  </a:cubicBezTo>
                  <a:lnTo>
                    <a:pt x="0" y="124460"/>
                  </a:lnTo>
                  <a:cubicBezTo>
                    <a:pt x="0" y="55880"/>
                    <a:pt x="55880" y="0"/>
                    <a:pt x="124460" y="0"/>
                  </a:cubicBezTo>
                  <a:lnTo>
                    <a:pt x="535940" y="0"/>
                  </a:lnTo>
                  <a:cubicBezTo>
                    <a:pt x="604520" y="0"/>
                    <a:pt x="660400" y="55880"/>
                    <a:pt x="660400" y="124460"/>
                  </a:cubicBezTo>
                  <a:lnTo>
                    <a:pt x="660400" y="535940"/>
                  </a:lnTo>
                  <a:cubicBezTo>
                    <a:pt x="660400" y="604520"/>
                    <a:pt x="604520" y="660400"/>
                    <a:pt x="535940" y="660400"/>
                  </a:cubicBezTo>
                  <a:close/>
                </a:path>
              </a:pathLst>
            </a:custGeom>
            <a:solidFill>
              <a:srgbClr val="FF914D"/>
            </a:solidFill>
          </p:spPr>
          <p:txBody>
            <a:bodyPr/>
            <a:lstStyle/>
            <a:p>
              <a:endParaRPr lang="en-IN"/>
            </a:p>
          </p:txBody>
        </p:sp>
      </p:grpSp>
      <p:sp>
        <p:nvSpPr>
          <p:cNvPr id="41" name="Freeform 41"/>
          <p:cNvSpPr/>
          <p:nvPr/>
        </p:nvSpPr>
        <p:spPr>
          <a:xfrm>
            <a:off x="1116739" y="764505"/>
            <a:ext cx="207288" cy="169717"/>
          </a:xfrm>
          <a:custGeom>
            <a:avLst/>
            <a:gdLst/>
            <a:ahLst/>
            <a:cxnLst/>
            <a:rect l="l" t="t" r="r" b="b"/>
            <a:pathLst>
              <a:path w="207288" h="169717">
                <a:moveTo>
                  <a:pt x="0" y="0"/>
                </a:moveTo>
                <a:lnTo>
                  <a:pt x="207288" y="0"/>
                </a:lnTo>
                <a:lnTo>
                  <a:pt x="207288" y="169716"/>
                </a:lnTo>
                <a:lnTo>
                  <a:pt x="0" y="1697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5C0ED343-5001-E76E-3E4A-19D629A752EB}"/>
              </a:ext>
            </a:extLst>
          </p:cNvPr>
          <p:cNvSpPr txBox="1"/>
          <p:nvPr/>
        </p:nvSpPr>
        <p:spPr>
          <a:xfrm>
            <a:off x="649701" y="359376"/>
            <a:ext cx="2147324" cy="425758"/>
          </a:xfrm>
          <a:prstGeom prst="rect">
            <a:avLst/>
          </a:prstGeom>
          <a:noFill/>
        </p:spPr>
        <p:txBody>
          <a:bodyPr wrap="square" lIns="91440" tIns="45720" rIns="91440" bIns="45720" anchor="t">
            <a:spAutoFit/>
          </a:bodyPr>
          <a:lstStyle/>
          <a:p>
            <a:pPr algn="l">
              <a:lnSpc>
                <a:spcPts val="2560"/>
              </a:lnSpc>
              <a:spcBef>
                <a:spcPct val="0"/>
              </a:spcBef>
            </a:pPr>
            <a:r>
              <a:rPr lang="en-US" sz="2400" b="1">
                <a:solidFill>
                  <a:schemeClr val="tx1">
                    <a:lumMod val="95000"/>
                    <a:lumOff val="5000"/>
                  </a:schemeClr>
                </a:solidFill>
                <a:latin typeface="+mj-lt"/>
                <a:ea typeface="Poppins"/>
                <a:cs typeface="Poppins"/>
                <a:sym typeface="Poppins"/>
              </a:rPr>
              <a:t>Auto Zeroing</a:t>
            </a:r>
            <a:endParaRPr lang="en-US" sz="2400" b="1">
              <a:solidFill>
                <a:schemeClr val="tx1">
                  <a:lumMod val="95000"/>
                  <a:lumOff val="5000"/>
                </a:schemeClr>
              </a:solidFill>
              <a:latin typeface="+mj-lt"/>
              <a:ea typeface="Poppins"/>
              <a:cs typeface="Poppins"/>
            </a:endParaRPr>
          </a:p>
        </p:txBody>
      </p:sp>
      <p:sp>
        <p:nvSpPr>
          <p:cNvPr id="45" name="TextBox 44">
            <a:extLst>
              <a:ext uri="{FF2B5EF4-FFF2-40B4-BE49-F238E27FC236}">
                <a16:creationId xmlns:a16="http://schemas.microsoft.com/office/drawing/2014/main" id="{30CDB500-1148-D705-1DC9-0F1805D7BCD2}"/>
              </a:ext>
            </a:extLst>
          </p:cNvPr>
          <p:cNvSpPr txBox="1"/>
          <p:nvPr/>
        </p:nvSpPr>
        <p:spPr>
          <a:xfrm>
            <a:off x="1878278" y="4779382"/>
            <a:ext cx="2893150" cy="403316"/>
          </a:xfrm>
          <a:prstGeom prst="rect">
            <a:avLst/>
          </a:prstGeom>
          <a:noFill/>
        </p:spPr>
        <p:txBody>
          <a:bodyPr wrap="square" lIns="91440" tIns="45720" rIns="91440" bIns="45720" anchor="t">
            <a:spAutoFit/>
          </a:bodyPr>
          <a:lstStyle/>
          <a:p>
            <a:pPr>
              <a:lnSpc>
                <a:spcPts val="2560"/>
              </a:lnSpc>
              <a:spcBef>
                <a:spcPct val="0"/>
              </a:spcBef>
            </a:pPr>
            <a:r>
              <a:rPr lang="en-US" sz="1800" b="1">
                <a:solidFill>
                  <a:schemeClr val="tx1">
                    <a:lumMod val="95000"/>
                    <a:lumOff val="5000"/>
                  </a:schemeClr>
                </a:solidFill>
                <a:latin typeface="+mj-lt"/>
                <a:ea typeface="Poppins"/>
                <a:cs typeface="Poppins"/>
                <a:sym typeface="Poppins"/>
              </a:rPr>
              <a:t>Actual </a:t>
            </a:r>
            <a:r>
              <a:rPr lang="en-US" b="1">
                <a:solidFill>
                  <a:schemeClr val="tx1">
                    <a:lumMod val="95000"/>
                    <a:lumOff val="5000"/>
                  </a:schemeClr>
                </a:solidFill>
                <a:latin typeface="+mj-lt"/>
                <a:ea typeface="Poppins"/>
                <a:cs typeface="Poppins"/>
                <a:sym typeface="Poppins"/>
              </a:rPr>
              <a:t> Hardware </a:t>
            </a:r>
            <a:r>
              <a:rPr lang="en-US" sz="1800" b="1">
                <a:solidFill>
                  <a:schemeClr val="tx1">
                    <a:lumMod val="95000"/>
                    <a:lumOff val="5000"/>
                  </a:schemeClr>
                </a:solidFill>
                <a:latin typeface="+mj-lt"/>
                <a:ea typeface="Poppins"/>
                <a:cs typeface="Poppins"/>
                <a:sym typeface="Poppins"/>
              </a:rPr>
              <a:t>Circuit </a:t>
            </a:r>
            <a:endParaRPr lang="en-US" sz="1800" b="1">
              <a:solidFill>
                <a:schemeClr val="tx1">
                  <a:lumMod val="95000"/>
                  <a:lumOff val="5000"/>
                </a:schemeClr>
              </a:solidFill>
              <a:latin typeface="+mj-lt"/>
              <a:ea typeface="Poppins"/>
              <a:cs typeface="Poppins"/>
            </a:endParaRPr>
          </a:p>
        </p:txBody>
      </p:sp>
      <p:pic>
        <p:nvPicPr>
          <p:cNvPr id="47" name="Picture 46" descr="A screen shot of a graph&#10;&#10;AI-generated content may be incorrect.">
            <a:extLst>
              <a:ext uri="{FF2B5EF4-FFF2-40B4-BE49-F238E27FC236}">
                <a16:creationId xmlns:a16="http://schemas.microsoft.com/office/drawing/2014/main" id="{27FAEE38-4543-E0D9-BF72-95BDE089E13F}"/>
              </a:ext>
            </a:extLst>
          </p:cNvPr>
          <p:cNvPicPr>
            <a:picLocks noChangeAspect="1"/>
          </p:cNvPicPr>
          <p:nvPr/>
        </p:nvPicPr>
        <p:blipFill>
          <a:blip r:embed="rId6"/>
          <a:stretch>
            <a:fillRect/>
          </a:stretch>
        </p:blipFill>
        <p:spPr>
          <a:xfrm>
            <a:off x="9038463" y="304170"/>
            <a:ext cx="7602128" cy="4221116"/>
          </a:xfrm>
          <a:prstGeom prst="rect">
            <a:avLst/>
          </a:prstGeom>
        </p:spPr>
      </p:pic>
      <p:sp>
        <p:nvSpPr>
          <p:cNvPr id="48" name="TextBox 47">
            <a:extLst>
              <a:ext uri="{FF2B5EF4-FFF2-40B4-BE49-F238E27FC236}">
                <a16:creationId xmlns:a16="http://schemas.microsoft.com/office/drawing/2014/main" id="{330F1798-1596-8104-82B9-C753A41B52ED}"/>
              </a:ext>
            </a:extLst>
          </p:cNvPr>
          <p:cNvSpPr txBox="1"/>
          <p:nvPr/>
        </p:nvSpPr>
        <p:spPr>
          <a:xfrm>
            <a:off x="9391650" y="4498993"/>
            <a:ext cx="7020949" cy="403316"/>
          </a:xfrm>
          <a:prstGeom prst="rect">
            <a:avLst/>
          </a:prstGeom>
          <a:noFill/>
        </p:spPr>
        <p:txBody>
          <a:bodyPr wrap="square" lIns="91440" tIns="45720" rIns="91440" bIns="45720" anchor="t">
            <a:spAutoFit/>
          </a:bodyPr>
          <a:lstStyle/>
          <a:p>
            <a:pPr algn="l">
              <a:lnSpc>
                <a:spcPts val="2560"/>
              </a:lnSpc>
              <a:spcBef>
                <a:spcPct val="0"/>
              </a:spcBef>
            </a:pPr>
            <a:r>
              <a:rPr lang="en-US" b="1">
                <a:latin typeface="+mj-lt"/>
                <a:ea typeface="Poppins"/>
                <a:cs typeface="Poppins"/>
                <a:sym typeface="Poppins"/>
              </a:rPr>
              <a:t>Modulator Output   WITH AUTOZEROING AND WITHOUT AUTOZEROING </a:t>
            </a:r>
            <a:endParaRPr lang="en-US" b="1">
              <a:latin typeface="+mj-lt"/>
              <a:ea typeface="Poppins"/>
              <a:cs typeface="Poppins"/>
            </a:endParaRPr>
          </a:p>
        </p:txBody>
      </p:sp>
      <p:cxnSp>
        <p:nvCxnSpPr>
          <p:cNvPr id="50" name="Straight Arrow Connector 49">
            <a:extLst>
              <a:ext uri="{FF2B5EF4-FFF2-40B4-BE49-F238E27FC236}">
                <a16:creationId xmlns:a16="http://schemas.microsoft.com/office/drawing/2014/main" id="{71B5866A-E943-D132-E9A7-E956ED2FB9C6}"/>
              </a:ext>
            </a:extLst>
          </p:cNvPr>
          <p:cNvCxnSpPr/>
          <p:nvPr/>
        </p:nvCxnSpPr>
        <p:spPr>
          <a:xfrm>
            <a:off x="8349064" y="1012651"/>
            <a:ext cx="4343400" cy="30309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51" name="TextBox 50">
            <a:extLst>
              <a:ext uri="{FF2B5EF4-FFF2-40B4-BE49-F238E27FC236}">
                <a16:creationId xmlns:a16="http://schemas.microsoft.com/office/drawing/2014/main" id="{852D77DB-0BA2-5D0B-D631-F869BEC3E307}"/>
              </a:ext>
            </a:extLst>
          </p:cNvPr>
          <p:cNvSpPr txBox="1"/>
          <p:nvPr/>
        </p:nvSpPr>
        <p:spPr>
          <a:xfrm>
            <a:off x="6647176" y="656566"/>
            <a:ext cx="2737123" cy="369332"/>
          </a:xfrm>
          <a:prstGeom prst="rect">
            <a:avLst/>
          </a:prstGeom>
          <a:noFill/>
        </p:spPr>
        <p:txBody>
          <a:bodyPr wrap="square" rtlCol="0">
            <a:spAutoFit/>
          </a:bodyPr>
          <a:lstStyle/>
          <a:p>
            <a:r>
              <a:rPr lang="en-IN"/>
              <a:t>Without Autozeroing </a:t>
            </a:r>
          </a:p>
        </p:txBody>
      </p:sp>
      <p:sp>
        <p:nvSpPr>
          <p:cNvPr id="52" name="TextBox 51">
            <a:extLst>
              <a:ext uri="{FF2B5EF4-FFF2-40B4-BE49-F238E27FC236}">
                <a16:creationId xmlns:a16="http://schemas.microsoft.com/office/drawing/2014/main" id="{8998062D-3B4B-8547-6BA5-1A94EDFFEAF8}"/>
              </a:ext>
            </a:extLst>
          </p:cNvPr>
          <p:cNvSpPr txBox="1"/>
          <p:nvPr/>
        </p:nvSpPr>
        <p:spPr>
          <a:xfrm>
            <a:off x="6997445" y="3313497"/>
            <a:ext cx="2690158" cy="369332"/>
          </a:xfrm>
          <a:prstGeom prst="rect">
            <a:avLst/>
          </a:prstGeom>
          <a:noFill/>
        </p:spPr>
        <p:txBody>
          <a:bodyPr wrap="square" rtlCol="0">
            <a:spAutoFit/>
          </a:bodyPr>
          <a:lstStyle/>
          <a:p>
            <a:r>
              <a:rPr lang="en-IN"/>
              <a:t>With Autozeroing </a:t>
            </a:r>
          </a:p>
        </p:txBody>
      </p:sp>
      <p:cxnSp>
        <p:nvCxnSpPr>
          <p:cNvPr id="53" name="Straight Arrow Connector 52">
            <a:extLst>
              <a:ext uri="{FF2B5EF4-FFF2-40B4-BE49-F238E27FC236}">
                <a16:creationId xmlns:a16="http://schemas.microsoft.com/office/drawing/2014/main" id="{087928C7-1C37-3B24-6728-036351D97047}"/>
              </a:ext>
            </a:extLst>
          </p:cNvPr>
          <p:cNvCxnSpPr>
            <a:cxnSpLocks/>
          </p:cNvCxnSpPr>
          <p:nvPr/>
        </p:nvCxnSpPr>
        <p:spPr>
          <a:xfrm flipV="1">
            <a:off x="8518193" y="2561431"/>
            <a:ext cx="4484165" cy="82365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56" name="TextBox 55">
            <a:extLst>
              <a:ext uri="{FF2B5EF4-FFF2-40B4-BE49-F238E27FC236}">
                <a16:creationId xmlns:a16="http://schemas.microsoft.com/office/drawing/2014/main" id="{7B4F1975-4850-B1B3-6A8A-19AC78A35769}"/>
              </a:ext>
            </a:extLst>
          </p:cNvPr>
          <p:cNvSpPr txBox="1"/>
          <p:nvPr/>
        </p:nvSpPr>
        <p:spPr>
          <a:xfrm>
            <a:off x="11810591" y="4913994"/>
            <a:ext cx="2257425" cy="403316"/>
          </a:xfrm>
          <a:prstGeom prst="rect">
            <a:avLst/>
          </a:prstGeom>
          <a:noFill/>
        </p:spPr>
        <p:txBody>
          <a:bodyPr wrap="square">
            <a:spAutoFit/>
          </a:bodyPr>
          <a:lstStyle/>
          <a:p>
            <a:pPr algn="l">
              <a:lnSpc>
                <a:spcPts val="2560"/>
              </a:lnSpc>
              <a:spcBef>
                <a:spcPct val="0"/>
              </a:spcBef>
            </a:pPr>
            <a:r>
              <a:rPr lang="en-US" sz="1800" b="1">
                <a:latin typeface="+mj-lt"/>
                <a:ea typeface="Poppins"/>
                <a:cs typeface="Poppins"/>
                <a:sym typeface="Poppins"/>
              </a:rPr>
              <a:t>SIMULATION RESULTS </a:t>
            </a:r>
          </a:p>
        </p:txBody>
      </p:sp>
      <p:sp>
        <p:nvSpPr>
          <p:cNvPr id="4" name="TextBox 3">
            <a:extLst>
              <a:ext uri="{FF2B5EF4-FFF2-40B4-BE49-F238E27FC236}">
                <a16:creationId xmlns:a16="http://schemas.microsoft.com/office/drawing/2014/main" id="{446C4646-4FD9-5746-5D34-B7D218371426}"/>
              </a:ext>
            </a:extLst>
          </p:cNvPr>
          <p:cNvSpPr txBox="1"/>
          <p:nvPr/>
        </p:nvSpPr>
        <p:spPr>
          <a:xfrm>
            <a:off x="10847695" y="10877614"/>
            <a:ext cx="5913398" cy="425758"/>
          </a:xfrm>
          <a:prstGeom prst="rect">
            <a:avLst/>
          </a:prstGeom>
          <a:solidFill>
            <a:schemeClr val="bg1"/>
          </a:solidFill>
        </p:spPr>
        <p:txBody>
          <a:bodyPr wrap="square" lIns="91440" tIns="45720" rIns="91440" bIns="45720" anchor="t">
            <a:spAutoFit/>
          </a:bodyPr>
          <a:lstStyle/>
          <a:p>
            <a:pPr>
              <a:lnSpc>
                <a:spcPts val="2560"/>
              </a:lnSpc>
              <a:spcBef>
                <a:spcPct val="0"/>
              </a:spcBef>
            </a:pPr>
            <a:endParaRPr lang="en-US" sz="2400" b="1">
              <a:solidFill>
                <a:srgbClr val="545454"/>
              </a:solidFill>
              <a:latin typeface="+mj-lt"/>
              <a:ea typeface="Poppins"/>
              <a:cs typeface="Poppins"/>
            </a:endParaRPr>
          </a:p>
        </p:txBody>
      </p:sp>
      <p:sp>
        <p:nvSpPr>
          <p:cNvPr id="2" name="TextBox 1">
            <a:extLst>
              <a:ext uri="{FF2B5EF4-FFF2-40B4-BE49-F238E27FC236}">
                <a16:creationId xmlns:a16="http://schemas.microsoft.com/office/drawing/2014/main" id="{4A12316D-17FF-01DF-BFC0-30E432206164}"/>
              </a:ext>
            </a:extLst>
          </p:cNvPr>
          <p:cNvSpPr txBox="1"/>
          <p:nvPr/>
        </p:nvSpPr>
        <p:spPr>
          <a:xfrm>
            <a:off x="92858" y="6143191"/>
            <a:ext cx="8731250"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gn="just">
              <a:buFont typeface=""/>
              <a:buChar char="•"/>
            </a:pPr>
            <a:r>
              <a:rPr lang="en-US" sz="2400"/>
              <a:t>Auto-zeroing was modeled by sampling the op-amp offset and flicker noise in one clock phase and storing it using a dedicated sampling path.</a:t>
            </a:r>
            <a:endParaRPr lang="en-US" sz="2400">
              <a:ea typeface="Calibri"/>
              <a:cs typeface="Calibri"/>
            </a:endParaRPr>
          </a:p>
          <a:p>
            <a:pPr marL="228600" indent="-228600" algn="just">
              <a:buFont typeface=""/>
              <a:buChar char="•"/>
            </a:pPr>
            <a:r>
              <a:rPr lang="en-US" sz="2400"/>
              <a:t>In the next phase, this stored noise sample is subtracted from the integrator input, mimicking real auto-zero cancellation.</a:t>
            </a:r>
            <a:endParaRPr lang="en-US" sz="2400">
              <a:ea typeface="Calibri"/>
              <a:cs typeface="Calibri"/>
            </a:endParaRPr>
          </a:p>
          <a:p>
            <a:pPr marL="228600" indent="-228600" algn="just">
              <a:buFont typeface=""/>
              <a:buChar char="•"/>
            </a:pPr>
            <a:r>
              <a:rPr lang="en-US" sz="2400"/>
              <a:t>Since flicker (1/f) noise varies slowly, the sampled value closely matches the actual noise, leading to effective cancellation.</a:t>
            </a:r>
            <a:endParaRPr lang="en-US" sz="2400">
              <a:ea typeface="Calibri"/>
              <a:cs typeface="Calibri"/>
            </a:endParaRPr>
          </a:p>
          <a:p>
            <a:pPr marL="228600" indent="-228600" algn="just">
              <a:buFont typeface=""/>
              <a:buChar char="•"/>
            </a:pPr>
            <a:r>
              <a:rPr lang="en-US" sz="2400"/>
              <a:t>This process removes most low-frequency noise components, resulting in a </a:t>
            </a:r>
            <a:r>
              <a:rPr lang="en-US" sz="2400" b="1"/>
              <a:t>lower in-band noise floor</a:t>
            </a:r>
            <a:r>
              <a:rPr lang="en-US" sz="2400"/>
              <a:t> in the modulator output.</a:t>
            </a:r>
            <a:endParaRPr lang="en-US" sz="2400">
              <a:ea typeface="Calibri"/>
              <a:cs typeface="Calibri"/>
            </a:endParaRPr>
          </a:p>
        </p:txBody>
      </p:sp>
      <p:sp>
        <p:nvSpPr>
          <p:cNvPr id="13" name="TextBox 12">
            <a:extLst>
              <a:ext uri="{FF2B5EF4-FFF2-40B4-BE49-F238E27FC236}">
                <a16:creationId xmlns:a16="http://schemas.microsoft.com/office/drawing/2014/main" id="{10253E45-A560-C1E9-08ED-DE1CC8B37B4E}"/>
              </a:ext>
            </a:extLst>
          </p:cNvPr>
          <p:cNvSpPr txBox="1"/>
          <p:nvPr/>
        </p:nvSpPr>
        <p:spPr>
          <a:xfrm>
            <a:off x="11191466" y="9501869"/>
            <a:ext cx="4606925" cy="369332"/>
          </a:xfrm>
          <a:prstGeom prst="rect">
            <a:avLst/>
          </a:prstGeom>
          <a:noFill/>
        </p:spPr>
        <p:txBody>
          <a:bodyPr wrap="square" lIns="91440" tIns="45720" rIns="91440" bIns="45720" anchor="t">
            <a:spAutoFit/>
          </a:bodyPr>
          <a:lstStyle/>
          <a:p>
            <a:r>
              <a:rPr lang="en-US" b="1">
                <a:solidFill>
                  <a:schemeClr val="tx1">
                    <a:lumMod val="95000"/>
                    <a:lumOff val="5000"/>
                  </a:schemeClr>
                </a:solidFill>
                <a:latin typeface="+mj-lt"/>
                <a:ea typeface="Calibri"/>
                <a:cs typeface="Calibri"/>
                <a:sym typeface="Poppins"/>
              </a:rPr>
              <a:t>Implementation of Auto-Zeroing in Simulink </a:t>
            </a:r>
            <a:endParaRPr lang="en-US">
              <a:solidFill>
                <a:schemeClr val="tx1">
                  <a:lumMod val="95000"/>
                  <a:lumOff val="5000"/>
                </a:schemeClr>
              </a:solidFill>
              <a:latin typeface="+mj-lt"/>
              <a:ea typeface="Calibri"/>
              <a:cs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336EF14A-9608-5AB0-FA2B-C621E84BFAD2}"/>
              </a:ext>
            </a:extLst>
          </p:cNvPr>
          <p:cNvSpPr/>
          <p:nvPr/>
        </p:nvSpPr>
        <p:spPr>
          <a:xfrm>
            <a:off x="1581407" y="-277951"/>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9" name="Rectangle 25">
            <a:extLst>
              <a:ext uri="{FF2B5EF4-FFF2-40B4-BE49-F238E27FC236}">
                <a16:creationId xmlns:a16="http://schemas.microsoft.com/office/drawing/2014/main" id="{5F94E0EF-DBE6-DE22-E4A1-91132243B6DB}"/>
              </a:ext>
            </a:extLst>
          </p:cNvPr>
          <p:cNvSpPr/>
          <p:nvPr/>
        </p:nvSpPr>
        <p:spPr>
          <a:xfrm>
            <a:off x="6182213" y="5149387"/>
            <a:ext cx="5945577" cy="752628"/>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7CE00CF-668E-9DE9-A68B-8699C15A4657}"/>
              </a:ext>
            </a:extLst>
          </p:cNvPr>
          <p:cNvSpPr/>
          <p:nvPr/>
        </p:nvSpPr>
        <p:spPr>
          <a:xfrm>
            <a:off x="4685" y="4306535"/>
            <a:ext cx="18279901" cy="5979367"/>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utoShape 17"/>
          <p:cNvSpPr/>
          <p:nvPr/>
        </p:nvSpPr>
        <p:spPr>
          <a:xfrm rot="5400000">
            <a:off x="16399966" y="6264625"/>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18" name="TextBox 18"/>
          <p:cNvSpPr txBox="1"/>
          <p:nvPr/>
        </p:nvSpPr>
        <p:spPr>
          <a:xfrm rot="-5400000">
            <a:off x="17310518" y="8275412"/>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23" name="TextBox 22">
            <a:extLst>
              <a:ext uri="{FF2B5EF4-FFF2-40B4-BE49-F238E27FC236}">
                <a16:creationId xmlns:a16="http://schemas.microsoft.com/office/drawing/2014/main" id="{49698D41-0708-7909-3918-538B676F6179}"/>
              </a:ext>
            </a:extLst>
          </p:cNvPr>
          <p:cNvSpPr txBox="1"/>
          <p:nvPr/>
        </p:nvSpPr>
        <p:spPr>
          <a:xfrm>
            <a:off x="6245965" y="5313150"/>
            <a:ext cx="5953125" cy="426271"/>
          </a:xfrm>
          <a:prstGeom prst="rect">
            <a:avLst/>
          </a:prstGeom>
          <a:noFill/>
        </p:spPr>
        <p:txBody>
          <a:bodyPr wrap="square" lIns="91440" tIns="45720" rIns="91440" bIns="45720" anchor="t">
            <a:spAutoFit/>
          </a:bodyPr>
          <a:lstStyle/>
          <a:p>
            <a:pPr algn="l">
              <a:lnSpc>
                <a:spcPts val="2771"/>
              </a:lnSpc>
            </a:pPr>
            <a:r>
              <a:rPr lang="en-US" sz="1800" b="1">
                <a:latin typeface="Poppins"/>
                <a:ea typeface="Poppins"/>
                <a:cs typeface="Poppins"/>
                <a:sym typeface="Poppins"/>
              </a:rPr>
              <a:t>3</a:t>
            </a:r>
            <a:r>
              <a:rPr lang="en-US" sz="1800" b="1" baseline="30000">
                <a:latin typeface="Poppins"/>
                <a:ea typeface="Poppins"/>
                <a:cs typeface="Poppins"/>
                <a:sym typeface="Poppins"/>
              </a:rPr>
              <a:t>rd</a:t>
            </a:r>
            <a:r>
              <a:rPr lang="en-US" sz="1800" b="1">
                <a:latin typeface="Poppins"/>
                <a:ea typeface="Poppins"/>
                <a:cs typeface="Poppins"/>
                <a:sym typeface="Poppins"/>
              </a:rPr>
              <a:t> Order CRFB ( Cascaded Resonator Feedback)</a:t>
            </a:r>
            <a:endParaRPr lang="en-US" sz="1800" b="1">
              <a:latin typeface="Poppins"/>
              <a:ea typeface="Poppins"/>
              <a:cs typeface="Poppins"/>
            </a:endParaRPr>
          </a:p>
        </p:txBody>
      </p:sp>
      <p:sp>
        <p:nvSpPr>
          <p:cNvPr id="27" name="TextBox 26">
            <a:extLst>
              <a:ext uri="{FF2B5EF4-FFF2-40B4-BE49-F238E27FC236}">
                <a16:creationId xmlns:a16="http://schemas.microsoft.com/office/drawing/2014/main" id="{8EDA5D9F-A9E3-237F-39C5-588BE59FEE8E}"/>
              </a:ext>
            </a:extLst>
          </p:cNvPr>
          <p:cNvSpPr txBox="1"/>
          <p:nvPr/>
        </p:nvSpPr>
        <p:spPr>
          <a:xfrm>
            <a:off x="423015" y="6503184"/>
            <a:ext cx="8375593" cy="4042132"/>
          </a:xfrm>
          <a:prstGeom prst="rect">
            <a:avLst/>
          </a:prstGeom>
          <a:noFill/>
        </p:spPr>
        <p:txBody>
          <a:bodyPr wrap="square" lIns="91440" tIns="45720" rIns="91440" bIns="45720" anchor="t">
            <a:spAutoFit/>
          </a:bodyPr>
          <a:lstStyle/>
          <a:p>
            <a:pPr>
              <a:lnSpc>
                <a:spcPts val="2771"/>
              </a:lnSpc>
            </a:pPr>
            <a:r>
              <a:rPr lang="en-US" sz="2800" b="1">
                <a:latin typeface="Poppins"/>
                <a:ea typeface="Poppins"/>
                <a:cs typeface="Poppins"/>
                <a:sym typeface="Poppins"/>
              </a:rPr>
              <a:t>ENOB VS Nyquist Rate For 3</a:t>
            </a:r>
            <a:r>
              <a:rPr lang="en-US" sz="2800" b="1" baseline="30000">
                <a:latin typeface="Poppins"/>
                <a:ea typeface="Poppins"/>
                <a:cs typeface="Poppins"/>
                <a:sym typeface="Poppins"/>
              </a:rPr>
              <a:t>rd</a:t>
            </a:r>
            <a:r>
              <a:rPr lang="en-US" sz="2800" b="1">
                <a:latin typeface="Poppins"/>
                <a:ea typeface="Poppins"/>
                <a:cs typeface="Poppins"/>
                <a:sym typeface="Poppins"/>
              </a:rPr>
              <a:t> Order CRFB Architecture </a:t>
            </a:r>
            <a:r>
              <a:rPr lang="en-US" sz="2400" b="1">
                <a:latin typeface="Poppins"/>
                <a:ea typeface="Poppins"/>
                <a:cs typeface="Poppins"/>
                <a:sym typeface="Poppins"/>
              </a:rPr>
              <a:t>:  </a:t>
            </a:r>
            <a:br>
              <a:rPr lang="en-US" sz="2400" b="1">
                <a:latin typeface="Poppins"/>
                <a:ea typeface="Poppins"/>
                <a:cs typeface="Poppins"/>
              </a:rPr>
            </a:br>
            <a:r>
              <a:rPr lang="en-US" sz="2400">
                <a:latin typeface="Poppins"/>
                <a:ea typeface="Poppins"/>
                <a:cs typeface="Poppins"/>
                <a:sym typeface="Poppins"/>
              </a:rPr>
              <a:t>Considered Parameters </a:t>
            </a:r>
            <a:br>
              <a:rPr lang="en-US" sz="2400">
                <a:latin typeface="Poppins"/>
                <a:ea typeface="Poppins"/>
                <a:cs typeface="Poppins"/>
              </a:rPr>
            </a:br>
            <a:r>
              <a:rPr lang="en-US" sz="2400">
                <a:latin typeface="Poppins"/>
                <a:ea typeface="Poppins"/>
                <a:cs typeface="Poppins"/>
                <a:sym typeface="Poppins"/>
              </a:rPr>
              <a:t>Modulator clock Frequency – 512khz </a:t>
            </a:r>
            <a:br>
              <a:rPr lang="en-US" sz="2400">
                <a:latin typeface="Poppins"/>
                <a:ea typeface="Poppins"/>
                <a:cs typeface="Poppins"/>
              </a:rPr>
            </a:br>
            <a:r>
              <a:rPr lang="en-US" sz="2400">
                <a:latin typeface="Poppins"/>
                <a:ea typeface="Poppins"/>
                <a:cs typeface="Poppins"/>
                <a:sym typeface="Poppins"/>
              </a:rPr>
              <a:t>Input Frequency – 100 Hz </a:t>
            </a:r>
            <a:br>
              <a:rPr lang="en-US" sz="2400">
                <a:latin typeface="Poppins"/>
                <a:ea typeface="Poppins"/>
                <a:cs typeface="Poppins"/>
              </a:rPr>
            </a:br>
            <a:r>
              <a:rPr lang="en-US" sz="2400">
                <a:latin typeface="Poppins"/>
                <a:ea typeface="Poppins"/>
                <a:cs typeface="Poppins"/>
                <a:sym typeface="Poppins"/>
              </a:rPr>
              <a:t>Flicker Noise -   Cutt-off Frequency 10khz </a:t>
            </a:r>
            <a:br>
              <a:rPr lang="en-US" sz="2400">
                <a:latin typeface="Poppins"/>
                <a:ea typeface="Poppins"/>
                <a:cs typeface="Poppins"/>
              </a:rPr>
            </a:br>
            <a:r>
              <a:rPr lang="en-US" sz="2400">
                <a:latin typeface="Poppins"/>
                <a:ea typeface="Poppins"/>
                <a:cs typeface="Poppins"/>
                <a:sym typeface="Poppins"/>
              </a:rPr>
              <a:t>Clock jitter – 50ps </a:t>
            </a:r>
            <a:br>
              <a:rPr lang="en-US" sz="2400">
                <a:latin typeface="Poppins"/>
                <a:ea typeface="Poppins"/>
                <a:cs typeface="Poppins"/>
              </a:rPr>
            </a:br>
            <a:r>
              <a:rPr lang="en-US" sz="2400">
                <a:latin typeface="Poppins"/>
                <a:ea typeface="Poppins"/>
                <a:cs typeface="Poppins"/>
                <a:sym typeface="Poppins"/>
              </a:rPr>
              <a:t>GBW – 1e5 </a:t>
            </a:r>
            <a:br>
              <a:rPr lang="en-US" sz="2400">
                <a:latin typeface="Poppins"/>
                <a:ea typeface="Poppins"/>
                <a:cs typeface="Poppins"/>
              </a:rPr>
            </a:br>
            <a:r>
              <a:rPr lang="en-US" sz="2400">
                <a:latin typeface="Poppins"/>
                <a:ea typeface="Poppins"/>
                <a:cs typeface="Poppins"/>
                <a:sym typeface="Poppins"/>
              </a:rPr>
              <a:t>Alpha – 0.8 </a:t>
            </a:r>
            <a:br>
              <a:rPr lang="en-US" sz="2400">
                <a:latin typeface="Poppins"/>
                <a:ea typeface="Poppins"/>
                <a:cs typeface="Poppins"/>
              </a:rPr>
            </a:br>
            <a:endParaRPr lang="en-US" sz="2400">
              <a:latin typeface="Poppins"/>
              <a:ea typeface="Poppins"/>
              <a:cs typeface="Poppins"/>
            </a:endParaRPr>
          </a:p>
          <a:p>
            <a:pPr algn="l">
              <a:lnSpc>
                <a:spcPts val="2771"/>
              </a:lnSpc>
            </a:pPr>
            <a:endParaRPr lang="en-US" sz="2400" b="1">
              <a:latin typeface="Poppins"/>
              <a:ea typeface="Poppins"/>
              <a:cs typeface="Poppins"/>
            </a:endParaRPr>
          </a:p>
        </p:txBody>
      </p:sp>
      <p:pic>
        <p:nvPicPr>
          <p:cNvPr id="6" name="Picture 5" descr="A diagram of a machine&#10;&#10;AI-generated content may be incorrect.">
            <a:extLst>
              <a:ext uri="{FF2B5EF4-FFF2-40B4-BE49-F238E27FC236}">
                <a16:creationId xmlns:a16="http://schemas.microsoft.com/office/drawing/2014/main" id="{DA479256-CF69-6EAE-5258-2A50C200026C}"/>
              </a:ext>
            </a:extLst>
          </p:cNvPr>
          <p:cNvPicPr>
            <a:picLocks noChangeAspect="1"/>
          </p:cNvPicPr>
          <p:nvPr/>
        </p:nvPicPr>
        <p:blipFill>
          <a:blip r:embed="rId2"/>
          <a:srcRect r="985" b="4041"/>
          <a:stretch>
            <a:fillRect/>
          </a:stretch>
        </p:blipFill>
        <p:spPr>
          <a:xfrm>
            <a:off x="3371590" y="1459479"/>
            <a:ext cx="10880071" cy="3692711"/>
          </a:xfrm>
          <a:prstGeom prst="rect">
            <a:avLst/>
          </a:prstGeom>
          <a:ln>
            <a:noFill/>
          </a:ln>
          <a:effectLst>
            <a:outerShdw blurRad="190500" algn="tl" rotWithShape="0">
              <a:srgbClr val="000000">
                <a:alpha val="70000"/>
              </a:srgbClr>
            </a:outerShdw>
          </a:effectLst>
        </p:spPr>
      </p:pic>
      <p:sp>
        <p:nvSpPr>
          <p:cNvPr id="10" name="Rectangle 25">
            <a:extLst>
              <a:ext uri="{FF2B5EF4-FFF2-40B4-BE49-F238E27FC236}">
                <a16:creationId xmlns:a16="http://schemas.microsoft.com/office/drawing/2014/main" id="{A202332D-0B01-6F26-6D22-922E3B04F46E}"/>
              </a:ext>
            </a:extLst>
          </p:cNvPr>
          <p:cNvSpPr/>
          <p:nvPr/>
        </p:nvSpPr>
        <p:spPr>
          <a:xfrm>
            <a:off x="10965667" y="8162425"/>
            <a:ext cx="5993202" cy="689128"/>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8067303-EA6D-72B8-656B-BAD637E7C21A}"/>
              </a:ext>
            </a:extLst>
          </p:cNvPr>
          <p:cNvSpPr txBox="1"/>
          <p:nvPr/>
        </p:nvSpPr>
        <p:spPr>
          <a:xfrm>
            <a:off x="11333509" y="8294438"/>
            <a:ext cx="9144000" cy="426271"/>
          </a:xfrm>
          <a:prstGeom prst="rect">
            <a:avLst/>
          </a:prstGeom>
          <a:noFill/>
        </p:spPr>
        <p:txBody>
          <a:bodyPr wrap="square" lIns="91440" tIns="45720" rIns="91440" bIns="45720" anchor="t">
            <a:spAutoFit/>
          </a:bodyPr>
          <a:lstStyle/>
          <a:p>
            <a:pPr>
              <a:lnSpc>
                <a:spcPts val="2771"/>
              </a:lnSpc>
            </a:pPr>
            <a:r>
              <a:rPr lang="en-US" b="1">
                <a:latin typeface="Poppins"/>
                <a:ea typeface="Poppins"/>
                <a:cs typeface="Poppins"/>
              </a:rPr>
              <a:t>Enob Vs Sampling Rate  For CRFB ( 3rd Order)</a:t>
            </a:r>
            <a:endParaRPr lang="en-US" sz="1800" b="1">
              <a:latin typeface="Poppins"/>
              <a:ea typeface="Poppins"/>
              <a:cs typeface="Poppins"/>
            </a:endParaRPr>
          </a:p>
        </p:txBody>
      </p:sp>
      <p:sp>
        <p:nvSpPr>
          <p:cNvPr id="15" name="TextBox 14">
            <a:extLst>
              <a:ext uri="{FF2B5EF4-FFF2-40B4-BE49-F238E27FC236}">
                <a16:creationId xmlns:a16="http://schemas.microsoft.com/office/drawing/2014/main" id="{F6D6F88B-5DB5-739F-3BAB-B3F033E11D94}"/>
              </a:ext>
            </a:extLst>
          </p:cNvPr>
          <p:cNvSpPr txBox="1"/>
          <p:nvPr/>
        </p:nvSpPr>
        <p:spPr>
          <a:xfrm>
            <a:off x="6552726" y="159573"/>
            <a:ext cx="520031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solidFill>
                  <a:schemeClr val="bg1"/>
                </a:solidFill>
                <a:latin typeface="Calibri"/>
                <a:ea typeface="Calibri"/>
                <a:cs typeface="Calibri"/>
              </a:rPr>
              <a:t>Final Architecture</a:t>
            </a:r>
            <a:endParaRPr lang="en-US">
              <a:solidFill>
                <a:schemeClr val="bg1"/>
              </a:solidFill>
            </a:endParaRPr>
          </a:p>
        </p:txBody>
      </p:sp>
      <p:pic>
        <p:nvPicPr>
          <p:cNvPr id="34" name="Picture 33" descr="A white rectangular object with black text&#10;&#10;AI-generated content may be incorrect.">
            <a:extLst>
              <a:ext uri="{FF2B5EF4-FFF2-40B4-BE49-F238E27FC236}">
                <a16:creationId xmlns:a16="http://schemas.microsoft.com/office/drawing/2014/main" id="{458881ED-2065-F89A-C442-9D4848C79AB1}"/>
              </a:ext>
            </a:extLst>
          </p:cNvPr>
          <p:cNvPicPr>
            <a:picLocks noChangeAspect="1"/>
          </p:cNvPicPr>
          <p:nvPr/>
        </p:nvPicPr>
        <p:blipFill>
          <a:blip r:embed="rId3"/>
          <a:stretch>
            <a:fillRect/>
          </a:stretch>
        </p:blipFill>
        <p:spPr>
          <a:xfrm>
            <a:off x="9675463" y="6245349"/>
            <a:ext cx="8562975" cy="203835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891143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4A8FB87D-FC6C-294E-41A2-0DD1C681937D}"/>
              </a:ext>
            </a:extLst>
          </p:cNvPr>
          <p:cNvSpPr/>
          <p:nvPr/>
        </p:nvSpPr>
        <p:spPr>
          <a:xfrm>
            <a:off x="1581407" y="-294760"/>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19" name="Rectangle 18">
            <a:extLst>
              <a:ext uri="{FF2B5EF4-FFF2-40B4-BE49-F238E27FC236}">
                <a16:creationId xmlns:a16="http://schemas.microsoft.com/office/drawing/2014/main" id="{BCDDA89B-E69E-5C15-B4E0-632B401B8D38}"/>
              </a:ext>
            </a:extLst>
          </p:cNvPr>
          <p:cNvSpPr/>
          <p:nvPr/>
        </p:nvSpPr>
        <p:spPr>
          <a:xfrm>
            <a:off x="4685" y="3249905"/>
            <a:ext cx="18279902" cy="7032963"/>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5">
            <a:extLst>
              <a:ext uri="{FF2B5EF4-FFF2-40B4-BE49-F238E27FC236}">
                <a16:creationId xmlns:a16="http://schemas.microsoft.com/office/drawing/2014/main" id="{4EEC8C88-C378-EF43-535B-53497FCC45E7}"/>
              </a:ext>
            </a:extLst>
          </p:cNvPr>
          <p:cNvSpPr/>
          <p:nvPr/>
        </p:nvSpPr>
        <p:spPr>
          <a:xfrm>
            <a:off x="13053664" y="5066094"/>
            <a:ext cx="4729040" cy="1295729"/>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600">
                <a:solidFill>
                  <a:schemeClr val="tx1"/>
                </a:solidFill>
                <a:latin typeface="Poppins"/>
                <a:ea typeface="Calibri"/>
                <a:cs typeface="Segoe UI"/>
              </a:rPr>
              <a:t>Input Tone </a:t>
            </a:r>
          </a:p>
          <a:p>
            <a:pPr algn="ctr"/>
            <a:r>
              <a:rPr lang="en-US" sz="2600">
                <a:solidFill>
                  <a:schemeClr val="tx1"/>
                </a:solidFill>
                <a:latin typeface="Poppins"/>
                <a:ea typeface="Calibri"/>
                <a:cs typeface="Segoe UI"/>
              </a:rPr>
              <a:t>frequency : </a:t>
            </a:r>
            <a:br>
              <a:rPr lang="en-US" sz="2600">
                <a:solidFill>
                  <a:schemeClr val="tx1"/>
                </a:solidFill>
                <a:latin typeface="Poppins"/>
                <a:ea typeface="Calibri"/>
                <a:cs typeface="Segoe UI"/>
              </a:rPr>
            </a:br>
            <a:r>
              <a:rPr lang="en-US" sz="2600" b="1">
                <a:solidFill>
                  <a:schemeClr val="tx1"/>
                </a:solidFill>
                <a:latin typeface="Poppins"/>
                <a:ea typeface="Calibri"/>
                <a:cs typeface="Segoe UI"/>
              </a:rPr>
              <a:t>100hz</a:t>
            </a:r>
          </a:p>
        </p:txBody>
      </p:sp>
      <p:sp>
        <p:nvSpPr>
          <p:cNvPr id="7" name="TextBox 2">
            <a:extLst>
              <a:ext uri="{FF2B5EF4-FFF2-40B4-BE49-F238E27FC236}">
                <a16:creationId xmlns:a16="http://schemas.microsoft.com/office/drawing/2014/main" id="{EA923569-538B-C1BF-7D7C-459A1FB2D279}"/>
              </a:ext>
            </a:extLst>
          </p:cNvPr>
          <p:cNvSpPr txBox="1"/>
          <p:nvPr/>
        </p:nvSpPr>
        <p:spPr>
          <a:xfrm>
            <a:off x="5623431" y="66898"/>
            <a:ext cx="10885888" cy="1009956"/>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8645"/>
              </a:lnSpc>
            </a:pPr>
            <a:r>
              <a:rPr lang="en-US" sz="5400">
                <a:solidFill>
                  <a:schemeClr val="bg1"/>
                </a:solidFill>
                <a:latin typeface="Calibri"/>
                <a:ea typeface="Quicksand Bold"/>
                <a:cs typeface="Quicksand Bold"/>
                <a:sym typeface="Quicksand Bold"/>
              </a:rPr>
              <a:t>MATLAB Results</a:t>
            </a:r>
            <a:r>
              <a:rPr lang="en-US" sz="5400" b="1">
                <a:solidFill>
                  <a:schemeClr val="bg1"/>
                </a:solidFill>
                <a:latin typeface="Calibri"/>
                <a:ea typeface="Quicksand Bold"/>
                <a:cs typeface="Quicksand Bold"/>
                <a:sym typeface="Quicksand Bold"/>
              </a:rPr>
              <a:t> </a:t>
            </a:r>
            <a:endParaRPr lang="en-US" sz="5400" b="1">
              <a:solidFill>
                <a:schemeClr val="bg1"/>
              </a:solidFill>
              <a:latin typeface="Calibri"/>
              <a:ea typeface="Quicksand Bold"/>
              <a:cs typeface="Quicksand Bold"/>
            </a:endParaRPr>
          </a:p>
        </p:txBody>
      </p:sp>
      <p:sp>
        <p:nvSpPr>
          <p:cNvPr id="15" name="Rectangle 25">
            <a:extLst>
              <a:ext uri="{FF2B5EF4-FFF2-40B4-BE49-F238E27FC236}">
                <a16:creationId xmlns:a16="http://schemas.microsoft.com/office/drawing/2014/main" id="{CEADF40C-422C-C89F-4D55-B5735A052356}"/>
              </a:ext>
            </a:extLst>
          </p:cNvPr>
          <p:cNvSpPr/>
          <p:nvPr/>
        </p:nvSpPr>
        <p:spPr>
          <a:xfrm>
            <a:off x="3624549" y="9319797"/>
            <a:ext cx="3996538" cy="608222"/>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Rectangle 25">
            <a:extLst>
              <a:ext uri="{FF2B5EF4-FFF2-40B4-BE49-F238E27FC236}">
                <a16:creationId xmlns:a16="http://schemas.microsoft.com/office/drawing/2014/main" id="{DC627B73-C876-AF05-1056-140DECC9DFBD}"/>
              </a:ext>
            </a:extLst>
          </p:cNvPr>
          <p:cNvSpPr/>
          <p:nvPr/>
        </p:nvSpPr>
        <p:spPr>
          <a:xfrm>
            <a:off x="3719823" y="5105731"/>
            <a:ext cx="3996538" cy="608222"/>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5" name="TextBox 4">
            <a:extLst>
              <a:ext uri="{FF2B5EF4-FFF2-40B4-BE49-F238E27FC236}">
                <a16:creationId xmlns:a16="http://schemas.microsoft.com/office/drawing/2014/main" id="{37BCA069-F5F7-6187-2C0D-31CD9C44C3FE}"/>
              </a:ext>
            </a:extLst>
          </p:cNvPr>
          <p:cNvSpPr txBox="1"/>
          <p:nvPr/>
        </p:nvSpPr>
        <p:spPr>
          <a:xfrm>
            <a:off x="1440566" y="7799931"/>
            <a:ext cx="1669427" cy="322287"/>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2576"/>
              </a:lnSpc>
            </a:pPr>
            <a:r>
              <a:rPr lang="en-US" sz="1840" b="1">
                <a:solidFill>
                  <a:srgbClr val="FFFFFF"/>
                </a:solidFill>
                <a:latin typeface="Poppins Bold"/>
                <a:ea typeface="Poppins Bold"/>
                <a:cs typeface="Poppins Bold"/>
                <a:sym typeface="Poppins Bold"/>
              </a:rPr>
              <a:t>1.6 Billion</a:t>
            </a:r>
          </a:p>
        </p:txBody>
      </p:sp>
      <p:sp>
        <p:nvSpPr>
          <p:cNvPr id="26" name="TextBox 5">
            <a:extLst>
              <a:ext uri="{FF2B5EF4-FFF2-40B4-BE49-F238E27FC236}">
                <a16:creationId xmlns:a16="http://schemas.microsoft.com/office/drawing/2014/main" id="{7482C24F-23F3-F1FF-4B59-AE0E32FC7BAA}"/>
              </a:ext>
            </a:extLst>
          </p:cNvPr>
          <p:cNvSpPr txBox="1"/>
          <p:nvPr/>
        </p:nvSpPr>
        <p:spPr>
          <a:xfrm>
            <a:off x="1440566" y="8153376"/>
            <a:ext cx="1669427" cy="14859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1259"/>
              </a:lnSpc>
            </a:pPr>
            <a:r>
              <a:rPr lang="en-US" sz="899" b="1">
                <a:solidFill>
                  <a:srgbClr val="FFFFFF"/>
                </a:solidFill>
                <a:latin typeface="Poppins Bold"/>
                <a:ea typeface="Poppins Bold"/>
                <a:cs typeface="Poppins Bold"/>
                <a:sym typeface="Poppins Bold"/>
              </a:rPr>
              <a:t>Total Available Market </a:t>
            </a:r>
          </a:p>
        </p:txBody>
      </p:sp>
      <p:sp>
        <p:nvSpPr>
          <p:cNvPr id="27" name="TextBox 6">
            <a:extLst>
              <a:ext uri="{FF2B5EF4-FFF2-40B4-BE49-F238E27FC236}">
                <a16:creationId xmlns:a16="http://schemas.microsoft.com/office/drawing/2014/main" id="{140C83A9-5271-6F11-7E83-991818F98DDA}"/>
              </a:ext>
            </a:extLst>
          </p:cNvPr>
          <p:cNvSpPr txBox="1"/>
          <p:nvPr/>
        </p:nvSpPr>
        <p:spPr>
          <a:xfrm>
            <a:off x="1440566" y="7486633"/>
            <a:ext cx="771370" cy="26942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2147"/>
              </a:lnSpc>
            </a:pPr>
            <a:r>
              <a:rPr lang="en-US" sz="1533" b="1">
                <a:solidFill>
                  <a:srgbClr val="FFFFFF"/>
                </a:solidFill>
                <a:latin typeface="Poppins Bold"/>
                <a:ea typeface="Poppins Bold"/>
                <a:cs typeface="Poppins Bold"/>
                <a:sym typeface="Poppins Bold"/>
              </a:rPr>
              <a:t>TAM</a:t>
            </a:r>
          </a:p>
        </p:txBody>
      </p:sp>
      <p:sp>
        <p:nvSpPr>
          <p:cNvPr id="28" name="TextBox 8">
            <a:extLst>
              <a:ext uri="{FF2B5EF4-FFF2-40B4-BE49-F238E27FC236}">
                <a16:creationId xmlns:a16="http://schemas.microsoft.com/office/drawing/2014/main" id="{86932A44-9F90-F0FA-30DF-9B2E723E8879}"/>
              </a:ext>
            </a:extLst>
          </p:cNvPr>
          <p:cNvSpPr txBox="1"/>
          <p:nvPr/>
        </p:nvSpPr>
        <p:spPr>
          <a:xfrm>
            <a:off x="3952189" y="8175123"/>
            <a:ext cx="2095788" cy="14859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1260"/>
              </a:lnSpc>
            </a:pPr>
            <a:r>
              <a:rPr lang="en-US" sz="900" b="1">
                <a:solidFill>
                  <a:srgbClr val="FFFFFF"/>
                </a:solidFill>
                <a:latin typeface="Poppins Bold"/>
                <a:ea typeface="Poppins Bold"/>
                <a:cs typeface="Poppins Bold"/>
                <a:sym typeface="Poppins Bold"/>
              </a:rPr>
              <a:t>Serviceable Available Market </a:t>
            </a:r>
          </a:p>
        </p:txBody>
      </p:sp>
      <p:sp>
        <p:nvSpPr>
          <p:cNvPr id="30" name="TextBox 9">
            <a:extLst>
              <a:ext uri="{FF2B5EF4-FFF2-40B4-BE49-F238E27FC236}">
                <a16:creationId xmlns:a16="http://schemas.microsoft.com/office/drawing/2014/main" id="{990790E1-8F73-4E91-9607-CEF02E0CA261}"/>
              </a:ext>
            </a:extLst>
          </p:cNvPr>
          <p:cNvSpPr txBox="1"/>
          <p:nvPr/>
        </p:nvSpPr>
        <p:spPr>
          <a:xfrm>
            <a:off x="3952189" y="7486633"/>
            <a:ext cx="693980" cy="26942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2147"/>
              </a:lnSpc>
            </a:pPr>
            <a:r>
              <a:rPr lang="en-US" sz="1533" b="1">
                <a:solidFill>
                  <a:srgbClr val="FFFFFF"/>
                </a:solidFill>
                <a:latin typeface="Poppins Bold"/>
                <a:ea typeface="Poppins Bold"/>
                <a:cs typeface="Poppins Bold"/>
                <a:sym typeface="Poppins Bold"/>
              </a:rPr>
              <a:t>SAM</a:t>
            </a:r>
          </a:p>
        </p:txBody>
      </p:sp>
      <p:sp>
        <p:nvSpPr>
          <p:cNvPr id="31" name="TextBox 10">
            <a:extLst>
              <a:ext uri="{FF2B5EF4-FFF2-40B4-BE49-F238E27FC236}">
                <a16:creationId xmlns:a16="http://schemas.microsoft.com/office/drawing/2014/main" id="{5137B0FE-9DEF-B40E-013E-718CA4C9C57F}"/>
              </a:ext>
            </a:extLst>
          </p:cNvPr>
          <p:cNvSpPr txBox="1"/>
          <p:nvPr/>
        </p:nvSpPr>
        <p:spPr>
          <a:xfrm>
            <a:off x="6463812" y="7799931"/>
            <a:ext cx="1666072" cy="322287"/>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2576"/>
              </a:lnSpc>
            </a:pPr>
            <a:r>
              <a:rPr lang="en-US" sz="1840" b="1">
                <a:solidFill>
                  <a:srgbClr val="FFFFFF"/>
                </a:solidFill>
                <a:latin typeface="Poppins Bold"/>
                <a:ea typeface="Poppins Bold"/>
                <a:cs typeface="Poppins Bold"/>
                <a:sym typeface="Poppins Bold"/>
              </a:rPr>
              <a:t>181 Million</a:t>
            </a:r>
          </a:p>
        </p:txBody>
      </p:sp>
      <p:sp>
        <p:nvSpPr>
          <p:cNvPr id="32" name="TextBox 11">
            <a:extLst>
              <a:ext uri="{FF2B5EF4-FFF2-40B4-BE49-F238E27FC236}">
                <a16:creationId xmlns:a16="http://schemas.microsoft.com/office/drawing/2014/main" id="{D61BB760-2C84-B2A7-3A03-C0A66388CC4F}"/>
              </a:ext>
            </a:extLst>
          </p:cNvPr>
          <p:cNvSpPr txBox="1"/>
          <p:nvPr/>
        </p:nvSpPr>
        <p:spPr>
          <a:xfrm>
            <a:off x="6463812" y="8175123"/>
            <a:ext cx="2027367" cy="14859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1260"/>
              </a:lnSpc>
            </a:pPr>
            <a:r>
              <a:rPr lang="en-US" sz="900" b="1">
                <a:solidFill>
                  <a:srgbClr val="FFFFFF"/>
                </a:solidFill>
                <a:latin typeface="Poppins Bold"/>
                <a:ea typeface="Poppins Bold"/>
                <a:cs typeface="Poppins Bold"/>
                <a:sym typeface="Poppins Bold"/>
              </a:rPr>
              <a:t>Serviceable Obtainable Market </a:t>
            </a:r>
          </a:p>
        </p:txBody>
      </p:sp>
      <p:sp>
        <p:nvSpPr>
          <p:cNvPr id="33" name="TextBox 12">
            <a:extLst>
              <a:ext uri="{FF2B5EF4-FFF2-40B4-BE49-F238E27FC236}">
                <a16:creationId xmlns:a16="http://schemas.microsoft.com/office/drawing/2014/main" id="{2320F222-A029-1ECF-CE49-14248263BFBE}"/>
              </a:ext>
            </a:extLst>
          </p:cNvPr>
          <p:cNvSpPr txBox="1"/>
          <p:nvPr/>
        </p:nvSpPr>
        <p:spPr>
          <a:xfrm>
            <a:off x="6463812" y="7486633"/>
            <a:ext cx="707400" cy="26942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2147"/>
              </a:lnSpc>
            </a:pPr>
            <a:r>
              <a:rPr lang="en-US" sz="1533" b="1">
                <a:solidFill>
                  <a:srgbClr val="FFFFFF"/>
                </a:solidFill>
                <a:latin typeface="Poppins Bold"/>
                <a:ea typeface="Poppins Bold"/>
                <a:cs typeface="Poppins Bold"/>
                <a:sym typeface="Poppins Bold"/>
              </a:rPr>
              <a:t>SOM</a:t>
            </a:r>
          </a:p>
        </p:txBody>
      </p:sp>
      <p:sp>
        <p:nvSpPr>
          <p:cNvPr id="34" name="AutoShape 29">
            <a:extLst>
              <a:ext uri="{FF2B5EF4-FFF2-40B4-BE49-F238E27FC236}">
                <a16:creationId xmlns:a16="http://schemas.microsoft.com/office/drawing/2014/main" id="{BB51E40A-3113-109C-7DF7-4B8BC226FB0A}"/>
              </a:ext>
            </a:extLst>
          </p:cNvPr>
          <p:cNvSpPr/>
          <p:nvPr/>
        </p:nvSpPr>
        <p:spPr>
          <a:xfrm rot="5400000">
            <a:off x="3196013" y="7890562"/>
            <a:ext cx="659629" cy="0"/>
          </a:xfrm>
          <a:prstGeom prst="line">
            <a:avLst/>
          </a:prstGeom>
          <a:ln w="19050" cap="rnd">
            <a:solidFill>
              <a:srgbClr val="FFFFFF"/>
            </a:solidFill>
            <a:prstDash val="solid"/>
            <a:headEnd type="none" w="sm" len="sm"/>
            <a:tailEnd type="none" w="sm" len="sm"/>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p>
        </p:txBody>
      </p:sp>
      <p:pic>
        <p:nvPicPr>
          <p:cNvPr id="35" name="Picture 34" descr="A graph with a yellow line&#10;&#10;AI-generated content may be incorrect.">
            <a:extLst>
              <a:ext uri="{FF2B5EF4-FFF2-40B4-BE49-F238E27FC236}">
                <a16:creationId xmlns:a16="http://schemas.microsoft.com/office/drawing/2014/main" id="{2ED3DC8C-BD48-30C7-EE8A-3F93565EC66D}"/>
              </a:ext>
            </a:extLst>
          </p:cNvPr>
          <p:cNvPicPr>
            <a:picLocks noChangeAspect="1"/>
          </p:cNvPicPr>
          <p:nvPr/>
        </p:nvPicPr>
        <p:blipFill>
          <a:blip r:embed="rId2"/>
          <a:stretch>
            <a:fillRect/>
          </a:stretch>
        </p:blipFill>
        <p:spPr>
          <a:xfrm>
            <a:off x="972762" y="2120900"/>
            <a:ext cx="10977392" cy="2986347"/>
          </a:xfrm>
          <a:prstGeom prst="rect">
            <a:avLst/>
          </a:prstGeom>
          <a:ln>
            <a:noFill/>
          </a:ln>
          <a:effectLst>
            <a:outerShdw blurRad="292100" dist="139700" dir="2700000" algn="tl" rotWithShape="0">
              <a:srgbClr val="333333">
                <a:alpha val="65000"/>
              </a:srgbClr>
            </a:outerShdw>
          </a:effectLst>
        </p:spPr>
      </p:pic>
      <p:pic>
        <p:nvPicPr>
          <p:cNvPr id="36" name="Picture 35" descr="A graph of a frequency&#10;&#10;AI-generated content may be incorrect.">
            <a:extLst>
              <a:ext uri="{FF2B5EF4-FFF2-40B4-BE49-F238E27FC236}">
                <a16:creationId xmlns:a16="http://schemas.microsoft.com/office/drawing/2014/main" id="{F0DD3BD6-0D49-E5D8-2E58-F091FF118A46}"/>
              </a:ext>
            </a:extLst>
          </p:cNvPr>
          <p:cNvPicPr>
            <a:picLocks noChangeAspect="1"/>
          </p:cNvPicPr>
          <p:nvPr/>
        </p:nvPicPr>
        <p:blipFill>
          <a:blip r:embed="rId3"/>
          <a:stretch>
            <a:fillRect/>
          </a:stretch>
        </p:blipFill>
        <p:spPr>
          <a:xfrm>
            <a:off x="964801" y="5853545"/>
            <a:ext cx="10962227" cy="3421223"/>
          </a:xfrm>
          <a:prstGeom prst="rect">
            <a:avLst/>
          </a:prstGeom>
          <a:ln>
            <a:noFill/>
          </a:ln>
          <a:effectLst>
            <a:outerShdw blurRad="292100" dist="139700" dir="2700000" algn="tl" rotWithShape="0">
              <a:srgbClr val="333333">
                <a:alpha val="65000"/>
              </a:srgbClr>
            </a:outerShdw>
          </a:effectLst>
        </p:spPr>
      </p:pic>
      <p:sp>
        <p:nvSpPr>
          <p:cNvPr id="37" name="TextBox 12">
            <a:extLst>
              <a:ext uri="{FF2B5EF4-FFF2-40B4-BE49-F238E27FC236}">
                <a16:creationId xmlns:a16="http://schemas.microsoft.com/office/drawing/2014/main" id="{EACCC322-98A1-FCD1-708B-A2797EEBD147}"/>
              </a:ext>
            </a:extLst>
          </p:cNvPr>
          <p:cNvSpPr txBox="1"/>
          <p:nvPr/>
        </p:nvSpPr>
        <p:spPr>
          <a:xfrm>
            <a:off x="3723197" y="5205473"/>
            <a:ext cx="4000500" cy="426271"/>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771"/>
              </a:lnSpc>
            </a:pPr>
            <a:r>
              <a:rPr lang="en-US" b="1">
                <a:latin typeface="Poppins"/>
                <a:ea typeface="Poppins"/>
                <a:cs typeface="Poppins"/>
              </a:rPr>
              <a:t>Time Domain Moduator Output </a:t>
            </a:r>
            <a:endParaRPr lang="en-US" sz="1800" b="1">
              <a:latin typeface="Poppins"/>
              <a:ea typeface="Poppins"/>
              <a:cs typeface="Poppins"/>
            </a:endParaRPr>
          </a:p>
        </p:txBody>
      </p:sp>
      <p:sp>
        <p:nvSpPr>
          <p:cNvPr id="38" name="TextBox 13">
            <a:extLst>
              <a:ext uri="{FF2B5EF4-FFF2-40B4-BE49-F238E27FC236}">
                <a16:creationId xmlns:a16="http://schemas.microsoft.com/office/drawing/2014/main" id="{07325890-CFB1-2F46-DAC0-102414FCA59C}"/>
              </a:ext>
            </a:extLst>
          </p:cNvPr>
          <p:cNvSpPr txBox="1"/>
          <p:nvPr/>
        </p:nvSpPr>
        <p:spPr>
          <a:xfrm>
            <a:off x="3713187" y="9420458"/>
            <a:ext cx="3983689" cy="426271"/>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771"/>
              </a:lnSpc>
            </a:pPr>
            <a:r>
              <a:rPr lang="en-US" b="1">
                <a:latin typeface="Poppins"/>
                <a:ea typeface="Poppins"/>
                <a:cs typeface="Poppins"/>
              </a:rPr>
              <a:t>Output Spectrum After Filtering</a:t>
            </a:r>
            <a:endParaRPr lang="en-US" sz="1800" b="1">
              <a:latin typeface="Poppins"/>
              <a:ea typeface="Poppins"/>
              <a:cs typeface="Poppin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75AD2-988B-A526-E25D-60B4C4B0DBB0}"/>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67970645-AF2C-3EB5-DCC4-AB5679C83E81}"/>
              </a:ext>
            </a:extLst>
          </p:cNvPr>
          <p:cNvSpPr txBox="1"/>
          <p:nvPr/>
        </p:nvSpPr>
        <p:spPr>
          <a:xfrm>
            <a:off x="1252675" y="7721643"/>
            <a:ext cx="1669427" cy="322287"/>
          </a:xfrm>
          <a:prstGeom prst="rect">
            <a:avLst/>
          </a:prstGeom>
        </p:spPr>
        <p:txBody>
          <a:bodyPr lIns="0" tIns="0" rIns="0" bIns="0" rtlCol="0" anchor="t">
            <a:spAutoFit/>
          </a:bodyPr>
          <a:lstStyle/>
          <a:p>
            <a:pPr algn="l">
              <a:lnSpc>
                <a:spcPts val="2576"/>
              </a:lnSpc>
            </a:pPr>
            <a:r>
              <a:rPr lang="en-US" sz="1840" b="1">
                <a:solidFill>
                  <a:srgbClr val="FFFFFF"/>
                </a:solidFill>
                <a:latin typeface="Poppins Bold"/>
                <a:ea typeface="Poppins Bold"/>
                <a:cs typeface="Poppins Bold"/>
                <a:sym typeface="Poppins Bold"/>
              </a:rPr>
              <a:t>1.6 Billion</a:t>
            </a:r>
          </a:p>
        </p:txBody>
      </p:sp>
      <p:sp>
        <p:nvSpPr>
          <p:cNvPr id="5" name="TextBox 5">
            <a:extLst>
              <a:ext uri="{FF2B5EF4-FFF2-40B4-BE49-F238E27FC236}">
                <a16:creationId xmlns:a16="http://schemas.microsoft.com/office/drawing/2014/main" id="{B60AC1BD-6639-A60E-216A-B56A51CE2786}"/>
              </a:ext>
            </a:extLst>
          </p:cNvPr>
          <p:cNvSpPr txBox="1"/>
          <p:nvPr/>
        </p:nvSpPr>
        <p:spPr>
          <a:xfrm>
            <a:off x="1252675" y="8075088"/>
            <a:ext cx="1669427" cy="148590"/>
          </a:xfrm>
          <a:prstGeom prst="rect">
            <a:avLst/>
          </a:prstGeom>
        </p:spPr>
        <p:txBody>
          <a:bodyPr lIns="0" tIns="0" rIns="0" bIns="0" rtlCol="0" anchor="t">
            <a:spAutoFit/>
          </a:bodyPr>
          <a:lstStyle/>
          <a:p>
            <a:pPr algn="l">
              <a:lnSpc>
                <a:spcPts val="1259"/>
              </a:lnSpc>
            </a:pPr>
            <a:r>
              <a:rPr lang="en-US" sz="899" b="1">
                <a:solidFill>
                  <a:srgbClr val="FFFFFF"/>
                </a:solidFill>
                <a:latin typeface="Poppins Bold"/>
                <a:ea typeface="Poppins Bold"/>
                <a:cs typeface="Poppins Bold"/>
                <a:sym typeface="Poppins Bold"/>
              </a:rPr>
              <a:t>Total Available Market </a:t>
            </a:r>
          </a:p>
        </p:txBody>
      </p:sp>
      <p:sp>
        <p:nvSpPr>
          <p:cNvPr id="6" name="TextBox 6">
            <a:extLst>
              <a:ext uri="{FF2B5EF4-FFF2-40B4-BE49-F238E27FC236}">
                <a16:creationId xmlns:a16="http://schemas.microsoft.com/office/drawing/2014/main" id="{17537411-5FB3-268E-82D3-F0F84DD3D1DD}"/>
              </a:ext>
            </a:extLst>
          </p:cNvPr>
          <p:cNvSpPr txBox="1"/>
          <p:nvPr/>
        </p:nvSpPr>
        <p:spPr>
          <a:xfrm>
            <a:off x="1252675" y="7408345"/>
            <a:ext cx="77137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TAM</a:t>
            </a:r>
          </a:p>
        </p:txBody>
      </p:sp>
      <p:sp>
        <p:nvSpPr>
          <p:cNvPr id="8" name="TextBox 8">
            <a:extLst>
              <a:ext uri="{FF2B5EF4-FFF2-40B4-BE49-F238E27FC236}">
                <a16:creationId xmlns:a16="http://schemas.microsoft.com/office/drawing/2014/main" id="{61EBF787-0168-4A3F-F320-00FAC6C8AE27}"/>
              </a:ext>
            </a:extLst>
          </p:cNvPr>
          <p:cNvSpPr txBox="1"/>
          <p:nvPr/>
        </p:nvSpPr>
        <p:spPr>
          <a:xfrm>
            <a:off x="3764298" y="8096835"/>
            <a:ext cx="2095788" cy="148590"/>
          </a:xfrm>
          <a:prstGeom prst="rect">
            <a:avLst/>
          </a:prstGeom>
        </p:spPr>
        <p:txBody>
          <a:bodyPr lIns="0" tIns="0" rIns="0" bIns="0" rtlCol="0" anchor="t">
            <a:spAutoFit/>
          </a:bodyPr>
          <a:lstStyle/>
          <a:p>
            <a:pPr algn="l">
              <a:lnSpc>
                <a:spcPts val="1260"/>
              </a:lnSpc>
            </a:pPr>
            <a:r>
              <a:rPr lang="en-US" sz="900" b="1">
                <a:solidFill>
                  <a:srgbClr val="FFFFFF"/>
                </a:solidFill>
                <a:latin typeface="Poppins Bold"/>
                <a:ea typeface="Poppins Bold"/>
                <a:cs typeface="Poppins Bold"/>
                <a:sym typeface="Poppins Bold"/>
              </a:rPr>
              <a:t>Serviceable Available Market </a:t>
            </a:r>
          </a:p>
        </p:txBody>
      </p:sp>
      <p:sp>
        <p:nvSpPr>
          <p:cNvPr id="9" name="TextBox 9">
            <a:extLst>
              <a:ext uri="{FF2B5EF4-FFF2-40B4-BE49-F238E27FC236}">
                <a16:creationId xmlns:a16="http://schemas.microsoft.com/office/drawing/2014/main" id="{AB5F5580-8E64-E332-B465-DFE6A0B51259}"/>
              </a:ext>
            </a:extLst>
          </p:cNvPr>
          <p:cNvSpPr txBox="1"/>
          <p:nvPr/>
        </p:nvSpPr>
        <p:spPr>
          <a:xfrm>
            <a:off x="3764298" y="7408345"/>
            <a:ext cx="69398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SAM</a:t>
            </a:r>
          </a:p>
        </p:txBody>
      </p:sp>
      <p:sp>
        <p:nvSpPr>
          <p:cNvPr id="10" name="TextBox 10">
            <a:extLst>
              <a:ext uri="{FF2B5EF4-FFF2-40B4-BE49-F238E27FC236}">
                <a16:creationId xmlns:a16="http://schemas.microsoft.com/office/drawing/2014/main" id="{034ACBC1-283F-1841-D3DD-6142A1265E87}"/>
              </a:ext>
            </a:extLst>
          </p:cNvPr>
          <p:cNvSpPr txBox="1"/>
          <p:nvPr/>
        </p:nvSpPr>
        <p:spPr>
          <a:xfrm>
            <a:off x="6275921" y="7721643"/>
            <a:ext cx="1666072" cy="322287"/>
          </a:xfrm>
          <a:prstGeom prst="rect">
            <a:avLst/>
          </a:prstGeom>
        </p:spPr>
        <p:txBody>
          <a:bodyPr lIns="0" tIns="0" rIns="0" bIns="0" rtlCol="0" anchor="t">
            <a:spAutoFit/>
          </a:bodyPr>
          <a:lstStyle/>
          <a:p>
            <a:pPr algn="l">
              <a:lnSpc>
                <a:spcPts val="2576"/>
              </a:lnSpc>
            </a:pPr>
            <a:r>
              <a:rPr lang="en-US" sz="1840" b="1">
                <a:solidFill>
                  <a:srgbClr val="FFFFFF"/>
                </a:solidFill>
                <a:latin typeface="Poppins Bold"/>
                <a:ea typeface="Poppins Bold"/>
                <a:cs typeface="Poppins Bold"/>
                <a:sym typeface="Poppins Bold"/>
              </a:rPr>
              <a:t>181 Million</a:t>
            </a:r>
          </a:p>
        </p:txBody>
      </p:sp>
      <p:sp>
        <p:nvSpPr>
          <p:cNvPr id="11" name="TextBox 11">
            <a:extLst>
              <a:ext uri="{FF2B5EF4-FFF2-40B4-BE49-F238E27FC236}">
                <a16:creationId xmlns:a16="http://schemas.microsoft.com/office/drawing/2014/main" id="{1A8A7D0D-03C6-A665-6CA0-1A0907DA6CC1}"/>
              </a:ext>
            </a:extLst>
          </p:cNvPr>
          <p:cNvSpPr txBox="1"/>
          <p:nvPr/>
        </p:nvSpPr>
        <p:spPr>
          <a:xfrm>
            <a:off x="6275921" y="8096835"/>
            <a:ext cx="2027367" cy="148590"/>
          </a:xfrm>
          <a:prstGeom prst="rect">
            <a:avLst/>
          </a:prstGeom>
        </p:spPr>
        <p:txBody>
          <a:bodyPr lIns="0" tIns="0" rIns="0" bIns="0" rtlCol="0" anchor="t">
            <a:spAutoFit/>
          </a:bodyPr>
          <a:lstStyle/>
          <a:p>
            <a:pPr algn="l">
              <a:lnSpc>
                <a:spcPts val="1260"/>
              </a:lnSpc>
            </a:pPr>
            <a:r>
              <a:rPr lang="en-US" sz="900" b="1">
                <a:solidFill>
                  <a:srgbClr val="FFFFFF"/>
                </a:solidFill>
                <a:latin typeface="Poppins Bold"/>
                <a:ea typeface="Poppins Bold"/>
                <a:cs typeface="Poppins Bold"/>
                <a:sym typeface="Poppins Bold"/>
              </a:rPr>
              <a:t>Serviceable Obtainable Market </a:t>
            </a:r>
          </a:p>
        </p:txBody>
      </p:sp>
      <p:sp>
        <p:nvSpPr>
          <p:cNvPr id="12" name="TextBox 12">
            <a:extLst>
              <a:ext uri="{FF2B5EF4-FFF2-40B4-BE49-F238E27FC236}">
                <a16:creationId xmlns:a16="http://schemas.microsoft.com/office/drawing/2014/main" id="{86BE2050-1EC1-B810-A7A5-CDED3F738E0B}"/>
              </a:ext>
            </a:extLst>
          </p:cNvPr>
          <p:cNvSpPr txBox="1"/>
          <p:nvPr/>
        </p:nvSpPr>
        <p:spPr>
          <a:xfrm>
            <a:off x="6275921" y="7408345"/>
            <a:ext cx="70740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SOM</a:t>
            </a:r>
          </a:p>
        </p:txBody>
      </p:sp>
      <p:sp>
        <p:nvSpPr>
          <p:cNvPr id="29" name="AutoShape 29">
            <a:extLst>
              <a:ext uri="{FF2B5EF4-FFF2-40B4-BE49-F238E27FC236}">
                <a16:creationId xmlns:a16="http://schemas.microsoft.com/office/drawing/2014/main" id="{141CAFE4-3115-2D74-6197-9874110566F6}"/>
              </a:ext>
            </a:extLst>
          </p:cNvPr>
          <p:cNvSpPr/>
          <p:nvPr/>
        </p:nvSpPr>
        <p:spPr>
          <a:xfrm rot="5400000">
            <a:off x="3008122" y="7812274"/>
            <a:ext cx="659629" cy="0"/>
          </a:xfrm>
          <a:prstGeom prst="line">
            <a:avLst/>
          </a:prstGeom>
          <a:ln w="19050" cap="rnd">
            <a:solidFill>
              <a:srgbClr val="FFFFFF"/>
            </a:solidFill>
            <a:prstDash val="solid"/>
            <a:headEnd type="none" w="sm" len="sm"/>
            <a:tailEnd type="none" w="sm" len="sm"/>
          </a:ln>
        </p:spPr>
        <p:txBody>
          <a:bodyPr/>
          <a:lstStyle/>
          <a:p>
            <a:endParaRPr lang="en-IN"/>
          </a:p>
        </p:txBody>
      </p:sp>
      <p:sp>
        <p:nvSpPr>
          <p:cNvPr id="2" name="TextBox 1">
            <a:extLst>
              <a:ext uri="{FF2B5EF4-FFF2-40B4-BE49-F238E27FC236}">
                <a16:creationId xmlns:a16="http://schemas.microsoft.com/office/drawing/2014/main" id="{F49B196C-EE83-B9E2-1003-327CE3FD88BE}"/>
              </a:ext>
            </a:extLst>
          </p:cNvPr>
          <p:cNvSpPr txBox="1"/>
          <p:nvPr/>
        </p:nvSpPr>
        <p:spPr>
          <a:xfrm>
            <a:off x="2022581" y="3565843"/>
            <a:ext cx="7111650"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800" b="1">
                <a:latin typeface="Poppins Bold"/>
                <a:ea typeface="Batang"/>
                <a:cs typeface="Poppins Bold"/>
              </a:rPr>
              <a:t>Decimation Filter</a:t>
            </a:r>
          </a:p>
        </p:txBody>
      </p:sp>
      <p:grpSp>
        <p:nvGrpSpPr>
          <p:cNvPr id="13" name="Group 24">
            <a:extLst>
              <a:ext uri="{FF2B5EF4-FFF2-40B4-BE49-F238E27FC236}">
                <a16:creationId xmlns:a16="http://schemas.microsoft.com/office/drawing/2014/main" id="{73C337A6-DE05-5826-76B4-7A6E9048FE92}"/>
              </a:ext>
            </a:extLst>
          </p:cNvPr>
          <p:cNvGrpSpPr/>
          <p:nvPr/>
        </p:nvGrpSpPr>
        <p:grpSpPr>
          <a:xfrm>
            <a:off x="16836547" y="1435796"/>
            <a:ext cx="1952277" cy="8229600"/>
            <a:chOff x="0" y="0"/>
            <a:chExt cx="660400" cy="2783840"/>
          </a:xfrm>
        </p:grpSpPr>
        <p:sp>
          <p:nvSpPr>
            <p:cNvPr id="7" name="Freeform 25">
              <a:extLst>
                <a:ext uri="{FF2B5EF4-FFF2-40B4-BE49-F238E27FC236}">
                  <a16:creationId xmlns:a16="http://schemas.microsoft.com/office/drawing/2014/main" id="{B7CB56D5-3CDB-8BBD-87D0-C2B67B124CFC}"/>
                </a:ext>
              </a:extLst>
            </p:cNvPr>
            <p:cNvSpPr/>
            <p:nvPr/>
          </p:nvSpPr>
          <p:spPr>
            <a:xfrm>
              <a:off x="0" y="0"/>
              <a:ext cx="660400" cy="2783840"/>
            </a:xfrm>
            <a:custGeom>
              <a:avLst/>
              <a:gdLst/>
              <a:ahLst/>
              <a:cxnLst/>
              <a:rect l="l" t="t" r="r" b="b"/>
              <a:pathLst>
                <a:path w="660400" h="2783840">
                  <a:moveTo>
                    <a:pt x="535940" y="2783840"/>
                  </a:moveTo>
                  <a:lnTo>
                    <a:pt x="124460" y="2783840"/>
                  </a:lnTo>
                  <a:cubicBezTo>
                    <a:pt x="55880" y="2783840"/>
                    <a:pt x="0" y="2727960"/>
                    <a:pt x="0" y="2659380"/>
                  </a:cubicBezTo>
                  <a:lnTo>
                    <a:pt x="0" y="124460"/>
                  </a:lnTo>
                  <a:cubicBezTo>
                    <a:pt x="0" y="55880"/>
                    <a:pt x="55880" y="0"/>
                    <a:pt x="124460" y="0"/>
                  </a:cubicBezTo>
                  <a:lnTo>
                    <a:pt x="535940" y="0"/>
                  </a:lnTo>
                  <a:cubicBezTo>
                    <a:pt x="604520" y="0"/>
                    <a:pt x="660400" y="55880"/>
                    <a:pt x="660400" y="124460"/>
                  </a:cubicBezTo>
                  <a:lnTo>
                    <a:pt x="660400" y="2659380"/>
                  </a:lnTo>
                  <a:cubicBezTo>
                    <a:pt x="660400" y="2727960"/>
                    <a:pt x="604520" y="2783840"/>
                    <a:pt x="535940" y="2783840"/>
                  </a:cubicBezTo>
                  <a:close/>
                </a:path>
              </a:pathLst>
            </a:custGeom>
            <a:solidFill>
              <a:srgbClr val="FF914D"/>
            </a:solidFill>
          </p:spPr>
          <p:txBody>
            <a:bodyPr/>
            <a:lstStyle/>
            <a:p>
              <a:endParaRPr lang="en-IN"/>
            </a:p>
          </p:txBody>
        </p:sp>
      </p:grpSp>
    </p:spTree>
    <p:extLst>
      <p:ext uri="{BB962C8B-B14F-4D97-AF65-F5344CB8AC3E}">
        <p14:creationId xmlns:p14="http://schemas.microsoft.com/office/powerpoint/2010/main" val="22752012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512EE-60BC-586F-74D7-CC55A66C87DD}"/>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8B6D6234-4EFD-FCC9-135C-D312C9A91505}"/>
              </a:ext>
            </a:extLst>
          </p:cNvPr>
          <p:cNvSpPr/>
          <p:nvPr/>
        </p:nvSpPr>
        <p:spPr>
          <a:xfrm>
            <a:off x="1581407" y="-294760"/>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4" name="TextBox 4">
            <a:extLst>
              <a:ext uri="{FF2B5EF4-FFF2-40B4-BE49-F238E27FC236}">
                <a16:creationId xmlns:a16="http://schemas.microsoft.com/office/drawing/2014/main" id="{65D7C04B-0378-CD3B-CED2-0297DCFC6ED3}"/>
              </a:ext>
            </a:extLst>
          </p:cNvPr>
          <p:cNvSpPr txBox="1"/>
          <p:nvPr/>
        </p:nvSpPr>
        <p:spPr>
          <a:xfrm>
            <a:off x="1252675" y="7721643"/>
            <a:ext cx="1669427" cy="322287"/>
          </a:xfrm>
          <a:prstGeom prst="rect">
            <a:avLst/>
          </a:prstGeom>
        </p:spPr>
        <p:txBody>
          <a:bodyPr lIns="0" tIns="0" rIns="0" bIns="0" rtlCol="0" anchor="t">
            <a:spAutoFit/>
          </a:bodyPr>
          <a:lstStyle/>
          <a:p>
            <a:pPr algn="l">
              <a:lnSpc>
                <a:spcPts val="2576"/>
              </a:lnSpc>
            </a:pPr>
            <a:r>
              <a:rPr lang="en-US" sz="1840" b="1">
                <a:solidFill>
                  <a:srgbClr val="FFFFFF"/>
                </a:solidFill>
                <a:latin typeface="Poppins Bold"/>
                <a:ea typeface="Poppins Bold"/>
                <a:cs typeface="Poppins Bold"/>
                <a:sym typeface="Poppins Bold"/>
              </a:rPr>
              <a:t>1.6 Billion</a:t>
            </a:r>
          </a:p>
        </p:txBody>
      </p:sp>
      <p:sp>
        <p:nvSpPr>
          <p:cNvPr id="5" name="TextBox 5">
            <a:extLst>
              <a:ext uri="{FF2B5EF4-FFF2-40B4-BE49-F238E27FC236}">
                <a16:creationId xmlns:a16="http://schemas.microsoft.com/office/drawing/2014/main" id="{5DFCF740-4639-96C6-8D41-EBADE7B04711}"/>
              </a:ext>
            </a:extLst>
          </p:cNvPr>
          <p:cNvSpPr txBox="1"/>
          <p:nvPr/>
        </p:nvSpPr>
        <p:spPr>
          <a:xfrm>
            <a:off x="1252675" y="8075088"/>
            <a:ext cx="1669427" cy="148590"/>
          </a:xfrm>
          <a:prstGeom prst="rect">
            <a:avLst/>
          </a:prstGeom>
        </p:spPr>
        <p:txBody>
          <a:bodyPr lIns="0" tIns="0" rIns="0" bIns="0" rtlCol="0" anchor="t">
            <a:spAutoFit/>
          </a:bodyPr>
          <a:lstStyle/>
          <a:p>
            <a:pPr algn="l">
              <a:lnSpc>
                <a:spcPts val="1259"/>
              </a:lnSpc>
            </a:pPr>
            <a:r>
              <a:rPr lang="en-US" sz="899" b="1">
                <a:solidFill>
                  <a:srgbClr val="FFFFFF"/>
                </a:solidFill>
                <a:latin typeface="Poppins Bold"/>
                <a:ea typeface="Poppins Bold"/>
                <a:cs typeface="Poppins Bold"/>
                <a:sym typeface="Poppins Bold"/>
              </a:rPr>
              <a:t>Total Available Market </a:t>
            </a:r>
          </a:p>
        </p:txBody>
      </p:sp>
      <p:sp>
        <p:nvSpPr>
          <p:cNvPr id="6" name="TextBox 6">
            <a:extLst>
              <a:ext uri="{FF2B5EF4-FFF2-40B4-BE49-F238E27FC236}">
                <a16:creationId xmlns:a16="http://schemas.microsoft.com/office/drawing/2014/main" id="{BFFDC7A9-E747-0567-90D8-7AD27B533737}"/>
              </a:ext>
            </a:extLst>
          </p:cNvPr>
          <p:cNvSpPr txBox="1"/>
          <p:nvPr/>
        </p:nvSpPr>
        <p:spPr>
          <a:xfrm>
            <a:off x="1252675" y="7408345"/>
            <a:ext cx="77137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TAM</a:t>
            </a:r>
          </a:p>
        </p:txBody>
      </p:sp>
      <p:sp>
        <p:nvSpPr>
          <p:cNvPr id="8" name="TextBox 8">
            <a:extLst>
              <a:ext uri="{FF2B5EF4-FFF2-40B4-BE49-F238E27FC236}">
                <a16:creationId xmlns:a16="http://schemas.microsoft.com/office/drawing/2014/main" id="{2BD3D2F7-D16E-9EDF-E846-E7FE635F4403}"/>
              </a:ext>
            </a:extLst>
          </p:cNvPr>
          <p:cNvSpPr txBox="1"/>
          <p:nvPr/>
        </p:nvSpPr>
        <p:spPr>
          <a:xfrm>
            <a:off x="3764298" y="8096835"/>
            <a:ext cx="2095788" cy="148590"/>
          </a:xfrm>
          <a:prstGeom prst="rect">
            <a:avLst/>
          </a:prstGeom>
        </p:spPr>
        <p:txBody>
          <a:bodyPr lIns="0" tIns="0" rIns="0" bIns="0" rtlCol="0" anchor="t">
            <a:spAutoFit/>
          </a:bodyPr>
          <a:lstStyle/>
          <a:p>
            <a:pPr algn="l">
              <a:lnSpc>
                <a:spcPts val="1260"/>
              </a:lnSpc>
            </a:pPr>
            <a:r>
              <a:rPr lang="en-US" sz="900" b="1">
                <a:solidFill>
                  <a:srgbClr val="FFFFFF"/>
                </a:solidFill>
                <a:latin typeface="Poppins Bold"/>
                <a:ea typeface="Poppins Bold"/>
                <a:cs typeface="Poppins Bold"/>
                <a:sym typeface="Poppins Bold"/>
              </a:rPr>
              <a:t>Serviceable Available Market </a:t>
            </a:r>
          </a:p>
        </p:txBody>
      </p:sp>
      <p:sp>
        <p:nvSpPr>
          <p:cNvPr id="9" name="TextBox 9">
            <a:extLst>
              <a:ext uri="{FF2B5EF4-FFF2-40B4-BE49-F238E27FC236}">
                <a16:creationId xmlns:a16="http://schemas.microsoft.com/office/drawing/2014/main" id="{CE94A555-3830-7BB3-D4C1-3E4C56880D8E}"/>
              </a:ext>
            </a:extLst>
          </p:cNvPr>
          <p:cNvSpPr txBox="1"/>
          <p:nvPr/>
        </p:nvSpPr>
        <p:spPr>
          <a:xfrm>
            <a:off x="3764298" y="7408345"/>
            <a:ext cx="69398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SAM</a:t>
            </a:r>
          </a:p>
        </p:txBody>
      </p:sp>
      <p:sp>
        <p:nvSpPr>
          <p:cNvPr id="10" name="TextBox 10">
            <a:extLst>
              <a:ext uri="{FF2B5EF4-FFF2-40B4-BE49-F238E27FC236}">
                <a16:creationId xmlns:a16="http://schemas.microsoft.com/office/drawing/2014/main" id="{CABC3F56-486C-C881-3436-F3E16F2739D7}"/>
              </a:ext>
            </a:extLst>
          </p:cNvPr>
          <p:cNvSpPr txBox="1"/>
          <p:nvPr/>
        </p:nvSpPr>
        <p:spPr>
          <a:xfrm>
            <a:off x="6275921" y="7721643"/>
            <a:ext cx="1666072" cy="322287"/>
          </a:xfrm>
          <a:prstGeom prst="rect">
            <a:avLst/>
          </a:prstGeom>
        </p:spPr>
        <p:txBody>
          <a:bodyPr lIns="0" tIns="0" rIns="0" bIns="0" rtlCol="0" anchor="t">
            <a:spAutoFit/>
          </a:bodyPr>
          <a:lstStyle/>
          <a:p>
            <a:pPr algn="l">
              <a:lnSpc>
                <a:spcPts val="2576"/>
              </a:lnSpc>
            </a:pPr>
            <a:r>
              <a:rPr lang="en-US" sz="1840" b="1">
                <a:solidFill>
                  <a:srgbClr val="FFFFFF"/>
                </a:solidFill>
                <a:latin typeface="Poppins Bold"/>
                <a:ea typeface="Poppins Bold"/>
                <a:cs typeface="Poppins Bold"/>
                <a:sym typeface="Poppins Bold"/>
              </a:rPr>
              <a:t>181 Million</a:t>
            </a:r>
          </a:p>
        </p:txBody>
      </p:sp>
      <p:sp>
        <p:nvSpPr>
          <p:cNvPr id="11" name="TextBox 11">
            <a:extLst>
              <a:ext uri="{FF2B5EF4-FFF2-40B4-BE49-F238E27FC236}">
                <a16:creationId xmlns:a16="http://schemas.microsoft.com/office/drawing/2014/main" id="{7401ECC2-8947-5184-9061-1F162087DB7C}"/>
              </a:ext>
            </a:extLst>
          </p:cNvPr>
          <p:cNvSpPr txBox="1"/>
          <p:nvPr/>
        </p:nvSpPr>
        <p:spPr>
          <a:xfrm>
            <a:off x="6275921" y="8096835"/>
            <a:ext cx="2027367" cy="148590"/>
          </a:xfrm>
          <a:prstGeom prst="rect">
            <a:avLst/>
          </a:prstGeom>
        </p:spPr>
        <p:txBody>
          <a:bodyPr lIns="0" tIns="0" rIns="0" bIns="0" rtlCol="0" anchor="t">
            <a:spAutoFit/>
          </a:bodyPr>
          <a:lstStyle/>
          <a:p>
            <a:pPr algn="l">
              <a:lnSpc>
                <a:spcPts val="1260"/>
              </a:lnSpc>
            </a:pPr>
            <a:r>
              <a:rPr lang="en-US" sz="900" b="1">
                <a:solidFill>
                  <a:srgbClr val="FFFFFF"/>
                </a:solidFill>
                <a:latin typeface="Poppins Bold"/>
                <a:ea typeface="Poppins Bold"/>
                <a:cs typeface="Poppins Bold"/>
                <a:sym typeface="Poppins Bold"/>
              </a:rPr>
              <a:t>Serviceable Obtainable Market </a:t>
            </a:r>
          </a:p>
        </p:txBody>
      </p:sp>
      <p:sp>
        <p:nvSpPr>
          <p:cNvPr id="12" name="TextBox 12">
            <a:extLst>
              <a:ext uri="{FF2B5EF4-FFF2-40B4-BE49-F238E27FC236}">
                <a16:creationId xmlns:a16="http://schemas.microsoft.com/office/drawing/2014/main" id="{5372528D-6FF5-84F1-74EA-385E6AACE65E}"/>
              </a:ext>
            </a:extLst>
          </p:cNvPr>
          <p:cNvSpPr txBox="1"/>
          <p:nvPr/>
        </p:nvSpPr>
        <p:spPr>
          <a:xfrm>
            <a:off x="6275921" y="7408345"/>
            <a:ext cx="70740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SOM</a:t>
            </a:r>
          </a:p>
        </p:txBody>
      </p:sp>
      <p:sp>
        <p:nvSpPr>
          <p:cNvPr id="29" name="AutoShape 29">
            <a:extLst>
              <a:ext uri="{FF2B5EF4-FFF2-40B4-BE49-F238E27FC236}">
                <a16:creationId xmlns:a16="http://schemas.microsoft.com/office/drawing/2014/main" id="{EFF73308-C6C5-DD64-671B-8F2369F72288}"/>
              </a:ext>
            </a:extLst>
          </p:cNvPr>
          <p:cNvSpPr/>
          <p:nvPr/>
        </p:nvSpPr>
        <p:spPr>
          <a:xfrm rot="5400000">
            <a:off x="3008122" y="7812274"/>
            <a:ext cx="659629" cy="0"/>
          </a:xfrm>
          <a:prstGeom prst="line">
            <a:avLst/>
          </a:prstGeom>
          <a:ln w="19050" cap="rnd">
            <a:solidFill>
              <a:srgbClr val="FFFFFF"/>
            </a:solidFill>
            <a:prstDash val="solid"/>
            <a:headEnd type="none" w="sm" len="sm"/>
            <a:tailEnd type="none" w="sm" len="sm"/>
          </a:ln>
        </p:spPr>
        <p:txBody>
          <a:bodyPr/>
          <a:lstStyle/>
          <a:p>
            <a:endParaRPr lang="en-IN"/>
          </a:p>
        </p:txBody>
      </p:sp>
      <p:pic>
        <p:nvPicPr>
          <p:cNvPr id="3" name="Picture 2" descr="A diagram of information flow&#10;&#10;AI-generated content may be incorrect.">
            <a:extLst>
              <a:ext uri="{FF2B5EF4-FFF2-40B4-BE49-F238E27FC236}">
                <a16:creationId xmlns:a16="http://schemas.microsoft.com/office/drawing/2014/main" id="{1FBB31E5-16F0-126B-B65B-97431E04F0A3}"/>
              </a:ext>
            </a:extLst>
          </p:cNvPr>
          <p:cNvPicPr>
            <a:picLocks noChangeAspect="1"/>
          </p:cNvPicPr>
          <p:nvPr/>
        </p:nvPicPr>
        <p:blipFill>
          <a:blip r:embed="rId2"/>
          <a:stretch>
            <a:fillRect/>
          </a:stretch>
        </p:blipFill>
        <p:spPr>
          <a:xfrm>
            <a:off x="6333" y="1678539"/>
            <a:ext cx="18283616" cy="8611537"/>
          </a:xfrm>
          <a:prstGeom prst="rect">
            <a:avLst/>
          </a:prstGeom>
        </p:spPr>
      </p:pic>
      <p:sp>
        <p:nvSpPr>
          <p:cNvPr id="14" name="TextBox 13">
            <a:extLst>
              <a:ext uri="{FF2B5EF4-FFF2-40B4-BE49-F238E27FC236}">
                <a16:creationId xmlns:a16="http://schemas.microsoft.com/office/drawing/2014/main" id="{41BA7B7A-A064-EECB-0965-A91769C0FEB0}"/>
              </a:ext>
            </a:extLst>
          </p:cNvPr>
          <p:cNvSpPr txBox="1"/>
          <p:nvPr/>
        </p:nvSpPr>
        <p:spPr>
          <a:xfrm>
            <a:off x="6637196" y="162416"/>
            <a:ext cx="595413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solidFill>
                  <a:schemeClr val="bg1"/>
                </a:solidFill>
                <a:ea typeface="Calibri"/>
                <a:cs typeface="Calibri"/>
              </a:rPr>
              <a:t>Digital Filter</a:t>
            </a:r>
            <a:endParaRPr lang="en-US" sz="5400">
              <a:solidFill>
                <a:schemeClr val="bg1"/>
              </a:solidFill>
            </a:endParaRPr>
          </a:p>
        </p:txBody>
      </p:sp>
    </p:spTree>
    <p:extLst>
      <p:ext uri="{BB962C8B-B14F-4D97-AF65-F5344CB8AC3E}">
        <p14:creationId xmlns:p14="http://schemas.microsoft.com/office/powerpoint/2010/main" val="40956663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58521440-62BB-E15A-3E5D-7E14736D87DB}"/>
              </a:ext>
            </a:extLst>
          </p:cNvPr>
          <p:cNvSpPr/>
          <p:nvPr/>
        </p:nvSpPr>
        <p:spPr>
          <a:xfrm>
            <a:off x="1581407" y="-278195"/>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7" name="Rectangle 6">
            <a:extLst>
              <a:ext uri="{FF2B5EF4-FFF2-40B4-BE49-F238E27FC236}">
                <a16:creationId xmlns:a16="http://schemas.microsoft.com/office/drawing/2014/main" id="{0C12A181-B0D7-A62E-AD50-13BB8EDBDB2B}"/>
              </a:ext>
            </a:extLst>
          </p:cNvPr>
          <p:cNvSpPr/>
          <p:nvPr/>
        </p:nvSpPr>
        <p:spPr>
          <a:xfrm>
            <a:off x="1242" y="2999247"/>
            <a:ext cx="18292984" cy="7290760"/>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3D58DCAE-4397-8EFE-2DB8-D13F54B00DBA}"/>
              </a:ext>
            </a:extLst>
          </p:cNvPr>
          <p:cNvSpPr txBox="1"/>
          <p:nvPr/>
        </p:nvSpPr>
        <p:spPr>
          <a:xfrm>
            <a:off x="458397" y="4968883"/>
            <a:ext cx="14656218" cy="46474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CIC, FIR (compensation), and half-band FIR are all:</a:t>
            </a:r>
            <a:endParaRPr lang="en-US" sz="2800">
              <a:ea typeface="Calibri"/>
              <a:cs typeface="Calibri"/>
            </a:endParaRPr>
          </a:p>
          <a:p>
            <a:pPr marL="285750" indent="-285750">
              <a:buFont typeface="Arial"/>
              <a:buChar char="•"/>
            </a:pPr>
            <a:r>
              <a:rPr lang="en-US" sz="2400">
                <a:ea typeface="+mn-lt"/>
                <a:cs typeface="+mn-lt"/>
              </a:rPr>
              <a:t>Linear</a:t>
            </a:r>
            <a:endParaRPr lang="en-US" sz="2400">
              <a:ea typeface="Calibri"/>
              <a:cs typeface="Calibri"/>
            </a:endParaRPr>
          </a:p>
          <a:p>
            <a:pPr marL="285750" indent="-285750">
              <a:buFont typeface="Arial"/>
              <a:buChar char="•"/>
            </a:pPr>
            <a:r>
              <a:rPr lang="en-US" sz="2400">
                <a:ea typeface="+mn-lt"/>
                <a:cs typeface="+mn-lt"/>
              </a:rPr>
              <a:t>Time-invariant</a:t>
            </a:r>
            <a:endParaRPr lang="en-US" sz="2400">
              <a:ea typeface="Calibri"/>
              <a:cs typeface="Calibri"/>
            </a:endParaRPr>
          </a:p>
          <a:p>
            <a:pPr marL="285750" indent="-285750">
              <a:buFont typeface="Arial"/>
              <a:buChar char="•"/>
            </a:pPr>
            <a:r>
              <a:rPr lang="en-US" sz="2400">
                <a:ea typeface="+mn-lt"/>
                <a:cs typeface="+mn-lt"/>
              </a:rPr>
              <a:t>Stable</a:t>
            </a:r>
            <a:endParaRPr lang="en-US" sz="2400">
              <a:ea typeface="Calibri"/>
              <a:cs typeface="Calibri"/>
            </a:endParaRPr>
          </a:p>
          <a:p>
            <a:pPr marL="285750" indent="-285750">
              <a:buFont typeface="Arial"/>
              <a:buChar char="•"/>
            </a:pPr>
            <a:r>
              <a:rPr lang="en-US" sz="2400">
                <a:ea typeface="+mn-lt"/>
                <a:cs typeface="+mn-lt"/>
              </a:rPr>
              <a:t>Causal (in practice)</a:t>
            </a:r>
            <a:endParaRPr lang="en-US" sz="2400">
              <a:ea typeface="Calibri"/>
              <a:cs typeface="Calibri"/>
            </a:endParaRPr>
          </a:p>
          <a:p>
            <a:endParaRPr lang="en-US" sz="2400">
              <a:ea typeface="+mn-lt"/>
              <a:cs typeface="+mn-lt"/>
            </a:endParaRPr>
          </a:p>
          <a:p>
            <a:r>
              <a:rPr lang="en-US" sz="2400">
                <a:ea typeface="+mn-lt"/>
                <a:cs typeface="+mn-lt"/>
              </a:rPr>
              <a:t>No nonlinearity, no time-variant coefficients, no adaptive filtering.</a:t>
            </a:r>
            <a:endParaRPr lang="en-US" sz="2400">
              <a:ea typeface="Calibri"/>
              <a:cs typeface="Calibri"/>
            </a:endParaRPr>
          </a:p>
          <a:p>
            <a:r>
              <a:rPr lang="en-US" sz="2400">
                <a:ea typeface="Calibri"/>
                <a:cs typeface="Calibri"/>
              </a:rPr>
              <a:t>And Cascade of LTIs = LTI</a:t>
            </a:r>
          </a:p>
          <a:p>
            <a:endParaRPr lang="en-US" sz="2400">
              <a:ea typeface="Calibri"/>
              <a:cs typeface="Calibri"/>
            </a:endParaRPr>
          </a:p>
          <a:p>
            <a:r>
              <a:rPr lang="en-US" sz="2400"/>
              <a:t>Therefore:</a:t>
            </a:r>
            <a:endParaRPr lang="en-US" sz="2400">
              <a:ea typeface="Calibri"/>
              <a:cs typeface="Calibri"/>
            </a:endParaRPr>
          </a:p>
          <a:p>
            <a:r>
              <a:rPr lang="en-US" sz="2800" b="1">
                <a:ea typeface="+mn-lt"/>
                <a:cs typeface="+mn-lt"/>
              </a:rPr>
              <a:t>The whole chain is an LTI system.</a:t>
            </a:r>
            <a:endParaRPr lang="en-US" sz="2800">
              <a:ea typeface="Calibri"/>
              <a:cs typeface="Calibri"/>
            </a:endParaRPr>
          </a:p>
          <a:p>
            <a:r>
              <a:rPr lang="en-US" sz="2400">
                <a:ea typeface="+mn-lt"/>
                <a:cs typeface="+mn-lt"/>
              </a:rPr>
              <a:t>decimation filters are all </a:t>
            </a:r>
            <a:r>
              <a:rPr lang="en-US" sz="2400" b="1">
                <a:ea typeface="+mn-lt"/>
                <a:cs typeface="+mn-lt"/>
              </a:rPr>
              <a:t>linear</a:t>
            </a:r>
            <a:r>
              <a:rPr lang="en-US" sz="2400">
                <a:ea typeface="+mn-lt"/>
                <a:cs typeface="+mn-lt"/>
              </a:rPr>
              <a:t>.</a:t>
            </a:r>
            <a:endParaRPr lang="en-US" sz="2400">
              <a:ea typeface="Calibri"/>
              <a:cs typeface="Calibri"/>
            </a:endParaRPr>
          </a:p>
        </p:txBody>
      </p:sp>
      <p:sp>
        <p:nvSpPr>
          <p:cNvPr id="8" name="TextBox 7">
            <a:extLst>
              <a:ext uri="{FF2B5EF4-FFF2-40B4-BE49-F238E27FC236}">
                <a16:creationId xmlns:a16="http://schemas.microsoft.com/office/drawing/2014/main" id="{BCAC0A96-C623-F013-1688-A1741482DD9E}"/>
              </a:ext>
            </a:extLst>
          </p:cNvPr>
          <p:cNvSpPr txBox="1"/>
          <p:nvPr/>
        </p:nvSpPr>
        <p:spPr>
          <a:xfrm>
            <a:off x="7330255" y="162415"/>
            <a:ext cx="363500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solidFill>
                  <a:schemeClr val="bg1"/>
                </a:solidFill>
                <a:ea typeface="Calibri"/>
                <a:cs typeface="Calibri"/>
              </a:rPr>
              <a:t>Digital Filter</a:t>
            </a:r>
            <a:endParaRPr lang="en-US" sz="5400">
              <a:solidFill>
                <a:schemeClr val="bg1"/>
              </a:solidFill>
            </a:endParaRPr>
          </a:p>
        </p:txBody>
      </p:sp>
      <p:pic>
        <p:nvPicPr>
          <p:cNvPr id="3" name="Picture 2" descr="A diagram of a flowchart&#10;&#10;AI-generated content may be incorrect.">
            <a:extLst>
              <a:ext uri="{FF2B5EF4-FFF2-40B4-BE49-F238E27FC236}">
                <a16:creationId xmlns:a16="http://schemas.microsoft.com/office/drawing/2014/main" id="{0011D923-2772-56E2-D301-E6E51CF8FF1A}"/>
              </a:ext>
            </a:extLst>
          </p:cNvPr>
          <p:cNvPicPr>
            <a:picLocks noChangeAspect="1"/>
          </p:cNvPicPr>
          <p:nvPr/>
        </p:nvPicPr>
        <p:blipFill>
          <a:blip r:embed="rId2"/>
          <a:stretch>
            <a:fillRect/>
          </a:stretch>
        </p:blipFill>
        <p:spPr>
          <a:xfrm>
            <a:off x="1398470" y="1397082"/>
            <a:ext cx="15487650" cy="32385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233362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6F207678-A21A-317C-038D-4877542796FE}"/>
              </a:ext>
            </a:extLst>
          </p:cNvPr>
          <p:cNvPicPr>
            <a:picLocks noChangeAspect="1"/>
          </p:cNvPicPr>
          <p:nvPr/>
        </p:nvPicPr>
        <p:blipFill>
          <a:blip r:embed="rId2"/>
          <a:srcRect t="3035"/>
          <a:stretch>
            <a:fillRect/>
          </a:stretch>
        </p:blipFill>
        <p:spPr>
          <a:xfrm>
            <a:off x="353643" y="214924"/>
            <a:ext cx="17567734" cy="9877982"/>
          </a:xfrm>
          <a:prstGeom prst="rect">
            <a:avLst/>
          </a:prstGeom>
        </p:spPr>
      </p:pic>
    </p:spTree>
    <p:extLst>
      <p:ext uri="{BB962C8B-B14F-4D97-AF65-F5344CB8AC3E}">
        <p14:creationId xmlns:p14="http://schemas.microsoft.com/office/powerpoint/2010/main" val="28651978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ack text on a white background&#10;&#10;AI-generated content may be incorrect.">
            <a:extLst>
              <a:ext uri="{FF2B5EF4-FFF2-40B4-BE49-F238E27FC236}">
                <a16:creationId xmlns:a16="http://schemas.microsoft.com/office/drawing/2014/main" id="{9D4EF8D7-258B-EAD7-60A7-D4FE6F8776D5}"/>
              </a:ext>
            </a:extLst>
          </p:cNvPr>
          <p:cNvPicPr>
            <a:picLocks noChangeAspect="1"/>
          </p:cNvPicPr>
          <p:nvPr/>
        </p:nvPicPr>
        <p:blipFill>
          <a:blip r:embed="rId2"/>
          <a:stretch>
            <a:fillRect/>
          </a:stretch>
        </p:blipFill>
        <p:spPr>
          <a:xfrm>
            <a:off x="776131" y="1529051"/>
            <a:ext cx="5297805" cy="1371600"/>
          </a:xfrm>
          <a:prstGeom prst="rect">
            <a:avLst/>
          </a:prstGeom>
          <a:ln>
            <a:noFill/>
          </a:ln>
          <a:effectLst>
            <a:outerShdw blurRad="292100" dist="139700" dir="2700000" algn="tl" rotWithShape="0">
              <a:srgbClr val="333333">
                <a:alpha val="65000"/>
              </a:srgbClr>
            </a:outerShdw>
          </a:effectLst>
        </p:spPr>
      </p:pic>
      <p:pic>
        <p:nvPicPr>
          <p:cNvPr id="3" name="Picture 2" descr="A black square root of a mathematical equation&#10;&#10;AI-generated content may be incorrect.">
            <a:extLst>
              <a:ext uri="{FF2B5EF4-FFF2-40B4-BE49-F238E27FC236}">
                <a16:creationId xmlns:a16="http://schemas.microsoft.com/office/drawing/2014/main" id="{4BB84639-EC69-1F67-1795-375E55B45D8E}"/>
              </a:ext>
            </a:extLst>
          </p:cNvPr>
          <p:cNvPicPr>
            <a:picLocks noChangeAspect="1"/>
          </p:cNvPicPr>
          <p:nvPr/>
        </p:nvPicPr>
        <p:blipFill>
          <a:blip r:embed="rId3"/>
          <a:stretch>
            <a:fillRect/>
          </a:stretch>
        </p:blipFill>
        <p:spPr>
          <a:xfrm>
            <a:off x="13414289" y="1874025"/>
            <a:ext cx="4631221" cy="689030"/>
          </a:xfrm>
          <a:prstGeom prst="rect">
            <a:avLst/>
          </a:prstGeom>
          <a:ln>
            <a:noFill/>
          </a:ln>
          <a:effectLst>
            <a:outerShdw blurRad="292100" dist="139700" dir="2700000" algn="tl" rotWithShape="0">
              <a:srgbClr val="333333">
                <a:alpha val="65000"/>
              </a:srgbClr>
            </a:outerShdw>
          </a:effectLst>
        </p:spPr>
      </p:pic>
      <p:pic>
        <p:nvPicPr>
          <p:cNvPr id="4" name="Picture 3" descr="A black numbers on a white background&#10;&#10;AI-generated content may be incorrect.">
            <a:extLst>
              <a:ext uri="{FF2B5EF4-FFF2-40B4-BE49-F238E27FC236}">
                <a16:creationId xmlns:a16="http://schemas.microsoft.com/office/drawing/2014/main" id="{3A0140C1-32C8-A39D-D623-96789E3767A4}"/>
              </a:ext>
            </a:extLst>
          </p:cNvPr>
          <p:cNvPicPr>
            <a:picLocks noChangeAspect="1"/>
          </p:cNvPicPr>
          <p:nvPr/>
        </p:nvPicPr>
        <p:blipFill>
          <a:blip r:embed="rId4"/>
          <a:stretch>
            <a:fillRect/>
          </a:stretch>
        </p:blipFill>
        <p:spPr>
          <a:xfrm>
            <a:off x="6108517" y="1697300"/>
            <a:ext cx="7308740" cy="1031765"/>
          </a:xfrm>
          <a:prstGeom prst="rect">
            <a:avLst/>
          </a:prstGeom>
          <a:ln>
            <a:noFill/>
          </a:ln>
          <a:effectLst>
            <a:outerShdw blurRad="190500" algn="tl" rotWithShape="0">
              <a:srgbClr val="000000">
                <a:alpha val="70000"/>
              </a:srgbClr>
            </a:outerShdw>
          </a:effectLst>
        </p:spPr>
      </p:pic>
      <p:sp>
        <p:nvSpPr>
          <p:cNvPr id="7" name="TextBox 6">
            <a:extLst>
              <a:ext uri="{FF2B5EF4-FFF2-40B4-BE49-F238E27FC236}">
                <a16:creationId xmlns:a16="http://schemas.microsoft.com/office/drawing/2014/main" id="{D0ADF380-9C5A-DE17-68F3-492300DC2B7B}"/>
              </a:ext>
            </a:extLst>
          </p:cNvPr>
          <p:cNvSpPr txBox="1"/>
          <p:nvPr/>
        </p:nvSpPr>
        <p:spPr>
          <a:xfrm>
            <a:off x="9526121" y="5358791"/>
            <a:ext cx="9144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i="1" u="sng">
                <a:latin typeface="Arial"/>
                <a:cs typeface="Segoe UI"/>
              </a:rPr>
              <a:t>Hogenauer Architecture for comb stage!</a:t>
            </a:r>
          </a:p>
        </p:txBody>
      </p:sp>
      <p:pic>
        <p:nvPicPr>
          <p:cNvPr id="9" name="Picture 8" descr="A diagram of a structure&#10;&#10;AI-generated content may be incorrect.">
            <a:extLst>
              <a:ext uri="{FF2B5EF4-FFF2-40B4-BE49-F238E27FC236}">
                <a16:creationId xmlns:a16="http://schemas.microsoft.com/office/drawing/2014/main" id="{9AABCC0B-3AE0-5A28-97CF-11ED21A2401E}"/>
              </a:ext>
            </a:extLst>
          </p:cNvPr>
          <p:cNvPicPr>
            <a:picLocks noChangeAspect="1"/>
          </p:cNvPicPr>
          <p:nvPr/>
        </p:nvPicPr>
        <p:blipFill>
          <a:blip r:embed="rId5"/>
          <a:srcRect l="-216" t="8908" r="-216" b="41710"/>
          <a:stretch>
            <a:fillRect/>
          </a:stretch>
        </p:blipFill>
        <p:spPr>
          <a:xfrm>
            <a:off x="564071" y="3193324"/>
            <a:ext cx="8967412" cy="4659081"/>
          </a:xfrm>
          <a:prstGeom prst="rect">
            <a:avLst/>
          </a:prstGeom>
        </p:spPr>
      </p:pic>
      <p:sp>
        <p:nvSpPr>
          <p:cNvPr id="6" name="TextBox 5">
            <a:extLst>
              <a:ext uri="{FF2B5EF4-FFF2-40B4-BE49-F238E27FC236}">
                <a16:creationId xmlns:a16="http://schemas.microsoft.com/office/drawing/2014/main" id="{F5BCE967-DDEE-96DF-CEE3-D345B8FB3AC0}"/>
              </a:ext>
            </a:extLst>
          </p:cNvPr>
          <p:cNvSpPr txBox="1"/>
          <p:nvPr/>
        </p:nvSpPr>
        <p:spPr>
          <a:xfrm>
            <a:off x="790320" y="8023018"/>
            <a:ext cx="851921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ea typeface="Calibri"/>
                <a:cs typeface="Calibri"/>
              </a:rPr>
              <a:t>(a) - Direct Recursive form implementation of 4th order CIC.</a:t>
            </a:r>
          </a:p>
        </p:txBody>
      </p:sp>
      <p:sp>
        <p:nvSpPr>
          <p:cNvPr id="8" name="TextBox 7">
            <a:extLst>
              <a:ext uri="{FF2B5EF4-FFF2-40B4-BE49-F238E27FC236}">
                <a16:creationId xmlns:a16="http://schemas.microsoft.com/office/drawing/2014/main" id="{0023CD54-E732-FB16-ECDA-1C67EAFC0C85}"/>
              </a:ext>
            </a:extLst>
          </p:cNvPr>
          <p:cNvSpPr txBox="1"/>
          <p:nvPr/>
        </p:nvSpPr>
        <p:spPr>
          <a:xfrm>
            <a:off x="782877" y="8493292"/>
            <a:ext cx="914400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baseline="0">
                <a:latin typeface="Calibri"/>
              </a:rPr>
              <a:t>(</a:t>
            </a:r>
            <a:r>
              <a:rPr lang="en-US" sz="2800" b="1">
                <a:latin typeface="Calibri"/>
              </a:rPr>
              <a:t>b</a:t>
            </a:r>
            <a:r>
              <a:rPr lang="en-US" sz="2800" b="1" baseline="0">
                <a:latin typeface="Calibri"/>
              </a:rPr>
              <a:t>) - </a:t>
            </a:r>
            <a:r>
              <a:rPr lang="en-US" sz="2800" b="1">
                <a:latin typeface="Calibri"/>
              </a:rPr>
              <a:t>Hoganauer implementation of</a:t>
            </a:r>
            <a:r>
              <a:rPr lang="en-US" sz="2800" b="1" baseline="0">
                <a:latin typeface="Calibri"/>
              </a:rPr>
              <a:t> 4th order CIC.</a:t>
            </a:r>
            <a:r>
              <a:rPr sz="2800">
                <a:latin typeface="Calibri"/>
                <a:ea typeface="Calibri"/>
                <a:cs typeface="Calibri"/>
              </a:rPr>
              <a:t>​</a:t>
            </a:r>
            <a:endParaRPr lang="en-US" sz="2800">
              <a:ea typeface="Calibri"/>
              <a:cs typeface="Calibri"/>
            </a:endParaRPr>
          </a:p>
          <a:p>
            <a:pPr algn="ctr"/>
            <a:endParaRPr lang="en-US" sz="2800">
              <a:ea typeface="Calibri"/>
              <a:cs typeface="Calibri"/>
            </a:endParaRPr>
          </a:p>
        </p:txBody>
      </p:sp>
    </p:spTree>
    <p:extLst>
      <p:ext uri="{BB962C8B-B14F-4D97-AF65-F5344CB8AC3E}">
        <p14:creationId xmlns:p14="http://schemas.microsoft.com/office/powerpoint/2010/main" val="20296693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93130-D425-2E69-9C99-ACF54727414F}"/>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9775AA21-6DBD-14BE-9BD7-309269A5D781}"/>
              </a:ext>
            </a:extLst>
          </p:cNvPr>
          <p:cNvSpPr/>
          <p:nvPr/>
        </p:nvSpPr>
        <p:spPr>
          <a:xfrm>
            <a:off x="1581407" y="-277951"/>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17" name="Rectangle 25">
            <a:extLst>
              <a:ext uri="{FF2B5EF4-FFF2-40B4-BE49-F238E27FC236}">
                <a16:creationId xmlns:a16="http://schemas.microsoft.com/office/drawing/2014/main" id="{4939C525-134C-EC6C-7AB0-2101CFCADE5D}"/>
              </a:ext>
            </a:extLst>
          </p:cNvPr>
          <p:cNvSpPr/>
          <p:nvPr/>
        </p:nvSpPr>
        <p:spPr>
          <a:xfrm>
            <a:off x="5966966" y="9101056"/>
            <a:ext cx="7093216" cy="841892"/>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endParaRPr lang="en-US" sz="2600">
              <a:solidFill>
                <a:schemeClr val="tx1"/>
              </a:solidFill>
              <a:latin typeface="Poppins"/>
              <a:ea typeface="Calibri"/>
              <a:cs typeface="Segoe UI"/>
            </a:endParaRPr>
          </a:p>
        </p:txBody>
      </p:sp>
      <p:sp>
        <p:nvSpPr>
          <p:cNvPr id="4" name="TextBox 4">
            <a:extLst>
              <a:ext uri="{FF2B5EF4-FFF2-40B4-BE49-F238E27FC236}">
                <a16:creationId xmlns:a16="http://schemas.microsoft.com/office/drawing/2014/main" id="{3D38A62E-51F4-147B-678F-1915D4BF5260}"/>
              </a:ext>
            </a:extLst>
          </p:cNvPr>
          <p:cNvSpPr txBox="1"/>
          <p:nvPr/>
        </p:nvSpPr>
        <p:spPr>
          <a:xfrm>
            <a:off x="1252675" y="7721643"/>
            <a:ext cx="1669427" cy="322287"/>
          </a:xfrm>
          <a:prstGeom prst="rect">
            <a:avLst/>
          </a:prstGeom>
        </p:spPr>
        <p:txBody>
          <a:bodyPr lIns="0" tIns="0" rIns="0" bIns="0" rtlCol="0" anchor="t">
            <a:spAutoFit/>
          </a:bodyPr>
          <a:lstStyle/>
          <a:p>
            <a:pPr algn="l">
              <a:lnSpc>
                <a:spcPts val="2576"/>
              </a:lnSpc>
            </a:pPr>
            <a:r>
              <a:rPr lang="en-US" sz="1840" b="1">
                <a:solidFill>
                  <a:srgbClr val="FFFFFF"/>
                </a:solidFill>
                <a:latin typeface="Poppins Bold"/>
                <a:ea typeface="Poppins Bold"/>
                <a:cs typeface="Poppins Bold"/>
                <a:sym typeface="Poppins Bold"/>
              </a:rPr>
              <a:t>1.6 Billion</a:t>
            </a:r>
          </a:p>
        </p:txBody>
      </p:sp>
      <p:sp>
        <p:nvSpPr>
          <p:cNvPr id="5" name="TextBox 5">
            <a:extLst>
              <a:ext uri="{FF2B5EF4-FFF2-40B4-BE49-F238E27FC236}">
                <a16:creationId xmlns:a16="http://schemas.microsoft.com/office/drawing/2014/main" id="{891CF5A4-4D02-6862-7D61-CDA66B9B01BA}"/>
              </a:ext>
            </a:extLst>
          </p:cNvPr>
          <p:cNvSpPr txBox="1"/>
          <p:nvPr/>
        </p:nvSpPr>
        <p:spPr>
          <a:xfrm>
            <a:off x="1252675" y="8075088"/>
            <a:ext cx="1669427" cy="148590"/>
          </a:xfrm>
          <a:prstGeom prst="rect">
            <a:avLst/>
          </a:prstGeom>
        </p:spPr>
        <p:txBody>
          <a:bodyPr lIns="0" tIns="0" rIns="0" bIns="0" rtlCol="0" anchor="t">
            <a:spAutoFit/>
          </a:bodyPr>
          <a:lstStyle/>
          <a:p>
            <a:pPr algn="l">
              <a:lnSpc>
                <a:spcPts val="1259"/>
              </a:lnSpc>
            </a:pPr>
            <a:r>
              <a:rPr lang="en-US" sz="899" b="1">
                <a:solidFill>
                  <a:srgbClr val="FFFFFF"/>
                </a:solidFill>
                <a:latin typeface="Poppins Bold"/>
                <a:ea typeface="Poppins Bold"/>
                <a:cs typeface="Poppins Bold"/>
                <a:sym typeface="Poppins Bold"/>
              </a:rPr>
              <a:t>Total Available Market </a:t>
            </a:r>
          </a:p>
        </p:txBody>
      </p:sp>
      <p:sp>
        <p:nvSpPr>
          <p:cNvPr id="6" name="TextBox 6">
            <a:extLst>
              <a:ext uri="{FF2B5EF4-FFF2-40B4-BE49-F238E27FC236}">
                <a16:creationId xmlns:a16="http://schemas.microsoft.com/office/drawing/2014/main" id="{38ED336C-517F-B578-DC44-F8947EE39211}"/>
              </a:ext>
            </a:extLst>
          </p:cNvPr>
          <p:cNvSpPr txBox="1"/>
          <p:nvPr/>
        </p:nvSpPr>
        <p:spPr>
          <a:xfrm>
            <a:off x="1252675" y="7408345"/>
            <a:ext cx="77137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TAM</a:t>
            </a:r>
          </a:p>
        </p:txBody>
      </p:sp>
      <p:sp>
        <p:nvSpPr>
          <p:cNvPr id="8" name="TextBox 8">
            <a:extLst>
              <a:ext uri="{FF2B5EF4-FFF2-40B4-BE49-F238E27FC236}">
                <a16:creationId xmlns:a16="http://schemas.microsoft.com/office/drawing/2014/main" id="{F51AA7F3-7055-9BB6-0C86-DD55ADE6F92A}"/>
              </a:ext>
            </a:extLst>
          </p:cNvPr>
          <p:cNvSpPr txBox="1"/>
          <p:nvPr/>
        </p:nvSpPr>
        <p:spPr>
          <a:xfrm>
            <a:off x="3764298" y="8096835"/>
            <a:ext cx="2095788" cy="148590"/>
          </a:xfrm>
          <a:prstGeom prst="rect">
            <a:avLst/>
          </a:prstGeom>
        </p:spPr>
        <p:txBody>
          <a:bodyPr lIns="0" tIns="0" rIns="0" bIns="0" rtlCol="0" anchor="t">
            <a:spAutoFit/>
          </a:bodyPr>
          <a:lstStyle/>
          <a:p>
            <a:pPr algn="l">
              <a:lnSpc>
                <a:spcPts val="1260"/>
              </a:lnSpc>
            </a:pPr>
            <a:r>
              <a:rPr lang="en-US" sz="900" b="1">
                <a:solidFill>
                  <a:srgbClr val="FFFFFF"/>
                </a:solidFill>
                <a:latin typeface="Poppins Bold"/>
                <a:ea typeface="Poppins Bold"/>
                <a:cs typeface="Poppins Bold"/>
                <a:sym typeface="Poppins Bold"/>
              </a:rPr>
              <a:t>Serviceable Available Market </a:t>
            </a:r>
          </a:p>
        </p:txBody>
      </p:sp>
      <p:sp>
        <p:nvSpPr>
          <p:cNvPr id="9" name="TextBox 9">
            <a:extLst>
              <a:ext uri="{FF2B5EF4-FFF2-40B4-BE49-F238E27FC236}">
                <a16:creationId xmlns:a16="http://schemas.microsoft.com/office/drawing/2014/main" id="{619020F3-D246-13B4-AF80-F549727041F4}"/>
              </a:ext>
            </a:extLst>
          </p:cNvPr>
          <p:cNvSpPr txBox="1"/>
          <p:nvPr/>
        </p:nvSpPr>
        <p:spPr>
          <a:xfrm>
            <a:off x="3764298" y="7408345"/>
            <a:ext cx="69398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SAM</a:t>
            </a:r>
          </a:p>
        </p:txBody>
      </p:sp>
      <p:sp>
        <p:nvSpPr>
          <p:cNvPr id="10" name="TextBox 10">
            <a:extLst>
              <a:ext uri="{FF2B5EF4-FFF2-40B4-BE49-F238E27FC236}">
                <a16:creationId xmlns:a16="http://schemas.microsoft.com/office/drawing/2014/main" id="{3F07FDC8-A424-199E-C29A-701B21F3E4F0}"/>
              </a:ext>
            </a:extLst>
          </p:cNvPr>
          <p:cNvSpPr txBox="1"/>
          <p:nvPr/>
        </p:nvSpPr>
        <p:spPr>
          <a:xfrm>
            <a:off x="6275921" y="7721643"/>
            <a:ext cx="1666072" cy="322287"/>
          </a:xfrm>
          <a:prstGeom prst="rect">
            <a:avLst/>
          </a:prstGeom>
        </p:spPr>
        <p:txBody>
          <a:bodyPr lIns="0" tIns="0" rIns="0" bIns="0" rtlCol="0" anchor="t">
            <a:spAutoFit/>
          </a:bodyPr>
          <a:lstStyle/>
          <a:p>
            <a:pPr algn="l">
              <a:lnSpc>
                <a:spcPts val="2576"/>
              </a:lnSpc>
            </a:pPr>
            <a:r>
              <a:rPr lang="en-US" sz="1840" b="1">
                <a:solidFill>
                  <a:srgbClr val="FFFFFF"/>
                </a:solidFill>
                <a:latin typeface="Poppins Bold"/>
                <a:ea typeface="Poppins Bold"/>
                <a:cs typeface="Poppins Bold"/>
                <a:sym typeface="Poppins Bold"/>
              </a:rPr>
              <a:t>181 Million</a:t>
            </a:r>
          </a:p>
        </p:txBody>
      </p:sp>
      <p:sp>
        <p:nvSpPr>
          <p:cNvPr id="11" name="TextBox 11">
            <a:extLst>
              <a:ext uri="{FF2B5EF4-FFF2-40B4-BE49-F238E27FC236}">
                <a16:creationId xmlns:a16="http://schemas.microsoft.com/office/drawing/2014/main" id="{3A04BAD7-55AE-E5BC-E7FB-931DA93E9997}"/>
              </a:ext>
            </a:extLst>
          </p:cNvPr>
          <p:cNvSpPr txBox="1"/>
          <p:nvPr/>
        </p:nvSpPr>
        <p:spPr>
          <a:xfrm>
            <a:off x="6275921" y="8096835"/>
            <a:ext cx="2027367" cy="148590"/>
          </a:xfrm>
          <a:prstGeom prst="rect">
            <a:avLst/>
          </a:prstGeom>
        </p:spPr>
        <p:txBody>
          <a:bodyPr lIns="0" tIns="0" rIns="0" bIns="0" rtlCol="0" anchor="t">
            <a:spAutoFit/>
          </a:bodyPr>
          <a:lstStyle/>
          <a:p>
            <a:pPr algn="l">
              <a:lnSpc>
                <a:spcPts val="1260"/>
              </a:lnSpc>
            </a:pPr>
            <a:r>
              <a:rPr lang="en-US" sz="900" b="1">
                <a:solidFill>
                  <a:srgbClr val="FFFFFF"/>
                </a:solidFill>
                <a:latin typeface="Poppins Bold"/>
                <a:ea typeface="Poppins Bold"/>
                <a:cs typeface="Poppins Bold"/>
                <a:sym typeface="Poppins Bold"/>
              </a:rPr>
              <a:t>Serviceable Obtainable Market </a:t>
            </a:r>
          </a:p>
        </p:txBody>
      </p:sp>
      <p:sp>
        <p:nvSpPr>
          <p:cNvPr id="12" name="TextBox 12">
            <a:extLst>
              <a:ext uri="{FF2B5EF4-FFF2-40B4-BE49-F238E27FC236}">
                <a16:creationId xmlns:a16="http://schemas.microsoft.com/office/drawing/2014/main" id="{121349D1-E90F-29B5-63B6-D0773D1E97EA}"/>
              </a:ext>
            </a:extLst>
          </p:cNvPr>
          <p:cNvSpPr txBox="1"/>
          <p:nvPr/>
        </p:nvSpPr>
        <p:spPr>
          <a:xfrm>
            <a:off x="6275921" y="7408345"/>
            <a:ext cx="70740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SOM</a:t>
            </a:r>
          </a:p>
        </p:txBody>
      </p:sp>
      <p:sp>
        <p:nvSpPr>
          <p:cNvPr id="29" name="AutoShape 29">
            <a:extLst>
              <a:ext uri="{FF2B5EF4-FFF2-40B4-BE49-F238E27FC236}">
                <a16:creationId xmlns:a16="http://schemas.microsoft.com/office/drawing/2014/main" id="{46F270B2-6748-F55B-EFA5-21D34DB86884}"/>
              </a:ext>
            </a:extLst>
          </p:cNvPr>
          <p:cNvSpPr/>
          <p:nvPr/>
        </p:nvSpPr>
        <p:spPr>
          <a:xfrm rot="5400000">
            <a:off x="3008122" y="7812274"/>
            <a:ext cx="659629" cy="0"/>
          </a:xfrm>
          <a:prstGeom prst="line">
            <a:avLst/>
          </a:prstGeom>
          <a:ln w="19050" cap="rnd">
            <a:solidFill>
              <a:srgbClr val="FFFFFF"/>
            </a:solidFill>
            <a:prstDash val="solid"/>
            <a:headEnd type="none" w="sm" len="sm"/>
            <a:tailEnd type="none" w="sm" len="sm"/>
          </a:ln>
        </p:spPr>
        <p:txBody>
          <a:bodyPr/>
          <a:lstStyle/>
          <a:p>
            <a:endParaRPr lang="en-IN"/>
          </a:p>
        </p:txBody>
      </p:sp>
      <p:sp>
        <p:nvSpPr>
          <p:cNvPr id="2" name="TextBox 1">
            <a:extLst>
              <a:ext uri="{FF2B5EF4-FFF2-40B4-BE49-F238E27FC236}">
                <a16:creationId xmlns:a16="http://schemas.microsoft.com/office/drawing/2014/main" id="{CC0911FC-5B87-3659-04EF-609ACF3333B1}"/>
              </a:ext>
            </a:extLst>
          </p:cNvPr>
          <p:cNvSpPr txBox="1"/>
          <p:nvPr/>
        </p:nvSpPr>
        <p:spPr>
          <a:xfrm>
            <a:off x="6333497" y="9306598"/>
            <a:ext cx="709815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Poppins"/>
                <a:cs typeface="Poppins"/>
              </a:rPr>
              <a:t>Fig 17. </a:t>
            </a:r>
            <a:r>
              <a:rPr lang="en-US" sz="2000" dirty="0">
                <a:latin typeface="Poppins"/>
                <a:cs typeface="Poppins"/>
              </a:rPr>
              <a:t>Stage 1: CIC filter (recursive implementation)</a:t>
            </a:r>
            <a:endParaRPr lang="en-US" sz="2000" dirty="0">
              <a:latin typeface="Poppins"/>
              <a:ea typeface="Calibri"/>
              <a:cs typeface="Poppins"/>
            </a:endParaRPr>
          </a:p>
        </p:txBody>
      </p:sp>
      <p:pic>
        <p:nvPicPr>
          <p:cNvPr id="3" name="Picture 2" descr="A diagram of a flowchart&#10;&#10;AI-generated content may be incorrect.">
            <a:extLst>
              <a:ext uri="{FF2B5EF4-FFF2-40B4-BE49-F238E27FC236}">
                <a16:creationId xmlns:a16="http://schemas.microsoft.com/office/drawing/2014/main" id="{20CB5C6E-AB26-924E-55E3-143B1FB17BC3}"/>
              </a:ext>
            </a:extLst>
          </p:cNvPr>
          <p:cNvPicPr>
            <a:picLocks noChangeAspect="1"/>
          </p:cNvPicPr>
          <p:nvPr/>
        </p:nvPicPr>
        <p:blipFill>
          <a:blip r:embed="rId2"/>
          <a:stretch>
            <a:fillRect/>
          </a:stretch>
        </p:blipFill>
        <p:spPr>
          <a:xfrm>
            <a:off x="1470978" y="1571662"/>
            <a:ext cx="16075399" cy="7140511"/>
          </a:xfrm>
          <a:prstGeom prst="rect">
            <a:avLst/>
          </a:prstGeom>
        </p:spPr>
      </p:pic>
      <p:sp>
        <p:nvSpPr>
          <p:cNvPr id="15" name="TextBox 14">
            <a:extLst>
              <a:ext uri="{FF2B5EF4-FFF2-40B4-BE49-F238E27FC236}">
                <a16:creationId xmlns:a16="http://schemas.microsoft.com/office/drawing/2014/main" id="{874FA9A9-AC3A-AC67-7238-AD931B99D174}"/>
              </a:ext>
            </a:extLst>
          </p:cNvPr>
          <p:cNvSpPr txBox="1"/>
          <p:nvPr/>
        </p:nvSpPr>
        <p:spPr>
          <a:xfrm>
            <a:off x="4115873" y="162417"/>
            <a:ext cx="1013953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solidFill>
                  <a:schemeClr val="bg1"/>
                </a:solidFill>
                <a:ea typeface="Calibri"/>
                <a:cs typeface="Calibri"/>
              </a:rPr>
              <a:t>Cascaded Integrator Comb Filter</a:t>
            </a:r>
            <a:endParaRPr lang="en-US" sz="5400">
              <a:solidFill>
                <a:schemeClr val="bg1"/>
              </a:solidFill>
            </a:endParaRPr>
          </a:p>
        </p:txBody>
      </p:sp>
    </p:spTree>
    <p:extLst>
      <p:ext uri="{BB962C8B-B14F-4D97-AF65-F5344CB8AC3E}">
        <p14:creationId xmlns:p14="http://schemas.microsoft.com/office/powerpoint/2010/main" val="2714113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5EE65-EA7F-77E2-6ECA-193B78C5BFF2}"/>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6B80F1BB-16ED-1BFA-9AD8-DBB8D3CB55AC}"/>
              </a:ext>
            </a:extLst>
          </p:cNvPr>
          <p:cNvSpPr/>
          <p:nvPr/>
        </p:nvSpPr>
        <p:spPr>
          <a:xfrm>
            <a:off x="1581407" y="-294760"/>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4" name="TextBox 4">
            <a:extLst>
              <a:ext uri="{FF2B5EF4-FFF2-40B4-BE49-F238E27FC236}">
                <a16:creationId xmlns:a16="http://schemas.microsoft.com/office/drawing/2014/main" id="{6EA6883C-F01D-5AF1-7DAC-DA70796EC9B7}"/>
              </a:ext>
            </a:extLst>
          </p:cNvPr>
          <p:cNvSpPr txBox="1"/>
          <p:nvPr/>
        </p:nvSpPr>
        <p:spPr>
          <a:xfrm>
            <a:off x="1252675" y="7721643"/>
            <a:ext cx="1669427" cy="322287"/>
          </a:xfrm>
          <a:prstGeom prst="rect">
            <a:avLst/>
          </a:prstGeom>
        </p:spPr>
        <p:txBody>
          <a:bodyPr lIns="0" tIns="0" rIns="0" bIns="0" rtlCol="0" anchor="t">
            <a:spAutoFit/>
          </a:bodyPr>
          <a:lstStyle/>
          <a:p>
            <a:pPr algn="l">
              <a:lnSpc>
                <a:spcPts val="2576"/>
              </a:lnSpc>
            </a:pPr>
            <a:r>
              <a:rPr lang="en-US" sz="1840" b="1">
                <a:solidFill>
                  <a:srgbClr val="FFFFFF"/>
                </a:solidFill>
                <a:latin typeface="Poppins Bold"/>
                <a:ea typeface="Poppins Bold"/>
                <a:cs typeface="Poppins Bold"/>
                <a:sym typeface="Poppins Bold"/>
              </a:rPr>
              <a:t>1.6 Billion</a:t>
            </a:r>
          </a:p>
        </p:txBody>
      </p:sp>
      <p:sp>
        <p:nvSpPr>
          <p:cNvPr id="5" name="TextBox 5">
            <a:extLst>
              <a:ext uri="{FF2B5EF4-FFF2-40B4-BE49-F238E27FC236}">
                <a16:creationId xmlns:a16="http://schemas.microsoft.com/office/drawing/2014/main" id="{2D09D13F-23EB-93B2-9711-4B4E18325A0A}"/>
              </a:ext>
            </a:extLst>
          </p:cNvPr>
          <p:cNvSpPr txBox="1"/>
          <p:nvPr/>
        </p:nvSpPr>
        <p:spPr>
          <a:xfrm>
            <a:off x="1252675" y="8075088"/>
            <a:ext cx="1669427" cy="148590"/>
          </a:xfrm>
          <a:prstGeom prst="rect">
            <a:avLst/>
          </a:prstGeom>
        </p:spPr>
        <p:txBody>
          <a:bodyPr lIns="0" tIns="0" rIns="0" bIns="0" rtlCol="0" anchor="t">
            <a:spAutoFit/>
          </a:bodyPr>
          <a:lstStyle/>
          <a:p>
            <a:pPr algn="l">
              <a:lnSpc>
                <a:spcPts val="1259"/>
              </a:lnSpc>
            </a:pPr>
            <a:r>
              <a:rPr lang="en-US" sz="899" b="1">
                <a:solidFill>
                  <a:srgbClr val="FFFFFF"/>
                </a:solidFill>
                <a:latin typeface="Poppins Bold"/>
                <a:ea typeface="Poppins Bold"/>
                <a:cs typeface="Poppins Bold"/>
                <a:sym typeface="Poppins Bold"/>
              </a:rPr>
              <a:t>Total Available Market </a:t>
            </a:r>
          </a:p>
        </p:txBody>
      </p:sp>
      <p:sp>
        <p:nvSpPr>
          <p:cNvPr id="6" name="TextBox 6">
            <a:extLst>
              <a:ext uri="{FF2B5EF4-FFF2-40B4-BE49-F238E27FC236}">
                <a16:creationId xmlns:a16="http://schemas.microsoft.com/office/drawing/2014/main" id="{C2C3B8B6-6DFE-F720-FD14-26EE7BF6D6A6}"/>
              </a:ext>
            </a:extLst>
          </p:cNvPr>
          <p:cNvSpPr txBox="1"/>
          <p:nvPr/>
        </p:nvSpPr>
        <p:spPr>
          <a:xfrm>
            <a:off x="1252675" y="7408345"/>
            <a:ext cx="77137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TAM</a:t>
            </a:r>
          </a:p>
        </p:txBody>
      </p:sp>
      <p:sp>
        <p:nvSpPr>
          <p:cNvPr id="8" name="TextBox 8">
            <a:extLst>
              <a:ext uri="{FF2B5EF4-FFF2-40B4-BE49-F238E27FC236}">
                <a16:creationId xmlns:a16="http://schemas.microsoft.com/office/drawing/2014/main" id="{5870865F-2207-42B7-202E-8589DB3BDD27}"/>
              </a:ext>
            </a:extLst>
          </p:cNvPr>
          <p:cNvSpPr txBox="1"/>
          <p:nvPr/>
        </p:nvSpPr>
        <p:spPr>
          <a:xfrm>
            <a:off x="3764298" y="8096835"/>
            <a:ext cx="2095788" cy="148590"/>
          </a:xfrm>
          <a:prstGeom prst="rect">
            <a:avLst/>
          </a:prstGeom>
        </p:spPr>
        <p:txBody>
          <a:bodyPr lIns="0" tIns="0" rIns="0" bIns="0" rtlCol="0" anchor="t">
            <a:spAutoFit/>
          </a:bodyPr>
          <a:lstStyle/>
          <a:p>
            <a:pPr algn="l">
              <a:lnSpc>
                <a:spcPts val="1260"/>
              </a:lnSpc>
            </a:pPr>
            <a:r>
              <a:rPr lang="en-US" sz="900" b="1">
                <a:solidFill>
                  <a:srgbClr val="FFFFFF"/>
                </a:solidFill>
                <a:latin typeface="Poppins Bold"/>
                <a:ea typeface="Poppins Bold"/>
                <a:cs typeface="Poppins Bold"/>
                <a:sym typeface="Poppins Bold"/>
              </a:rPr>
              <a:t>Serviceable Available Market </a:t>
            </a:r>
          </a:p>
        </p:txBody>
      </p:sp>
      <p:sp>
        <p:nvSpPr>
          <p:cNvPr id="9" name="TextBox 9">
            <a:extLst>
              <a:ext uri="{FF2B5EF4-FFF2-40B4-BE49-F238E27FC236}">
                <a16:creationId xmlns:a16="http://schemas.microsoft.com/office/drawing/2014/main" id="{1878BECF-6B4B-DBED-FD95-B9FB5462FE04}"/>
              </a:ext>
            </a:extLst>
          </p:cNvPr>
          <p:cNvSpPr txBox="1"/>
          <p:nvPr/>
        </p:nvSpPr>
        <p:spPr>
          <a:xfrm>
            <a:off x="3764298" y="7408345"/>
            <a:ext cx="69398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SAM</a:t>
            </a:r>
          </a:p>
        </p:txBody>
      </p:sp>
      <p:sp>
        <p:nvSpPr>
          <p:cNvPr id="10" name="TextBox 10">
            <a:extLst>
              <a:ext uri="{FF2B5EF4-FFF2-40B4-BE49-F238E27FC236}">
                <a16:creationId xmlns:a16="http://schemas.microsoft.com/office/drawing/2014/main" id="{917FCE42-3D00-4FCE-3113-596749C570F2}"/>
              </a:ext>
            </a:extLst>
          </p:cNvPr>
          <p:cNvSpPr txBox="1"/>
          <p:nvPr/>
        </p:nvSpPr>
        <p:spPr>
          <a:xfrm>
            <a:off x="6275921" y="7721643"/>
            <a:ext cx="1666072" cy="322287"/>
          </a:xfrm>
          <a:prstGeom prst="rect">
            <a:avLst/>
          </a:prstGeom>
        </p:spPr>
        <p:txBody>
          <a:bodyPr lIns="0" tIns="0" rIns="0" bIns="0" rtlCol="0" anchor="t">
            <a:spAutoFit/>
          </a:bodyPr>
          <a:lstStyle/>
          <a:p>
            <a:pPr algn="l">
              <a:lnSpc>
                <a:spcPts val="2576"/>
              </a:lnSpc>
            </a:pPr>
            <a:r>
              <a:rPr lang="en-US" sz="1840" b="1">
                <a:solidFill>
                  <a:srgbClr val="FFFFFF"/>
                </a:solidFill>
                <a:latin typeface="Poppins Bold"/>
                <a:ea typeface="Poppins Bold"/>
                <a:cs typeface="Poppins Bold"/>
                <a:sym typeface="Poppins Bold"/>
              </a:rPr>
              <a:t>181 Million</a:t>
            </a:r>
          </a:p>
        </p:txBody>
      </p:sp>
      <p:sp>
        <p:nvSpPr>
          <p:cNvPr id="11" name="TextBox 11">
            <a:extLst>
              <a:ext uri="{FF2B5EF4-FFF2-40B4-BE49-F238E27FC236}">
                <a16:creationId xmlns:a16="http://schemas.microsoft.com/office/drawing/2014/main" id="{7F3566D7-2381-F2DA-3127-B0CD4DE8BCFA}"/>
              </a:ext>
            </a:extLst>
          </p:cNvPr>
          <p:cNvSpPr txBox="1"/>
          <p:nvPr/>
        </p:nvSpPr>
        <p:spPr>
          <a:xfrm>
            <a:off x="6275921" y="8096835"/>
            <a:ext cx="2027367" cy="148590"/>
          </a:xfrm>
          <a:prstGeom prst="rect">
            <a:avLst/>
          </a:prstGeom>
        </p:spPr>
        <p:txBody>
          <a:bodyPr lIns="0" tIns="0" rIns="0" bIns="0" rtlCol="0" anchor="t">
            <a:spAutoFit/>
          </a:bodyPr>
          <a:lstStyle/>
          <a:p>
            <a:pPr algn="l">
              <a:lnSpc>
                <a:spcPts val="1260"/>
              </a:lnSpc>
            </a:pPr>
            <a:r>
              <a:rPr lang="en-US" sz="900" b="1">
                <a:solidFill>
                  <a:srgbClr val="FFFFFF"/>
                </a:solidFill>
                <a:latin typeface="Poppins Bold"/>
                <a:ea typeface="Poppins Bold"/>
                <a:cs typeface="Poppins Bold"/>
                <a:sym typeface="Poppins Bold"/>
              </a:rPr>
              <a:t>Serviceable Obtainable Market </a:t>
            </a:r>
          </a:p>
        </p:txBody>
      </p:sp>
      <p:sp>
        <p:nvSpPr>
          <p:cNvPr id="12" name="TextBox 12">
            <a:extLst>
              <a:ext uri="{FF2B5EF4-FFF2-40B4-BE49-F238E27FC236}">
                <a16:creationId xmlns:a16="http://schemas.microsoft.com/office/drawing/2014/main" id="{282C6231-5FCA-CF81-5784-F281FFC290F5}"/>
              </a:ext>
            </a:extLst>
          </p:cNvPr>
          <p:cNvSpPr txBox="1"/>
          <p:nvPr/>
        </p:nvSpPr>
        <p:spPr>
          <a:xfrm>
            <a:off x="6275921" y="7408345"/>
            <a:ext cx="70740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SOM</a:t>
            </a:r>
          </a:p>
        </p:txBody>
      </p:sp>
      <p:sp>
        <p:nvSpPr>
          <p:cNvPr id="29" name="AutoShape 29">
            <a:extLst>
              <a:ext uri="{FF2B5EF4-FFF2-40B4-BE49-F238E27FC236}">
                <a16:creationId xmlns:a16="http://schemas.microsoft.com/office/drawing/2014/main" id="{41E62F5D-74AC-FF3C-45C8-AFA2F15030D9}"/>
              </a:ext>
            </a:extLst>
          </p:cNvPr>
          <p:cNvSpPr/>
          <p:nvPr/>
        </p:nvSpPr>
        <p:spPr>
          <a:xfrm rot="5400000">
            <a:off x="3008122" y="7812274"/>
            <a:ext cx="659629" cy="0"/>
          </a:xfrm>
          <a:prstGeom prst="line">
            <a:avLst/>
          </a:prstGeom>
          <a:ln w="19050" cap="rnd">
            <a:solidFill>
              <a:srgbClr val="FFFFFF"/>
            </a:solidFill>
            <a:prstDash val="solid"/>
            <a:headEnd type="none" w="sm" len="sm"/>
            <a:tailEnd type="none" w="sm" len="sm"/>
          </a:ln>
        </p:spPr>
        <p:txBody>
          <a:bodyPr/>
          <a:lstStyle/>
          <a:p>
            <a:endParaRPr lang="en-IN"/>
          </a:p>
        </p:txBody>
      </p:sp>
      <p:pic>
        <p:nvPicPr>
          <p:cNvPr id="3" name="Picture 2" descr="A diagram of a system&#10;&#10;AI-generated content may be incorrect.">
            <a:extLst>
              <a:ext uri="{FF2B5EF4-FFF2-40B4-BE49-F238E27FC236}">
                <a16:creationId xmlns:a16="http://schemas.microsoft.com/office/drawing/2014/main" id="{DD7B87B1-1BC3-9C10-9810-08D766D3E50E}"/>
              </a:ext>
            </a:extLst>
          </p:cNvPr>
          <p:cNvPicPr>
            <a:picLocks noChangeAspect="1"/>
          </p:cNvPicPr>
          <p:nvPr/>
        </p:nvPicPr>
        <p:blipFill>
          <a:blip r:embed="rId2"/>
          <a:stretch>
            <a:fillRect/>
          </a:stretch>
        </p:blipFill>
        <p:spPr>
          <a:xfrm>
            <a:off x="1804341" y="1375696"/>
            <a:ext cx="14697451" cy="7532955"/>
          </a:xfrm>
          <a:prstGeom prst="rect">
            <a:avLst/>
          </a:prstGeom>
        </p:spPr>
      </p:pic>
      <p:sp>
        <p:nvSpPr>
          <p:cNvPr id="16" name="Rectangle 25">
            <a:extLst>
              <a:ext uri="{FF2B5EF4-FFF2-40B4-BE49-F238E27FC236}">
                <a16:creationId xmlns:a16="http://schemas.microsoft.com/office/drawing/2014/main" id="{56A676B9-78EF-D5AB-F772-A656BD7E7B67}"/>
              </a:ext>
            </a:extLst>
          </p:cNvPr>
          <p:cNvSpPr/>
          <p:nvPr/>
        </p:nvSpPr>
        <p:spPr>
          <a:xfrm>
            <a:off x="4567449" y="9432360"/>
            <a:ext cx="9395780" cy="875508"/>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endParaRPr lang="en-US" sz="2600">
              <a:solidFill>
                <a:schemeClr val="tx1"/>
              </a:solidFill>
              <a:latin typeface="Poppins"/>
              <a:ea typeface="Calibri"/>
              <a:cs typeface="Segoe UI"/>
            </a:endParaRPr>
          </a:p>
        </p:txBody>
      </p:sp>
      <p:sp>
        <p:nvSpPr>
          <p:cNvPr id="18" name="TextBox 17">
            <a:extLst>
              <a:ext uri="{FF2B5EF4-FFF2-40B4-BE49-F238E27FC236}">
                <a16:creationId xmlns:a16="http://schemas.microsoft.com/office/drawing/2014/main" id="{3704D5FD-0131-F4AB-53EC-327ACEAB10F3}"/>
              </a:ext>
            </a:extLst>
          </p:cNvPr>
          <p:cNvSpPr txBox="1"/>
          <p:nvPr/>
        </p:nvSpPr>
        <p:spPr>
          <a:xfrm>
            <a:off x="5421194" y="9604285"/>
            <a:ext cx="7880375"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Poppins"/>
                <a:cs typeface="Poppins"/>
              </a:rPr>
              <a:t>Fig 18. </a:t>
            </a:r>
            <a:r>
              <a:rPr lang="en-US" sz="2000" dirty="0">
                <a:latin typeface="Poppins"/>
                <a:cs typeface="Poppins"/>
              </a:rPr>
              <a:t>Stage 1: </a:t>
            </a:r>
            <a:r>
              <a:rPr lang="en-US" sz="2000" dirty="0">
                <a:latin typeface="Poppins"/>
                <a:ea typeface="+mn-lt"/>
                <a:cs typeface="Poppins"/>
              </a:rPr>
              <a:t>Actual Hardware implementation of CIC Filter</a:t>
            </a:r>
          </a:p>
          <a:p>
            <a:pPr algn="ctr"/>
            <a:endParaRPr lang="en-US" sz="2000">
              <a:latin typeface="Poppins"/>
              <a:ea typeface="+mn-lt"/>
              <a:cs typeface="+mn-lt"/>
            </a:endParaRPr>
          </a:p>
        </p:txBody>
      </p:sp>
      <p:sp>
        <p:nvSpPr>
          <p:cNvPr id="20" name="TextBox 19">
            <a:extLst>
              <a:ext uri="{FF2B5EF4-FFF2-40B4-BE49-F238E27FC236}">
                <a16:creationId xmlns:a16="http://schemas.microsoft.com/office/drawing/2014/main" id="{539AA81B-F5CA-C0EF-6CC0-9FAAD014E5C2}"/>
              </a:ext>
            </a:extLst>
          </p:cNvPr>
          <p:cNvSpPr txBox="1"/>
          <p:nvPr/>
        </p:nvSpPr>
        <p:spPr>
          <a:xfrm>
            <a:off x="4065446" y="162416"/>
            <a:ext cx="1013953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solidFill>
                  <a:schemeClr val="bg1"/>
                </a:solidFill>
                <a:ea typeface="Calibri"/>
                <a:cs typeface="Calibri"/>
              </a:rPr>
              <a:t>Cascaded Integrator Comb Filter</a:t>
            </a:r>
          </a:p>
        </p:txBody>
      </p:sp>
    </p:spTree>
    <p:extLst>
      <p:ext uri="{BB962C8B-B14F-4D97-AF65-F5344CB8AC3E}">
        <p14:creationId xmlns:p14="http://schemas.microsoft.com/office/powerpoint/2010/main" val="32946243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1FC1605-4317-3F7C-EAE8-03E4DD3F2274}"/>
              </a:ext>
            </a:extLst>
          </p:cNvPr>
          <p:cNvSpPr/>
          <p:nvPr/>
        </p:nvSpPr>
        <p:spPr>
          <a:xfrm>
            <a:off x="79643" y="3491941"/>
            <a:ext cx="18200656" cy="6798065"/>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D1F90E6A-32CC-2DB2-D821-07A503ECB22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55072" y="1073113"/>
            <a:ext cx="5848350" cy="1590675"/>
          </a:xfrm>
          <a:prstGeom prst="rect">
            <a:avLst/>
          </a:prstGeom>
        </p:spPr>
      </p:pic>
      <p:sp>
        <p:nvSpPr>
          <p:cNvPr id="5" name="TextBox 4">
            <a:extLst>
              <a:ext uri="{FF2B5EF4-FFF2-40B4-BE49-F238E27FC236}">
                <a16:creationId xmlns:a16="http://schemas.microsoft.com/office/drawing/2014/main" id="{2F1568A2-A7A0-623B-2D80-C100E183B8CF}"/>
              </a:ext>
            </a:extLst>
          </p:cNvPr>
          <p:cNvSpPr txBox="1"/>
          <p:nvPr/>
        </p:nvSpPr>
        <p:spPr>
          <a:xfrm>
            <a:off x="12145152" y="838015"/>
            <a:ext cx="5667934"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ea typeface="Calibri"/>
                <a:cs typeface="Calibri"/>
              </a:rPr>
              <a:t>H(z) - Transfer function of CIC, where:</a:t>
            </a:r>
          </a:p>
          <a:p>
            <a:pPr marL="285750" indent="-285750">
              <a:buFont typeface="Arial"/>
              <a:buChar char="•"/>
            </a:pPr>
            <a:r>
              <a:rPr lang="en-US" sz="2800">
                <a:ea typeface="Calibri"/>
                <a:cs typeface="Calibri"/>
              </a:rPr>
              <a:t>R = decimation factor = 64</a:t>
            </a:r>
          </a:p>
          <a:p>
            <a:pPr marL="285750" indent="-285750">
              <a:buFont typeface="Arial"/>
              <a:buChar char="•"/>
            </a:pPr>
            <a:r>
              <a:rPr lang="en-US" sz="2800">
                <a:ea typeface="Calibri"/>
                <a:cs typeface="Calibri"/>
              </a:rPr>
              <a:t>M = Differential Delay = 1</a:t>
            </a:r>
          </a:p>
          <a:p>
            <a:pPr marL="285750" indent="-285750">
              <a:buFont typeface="Arial"/>
              <a:buChar char="•"/>
            </a:pPr>
            <a:r>
              <a:rPr lang="en-US" sz="2800">
                <a:ea typeface="Calibri"/>
                <a:cs typeface="Calibri"/>
              </a:rPr>
              <a:t>N = no. Of cascaded stages = 4</a:t>
            </a:r>
          </a:p>
        </p:txBody>
      </p:sp>
      <p:sp>
        <p:nvSpPr>
          <p:cNvPr id="6" name="TextBox 5">
            <a:extLst>
              <a:ext uri="{FF2B5EF4-FFF2-40B4-BE49-F238E27FC236}">
                <a16:creationId xmlns:a16="http://schemas.microsoft.com/office/drawing/2014/main" id="{F0CC3826-DD6D-F6D6-A08F-961D61168577}"/>
              </a:ext>
            </a:extLst>
          </p:cNvPr>
          <p:cNvSpPr txBox="1"/>
          <p:nvPr/>
        </p:nvSpPr>
        <p:spPr>
          <a:xfrm>
            <a:off x="86814" y="899445"/>
            <a:ext cx="4693023"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Calibri"/>
                <a:cs typeface="Calibri"/>
              </a:rPr>
              <a:t>Transfer Function :</a:t>
            </a:r>
          </a:p>
          <a:p>
            <a:endParaRPr lang="en-US" sz="2800">
              <a:ea typeface="Calibri"/>
              <a:cs typeface="Calibri"/>
            </a:endParaRPr>
          </a:p>
        </p:txBody>
      </p:sp>
      <p:sp>
        <p:nvSpPr>
          <p:cNvPr id="7" name="TextBox 6">
            <a:extLst>
              <a:ext uri="{FF2B5EF4-FFF2-40B4-BE49-F238E27FC236}">
                <a16:creationId xmlns:a16="http://schemas.microsoft.com/office/drawing/2014/main" id="{9E38F563-EDBD-313F-CC22-D61BE18EECF0}"/>
              </a:ext>
            </a:extLst>
          </p:cNvPr>
          <p:cNvSpPr txBox="1"/>
          <p:nvPr/>
        </p:nvSpPr>
        <p:spPr>
          <a:xfrm>
            <a:off x="1407091" y="3706534"/>
            <a:ext cx="1232422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u="sng">
                <a:ea typeface="Calibri"/>
                <a:cs typeface="Calibri"/>
              </a:rPr>
              <a:t>Order</a:t>
            </a:r>
            <a:r>
              <a:rPr lang="en-US" sz="2400">
                <a:ea typeface="Calibri"/>
                <a:cs typeface="Calibri"/>
              </a:rPr>
              <a:t>:  4th (no. of cascaded stages). Preferred L+1 order (L=3)</a:t>
            </a:r>
          </a:p>
        </p:txBody>
      </p:sp>
      <p:sp>
        <p:nvSpPr>
          <p:cNvPr id="8" name="TextBox 7">
            <a:extLst>
              <a:ext uri="{FF2B5EF4-FFF2-40B4-BE49-F238E27FC236}">
                <a16:creationId xmlns:a16="http://schemas.microsoft.com/office/drawing/2014/main" id="{505D3E2B-2D28-C34B-D804-84A5A07420B9}"/>
              </a:ext>
            </a:extLst>
          </p:cNvPr>
          <p:cNvSpPr txBox="1"/>
          <p:nvPr/>
        </p:nvSpPr>
        <p:spPr>
          <a:xfrm>
            <a:off x="1407090" y="4353098"/>
            <a:ext cx="1296296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u="sng">
                <a:ea typeface="Calibri"/>
                <a:cs typeface="Calibri"/>
              </a:rPr>
              <a:t>Decimation Factor</a:t>
            </a:r>
            <a:r>
              <a:rPr lang="en-US" sz="2400">
                <a:ea typeface="Calibri"/>
                <a:cs typeface="Calibri"/>
              </a:rPr>
              <a:t>:  64 (Perform major chunk of decimation due to architectural advantages)</a:t>
            </a:r>
          </a:p>
        </p:txBody>
      </p:sp>
      <p:sp>
        <p:nvSpPr>
          <p:cNvPr id="12" name="TextBox 11">
            <a:extLst>
              <a:ext uri="{FF2B5EF4-FFF2-40B4-BE49-F238E27FC236}">
                <a16:creationId xmlns:a16="http://schemas.microsoft.com/office/drawing/2014/main" id="{F4B1E0FD-D4CE-5BAE-F484-7647D748538F}"/>
              </a:ext>
            </a:extLst>
          </p:cNvPr>
          <p:cNvSpPr txBox="1"/>
          <p:nvPr/>
        </p:nvSpPr>
        <p:spPr>
          <a:xfrm>
            <a:off x="2437971" y="6693596"/>
            <a:ext cx="91440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t>y[n]=y[n−1]+x[n]</a:t>
            </a:r>
            <a:endParaRPr lang="en-US" sz="3200">
              <a:ea typeface="Calibri"/>
              <a:cs typeface="Calibri"/>
            </a:endParaRPr>
          </a:p>
        </p:txBody>
      </p:sp>
      <p:sp>
        <p:nvSpPr>
          <p:cNvPr id="13" name="TextBox 12">
            <a:extLst>
              <a:ext uri="{FF2B5EF4-FFF2-40B4-BE49-F238E27FC236}">
                <a16:creationId xmlns:a16="http://schemas.microsoft.com/office/drawing/2014/main" id="{AF0562A5-E0E2-CD49-2BEE-318F0AF73BA4}"/>
              </a:ext>
            </a:extLst>
          </p:cNvPr>
          <p:cNvSpPr txBox="1"/>
          <p:nvPr/>
        </p:nvSpPr>
        <p:spPr>
          <a:xfrm>
            <a:off x="10399596" y="6693597"/>
            <a:ext cx="91440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t>y[n]=x[n]−x[n−RM] </a:t>
            </a:r>
            <a:endParaRPr lang="en-US" sz="3200">
              <a:ea typeface="Calibri"/>
              <a:cs typeface="Calibri"/>
            </a:endParaRPr>
          </a:p>
        </p:txBody>
      </p:sp>
      <p:sp>
        <p:nvSpPr>
          <p:cNvPr id="14" name="TextBox 13">
            <a:extLst>
              <a:ext uri="{FF2B5EF4-FFF2-40B4-BE49-F238E27FC236}">
                <a16:creationId xmlns:a16="http://schemas.microsoft.com/office/drawing/2014/main" id="{7EA246E9-EDB5-C525-E648-1F1C688FB8DE}"/>
              </a:ext>
            </a:extLst>
          </p:cNvPr>
          <p:cNvSpPr txBox="1"/>
          <p:nvPr/>
        </p:nvSpPr>
        <p:spPr>
          <a:xfrm>
            <a:off x="10398860" y="5992797"/>
            <a:ext cx="446552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latin typeface="Poppins Bold"/>
                <a:ea typeface="Calibri"/>
                <a:cs typeface="Poppins Bold"/>
              </a:rPr>
              <a:t>Comb stage</a:t>
            </a:r>
            <a:endParaRPr lang="en-US" sz="3200">
              <a:latin typeface="Poppins Bold"/>
              <a:cs typeface="Poppins Bold"/>
            </a:endParaRPr>
          </a:p>
        </p:txBody>
      </p:sp>
      <p:sp>
        <p:nvSpPr>
          <p:cNvPr id="15" name="TextBox 14">
            <a:extLst>
              <a:ext uri="{FF2B5EF4-FFF2-40B4-BE49-F238E27FC236}">
                <a16:creationId xmlns:a16="http://schemas.microsoft.com/office/drawing/2014/main" id="{F446B224-7CE4-CE05-5E72-92ACDF0A62AC}"/>
              </a:ext>
            </a:extLst>
          </p:cNvPr>
          <p:cNvSpPr txBox="1"/>
          <p:nvPr/>
        </p:nvSpPr>
        <p:spPr>
          <a:xfrm>
            <a:off x="2176397" y="5999368"/>
            <a:ext cx="914400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latin typeface="Poppins Bold"/>
                <a:cs typeface="Poppins Bold"/>
              </a:rPr>
              <a:t>Integrator stage</a:t>
            </a:r>
            <a:r>
              <a:rPr lang="en-US" sz="2800">
                <a:latin typeface="Poppins Bold"/>
                <a:ea typeface="Calibri"/>
                <a:cs typeface="Calibri"/>
              </a:rPr>
              <a:t>​</a:t>
            </a:r>
            <a:endParaRPr lang="en-US" sz="2800">
              <a:latin typeface="Poppins Bold"/>
            </a:endParaRPr>
          </a:p>
          <a:p>
            <a:pPr algn="ctr"/>
            <a:endParaRPr lang="en-US"/>
          </a:p>
        </p:txBody>
      </p:sp>
      <p:sp>
        <p:nvSpPr>
          <p:cNvPr id="16" name="TextBox 15">
            <a:extLst>
              <a:ext uri="{FF2B5EF4-FFF2-40B4-BE49-F238E27FC236}">
                <a16:creationId xmlns:a16="http://schemas.microsoft.com/office/drawing/2014/main" id="{619F09C2-CA86-A639-9985-72631231F52C}"/>
              </a:ext>
            </a:extLst>
          </p:cNvPr>
          <p:cNvSpPr txBox="1"/>
          <p:nvPr/>
        </p:nvSpPr>
        <p:spPr>
          <a:xfrm>
            <a:off x="904913" y="7872056"/>
            <a:ext cx="15250438" cy="2923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2800" baseline="0">
                <a:solidFill>
                  <a:srgbClr val="222222"/>
                </a:solidFill>
                <a:latin typeface="Arial"/>
                <a:ea typeface="Segoe UI"/>
                <a:cs typeface="Segoe UI"/>
              </a:rPr>
              <a:t>Decimation factor is broken into factors to minimize totalwork. One big factor is chosen(handled by CIC) andsmaller subsequent factors (2 or 4) for remaining FIRs.</a:t>
            </a:r>
            <a:r>
              <a:rPr lang="en-US" sz="2800">
                <a:latin typeface="Arial"/>
                <a:ea typeface="Segoe UI"/>
                <a:cs typeface="Segoe UI"/>
              </a:rPr>
              <a:t>​</a:t>
            </a:r>
          </a:p>
          <a:p>
            <a:pPr rtl="0"/>
            <a:r>
              <a:rPr lang="en-US" sz="2800">
                <a:latin typeface="Arial"/>
                <a:ea typeface="Segoe UI"/>
                <a:cs typeface="Segoe UI"/>
              </a:rPr>
              <a:t>​</a:t>
            </a:r>
          </a:p>
          <a:p>
            <a:pPr rtl="0"/>
            <a:r>
              <a:rPr lang="en-US" sz="2800">
                <a:latin typeface="Arial"/>
                <a:ea typeface="Segoe UI"/>
                <a:cs typeface="Segoe UI"/>
              </a:rPr>
              <a:t>​</a:t>
            </a:r>
          </a:p>
          <a:p>
            <a:pPr algn="ctr" rtl="0"/>
            <a:r>
              <a:rPr lang="en-US" sz="5400">
                <a:latin typeface="Calibri"/>
                <a:ea typeface="Segoe UI"/>
                <a:cs typeface="Segoe UI"/>
              </a:rPr>
              <a:t>​</a:t>
            </a:r>
          </a:p>
          <a:p>
            <a:pPr algn="ctr"/>
            <a:endParaRPr lang="en-US"/>
          </a:p>
        </p:txBody>
      </p:sp>
      <p:pic>
        <p:nvPicPr>
          <p:cNvPr id="18" name="Picture 17" descr="A mathematical equation with a square and a few square and a few square and a few square and a few square and a few square and a few square and a few square and a few square and&#10;&#10;AI-generated content may be incorrect.">
            <a:extLst>
              <a:ext uri="{FF2B5EF4-FFF2-40B4-BE49-F238E27FC236}">
                <a16:creationId xmlns:a16="http://schemas.microsoft.com/office/drawing/2014/main" id="{252AC890-6053-8BB8-8796-A7740F7A86A8}"/>
              </a:ext>
            </a:extLst>
          </p:cNvPr>
          <p:cNvPicPr>
            <a:picLocks noChangeAspect="1"/>
          </p:cNvPicPr>
          <p:nvPr/>
        </p:nvPicPr>
        <p:blipFill>
          <a:blip r:embed="rId4"/>
          <a:stretch>
            <a:fillRect/>
          </a:stretch>
        </p:blipFill>
        <p:spPr>
          <a:xfrm>
            <a:off x="7047450" y="374473"/>
            <a:ext cx="4253629" cy="275429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5060325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9E4D2-4B71-384C-C86C-56DA8E8986B0}"/>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2C6A56C1-7BA3-3AFE-1C03-4492F1F40775}"/>
              </a:ext>
            </a:extLst>
          </p:cNvPr>
          <p:cNvSpPr/>
          <p:nvPr/>
        </p:nvSpPr>
        <p:spPr>
          <a:xfrm>
            <a:off x="724932" y="2227808"/>
            <a:ext cx="7997078" cy="8080647"/>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9B98361-A4A9-6CCF-275F-D484774D9BBB}"/>
              </a:ext>
            </a:extLst>
          </p:cNvPr>
          <p:cNvSpPr/>
          <p:nvPr/>
        </p:nvSpPr>
        <p:spPr>
          <a:xfrm>
            <a:off x="2577534" y="7979663"/>
            <a:ext cx="3546557" cy="1295729"/>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5400">
                <a:solidFill>
                  <a:schemeClr val="tx1"/>
                </a:solidFill>
                <a:ea typeface="Calibri"/>
                <a:cs typeface="Calibri"/>
              </a:rPr>
              <a:t>Recursive</a:t>
            </a:r>
            <a:endParaRPr lang="en-US">
              <a:solidFill>
                <a:schemeClr val="tx1"/>
              </a:solidFill>
            </a:endParaRPr>
          </a:p>
        </p:txBody>
      </p:sp>
      <p:sp>
        <p:nvSpPr>
          <p:cNvPr id="19" name="Rectangle 18">
            <a:extLst>
              <a:ext uri="{FF2B5EF4-FFF2-40B4-BE49-F238E27FC236}">
                <a16:creationId xmlns:a16="http://schemas.microsoft.com/office/drawing/2014/main" id="{09E3B547-B215-69E3-60AC-5CCAD878275D}"/>
              </a:ext>
            </a:extLst>
          </p:cNvPr>
          <p:cNvSpPr/>
          <p:nvPr/>
        </p:nvSpPr>
        <p:spPr>
          <a:xfrm>
            <a:off x="9139583" y="2237072"/>
            <a:ext cx="8459940" cy="8065471"/>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9">
            <a:extLst>
              <a:ext uri="{FF2B5EF4-FFF2-40B4-BE49-F238E27FC236}">
                <a16:creationId xmlns:a16="http://schemas.microsoft.com/office/drawing/2014/main" id="{C1473438-7CCF-4D0B-329E-65F70D10B9E8}"/>
              </a:ext>
            </a:extLst>
          </p:cNvPr>
          <p:cNvSpPr txBox="1"/>
          <p:nvPr/>
        </p:nvSpPr>
        <p:spPr>
          <a:xfrm rot="16200000">
            <a:off x="16798985" y="8985925"/>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7" name="TextBox 6">
            <a:extLst>
              <a:ext uri="{FF2B5EF4-FFF2-40B4-BE49-F238E27FC236}">
                <a16:creationId xmlns:a16="http://schemas.microsoft.com/office/drawing/2014/main" id="{FFE61901-3858-FA1F-B843-9E1991658A83}"/>
              </a:ext>
            </a:extLst>
          </p:cNvPr>
          <p:cNvSpPr txBox="1"/>
          <p:nvPr/>
        </p:nvSpPr>
        <p:spPr>
          <a:xfrm>
            <a:off x="9681428" y="2507694"/>
            <a:ext cx="7707528"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400">
                <a:ea typeface="+mn-lt"/>
                <a:cs typeface="+mn-lt"/>
              </a:rPr>
              <a:t>fully feed-forward → no overflow accumulation</a:t>
            </a:r>
            <a:endParaRPr lang="en-US">
              <a:ea typeface="+mn-lt"/>
              <a:cs typeface="+mn-lt"/>
            </a:endParaRPr>
          </a:p>
          <a:p>
            <a:pPr marL="342900" indent="-342900">
              <a:buFont typeface="Arial"/>
              <a:buChar char="•"/>
            </a:pPr>
            <a:r>
              <a:rPr lang="en-US" sz="2400">
                <a:ea typeface="+mn-lt"/>
                <a:cs typeface="+mn-lt"/>
              </a:rPr>
              <a:t>easier for frequency-domain analysis</a:t>
            </a:r>
            <a:endParaRPr lang="en-US">
              <a:ea typeface="+mn-lt"/>
              <a:cs typeface="+mn-lt"/>
            </a:endParaRPr>
          </a:p>
          <a:p>
            <a:pPr marL="342900" indent="-342900">
              <a:buFont typeface="Arial"/>
              <a:buChar char="•"/>
            </a:pPr>
            <a:r>
              <a:rPr lang="en-US" sz="2400">
                <a:ea typeface="+mn-lt"/>
                <a:cs typeface="+mn-lt"/>
              </a:rPr>
              <a:t>more stable numerically</a:t>
            </a:r>
            <a:endParaRPr lang="en-US">
              <a:ea typeface="+mn-lt"/>
              <a:cs typeface="+mn-lt"/>
            </a:endParaRPr>
          </a:p>
          <a:p>
            <a:pPr marL="342900" indent="-342900">
              <a:buFont typeface="Arial"/>
              <a:buChar char="•"/>
            </a:pPr>
            <a:r>
              <a:rPr lang="en-US" sz="2400">
                <a:ea typeface="+mn-lt"/>
                <a:cs typeface="+mn-lt"/>
              </a:rPr>
              <a:t>useful when R is small or fixed</a:t>
            </a:r>
            <a:endParaRPr lang="en-US">
              <a:ea typeface="Calibri"/>
              <a:cs typeface="Calibri"/>
            </a:endParaRPr>
          </a:p>
          <a:p>
            <a:pPr algn="ctr"/>
            <a:endParaRPr lang="en-US" sz="2400">
              <a:ea typeface="Calibri"/>
              <a:cs typeface="Calibri"/>
            </a:endParaRPr>
          </a:p>
          <a:p>
            <a:pPr marL="342900" indent="-342900">
              <a:buFont typeface="Arial"/>
              <a:buChar char="•"/>
            </a:pPr>
            <a:r>
              <a:rPr lang="en-US" sz="2400">
                <a:ea typeface="+mn-lt"/>
                <a:cs typeface="+mn-lt"/>
              </a:rPr>
              <a:t>enormous number of taps for large RM</a:t>
            </a:r>
            <a:endParaRPr lang="en-US">
              <a:ea typeface="+mn-lt"/>
              <a:cs typeface="+mn-lt"/>
            </a:endParaRPr>
          </a:p>
          <a:p>
            <a:pPr marL="342900" indent="-342900">
              <a:buFont typeface="Arial"/>
              <a:buChar char="•"/>
            </a:pPr>
            <a:r>
              <a:rPr lang="en-US" sz="2400">
                <a:ea typeface="+mn-lt"/>
                <a:cs typeface="+mn-lt"/>
              </a:rPr>
              <a:t>area increases drastically</a:t>
            </a:r>
            <a:endParaRPr lang="en-US">
              <a:ea typeface="+mn-lt"/>
              <a:cs typeface="+mn-lt"/>
            </a:endParaRPr>
          </a:p>
          <a:p>
            <a:pPr marL="342900" indent="-342900">
              <a:buFont typeface="Arial"/>
              <a:buChar char="•"/>
            </a:pPr>
            <a:r>
              <a:rPr lang="en-US" sz="2400">
                <a:ea typeface="+mn-lt"/>
                <a:cs typeface="+mn-lt"/>
              </a:rPr>
              <a:t>half of the taps are identical → can optimize but still large</a:t>
            </a:r>
            <a:br>
              <a:rPr lang="en-US" sz="2400">
                <a:ea typeface="+mn-lt"/>
                <a:cs typeface="+mn-lt"/>
              </a:rPr>
            </a:br>
            <a:r>
              <a:rPr lang="en-US" sz="2400">
                <a:ea typeface="+mn-lt"/>
                <a:cs typeface="+mn-lt"/>
              </a:rPr>
              <a:t> not practical for very large R</a:t>
            </a:r>
            <a:endParaRPr lang="en-US">
              <a:ea typeface="Calibri"/>
              <a:cs typeface="Calibri"/>
            </a:endParaRPr>
          </a:p>
        </p:txBody>
      </p:sp>
      <p:sp>
        <p:nvSpPr>
          <p:cNvPr id="8" name="TextBox 7">
            <a:extLst>
              <a:ext uri="{FF2B5EF4-FFF2-40B4-BE49-F238E27FC236}">
                <a16:creationId xmlns:a16="http://schemas.microsoft.com/office/drawing/2014/main" id="{2DE68B8A-07EE-0D73-6CF8-FF1CD440DFB6}"/>
              </a:ext>
            </a:extLst>
          </p:cNvPr>
          <p:cNvSpPr txBox="1"/>
          <p:nvPr/>
        </p:nvSpPr>
        <p:spPr>
          <a:xfrm>
            <a:off x="7046531" y="8900045"/>
            <a:ext cx="9144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Poppins"/>
                <a:ea typeface="Poppins"/>
                <a:cs typeface="Poppins"/>
              </a:rPr>
              <a:t>​</a:t>
            </a:r>
            <a:endParaRPr lang="en-US"/>
          </a:p>
          <a:p>
            <a:pPr algn="ctr"/>
            <a:endParaRPr lang="en-US"/>
          </a:p>
        </p:txBody>
      </p:sp>
      <p:sp>
        <p:nvSpPr>
          <p:cNvPr id="31" name="Rectangle: Rounded Corners 30">
            <a:extLst>
              <a:ext uri="{FF2B5EF4-FFF2-40B4-BE49-F238E27FC236}">
                <a16:creationId xmlns:a16="http://schemas.microsoft.com/office/drawing/2014/main" id="{552BF71B-791E-B7AD-438D-912653772EDC}"/>
              </a:ext>
            </a:extLst>
          </p:cNvPr>
          <p:cNvSpPr/>
          <p:nvPr/>
        </p:nvSpPr>
        <p:spPr>
          <a:xfrm>
            <a:off x="1047178" y="-335199"/>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34" name="Rectangle 25">
            <a:extLst>
              <a:ext uri="{FF2B5EF4-FFF2-40B4-BE49-F238E27FC236}">
                <a16:creationId xmlns:a16="http://schemas.microsoft.com/office/drawing/2014/main" id="{79D1C267-6C3F-FEF7-58BF-BEDB8592A0E1}"/>
              </a:ext>
            </a:extLst>
          </p:cNvPr>
          <p:cNvSpPr/>
          <p:nvPr/>
        </p:nvSpPr>
        <p:spPr>
          <a:xfrm>
            <a:off x="11771961" y="7979663"/>
            <a:ext cx="3546557" cy="1295729"/>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4400">
                <a:solidFill>
                  <a:schemeClr val="tx1"/>
                </a:solidFill>
                <a:ea typeface="Calibri"/>
                <a:cs typeface="Calibri"/>
              </a:rPr>
              <a:t>Non-recursive</a:t>
            </a:r>
            <a:endParaRPr lang="en-US" sz="4400">
              <a:solidFill>
                <a:schemeClr val="tx1"/>
              </a:solidFill>
              <a:ea typeface="Calibri"/>
              <a:cs typeface="Calibri"/>
            </a:endParaRPr>
          </a:p>
        </p:txBody>
      </p:sp>
      <p:sp>
        <p:nvSpPr>
          <p:cNvPr id="37" name="TextBox 36">
            <a:extLst>
              <a:ext uri="{FF2B5EF4-FFF2-40B4-BE49-F238E27FC236}">
                <a16:creationId xmlns:a16="http://schemas.microsoft.com/office/drawing/2014/main" id="{51177F1D-B3E5-5ABE-60F4-AAC49CABD936}"/>
              </a:ext>
            </a:extLst>
          </p:cNvPr>
          <p:cNvSpPr txBox="1"/>
          <p:nvPr/>
        </p:nvSpPr>
        <p:spPr>
          <a:xfrm>
            <a:off x="5922387" y="-42003"/>
            <a:ext cx="4599300" cy="7980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43" name="TextBox 42">
            <a:extLst>
              <a:ext uri="{FF2B5EF4-FFF2-40B4-BE49-F238E27FC236}">
                <a16:creationId xmlns:a16="http://schemas.microsoft.com/office/drawing/2014/main" id="{808E3C0F-A24B-20E7-2191-FBBC13FFAF50}"/>
              </a:ext>
            </a:extLst>
          </p:cNvPr>
          <p:cNvSpPr txBox="1"/>
          <p:nvPr/>
        </p:nvSpPr>
        <p:spPr>
          <a:xfrm>
            <a:off x="924030" y="2507694"/>
            <a:ext cx="7791572"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400">
                <a:ea typeface="+mn-lt"/>
                <a:cs typeface="+mn-lt"/>
              </a:rPr>
              <a:t>very hardware-efficient</a:t>
            </a:r>
            <a:endParaRPr lang="en-US">
              <a:ea typeface="+mn-lt"/>
              <a:cs typeface="+mn-lt"/>
            </a:endParaRPr>
          </a:p>
          <a:p>
            <a:pPr marL="342900" indent="-342900">
              <a:buFont typeface="Arial"/>
              <a:buChar char="•"/>
            </a:pPr>
            <a:r>
              <a:rPr lang="en-US" sz="2400">
                <a:ea typeface="+mn-lt"/>
                <a:cs typeface="+mn-lt"/>
              </a:rPr>
              <a:t>no multipliers</a:t>
            </a:r>
            <a:endParaRPr lang="en-US">
              <a:ea typeface="+mn-lt"/>
              <a:cs typeface="+mn-lt"/>
            </a:endParaRPr>
          </a:p>
          <a:p>
            <a:pPr marL="342900" indent="-342900">
              <a:buFont typeface="Arial"/>
              <a:buChar char="•"/>
            </a:pPr>
            <a:r>
              <a:rPr lang="en-US" sz="2400">
                <a:ea typeface="+mn-lt"/>
                <a:cs typeface="+mn-lt"/>
              </a:rPr>
              <a:t>minimal logic (adders + delay + subtractors)</a:t>
            </a:r>
            <a:endParaRPr lang="en-US">
              <a:ea typeface="+mn-lt"/>
              <a:cs typeface="+mn-lt"/>
            </a:endParaRPr>
          </a:p>
          <a:p>
            <a:pPr marL="342900" indent="-342900">
              <a:buFont typeface="Arial"/>
              <a:buChar char="•"/>
            </a:pPr>
            <a:r>
              <a:rPr lang="en-US" sz="2400">
                <a:ea typeface="+mn-lt"/>
                <a:cs typeface="+mn-lt"/>
              </a:rPr>
              <a:t>supports very large R</a:t>
            </a:r>
            <a:endParaRPr lang="en-US">
              <a:ea typeface="+mn-lt"/>
              <a:cs typeface="+mn-lt"/>
            </a:endParaRPr>
          </a:p>
          <a:p>
            <a:pPr marL="342900" indent="-342900">
              <a:buFont typeface="Arial"/>
              <a:buChar char="•"/>
            </a:pPr>
            <a:r>
              <a:rPr lang="en-US" sz="2400">
                <a:ea typeface="+mn-lt"/>
                <a:cs typeface="+mn-lt"/>
              </a:rPr>
              <a:t>used in almost all ΔΣ ADCs</a:t>
            </a:r>
            <a:endParaRPr lang="en-US">
              <a:ea typeface="+mn-lt"/>
              <a:cs typeface="+mn-lt"/>
            </a:endParaRPr>
          </a:p>
          <a:p>
            <a:pPr marL="342900" indent="-342900">
              <a:buFont typeface="Arial"/>
              <a:buChar char="•"/>
            </a:pPr>
            <a:r>
              <a:rPr lang="en-US" sz="2400">
                <a:ea typeface="+mn-lt"/>
                <a:cs typeface="+mn-lt"/>
              </a:rPr>
              <a:t>Long wordlength grows quickly (bit growth = N·log₂(RM))</a:t>
            </a:r>
            <a:endParaRPr lang="en-US">
              <a:ea typeface="+mn-lt"/>
              <a:cs typeface="+mn-lt"/>
            </a:endParaRPr>
          </a:p>
          <a:p>
            <a:pPr marL="342900" indent="-342900">
              <a:buFont typeface="Arial"/>
              <a:buChar char="•"/>
            </a:pPr>
            <a:r>
              <a:rPr lang="en-US" sz="2400">
                <a:ea typeface="Calibri"/>
                <a:cs typeface="Calibri"/>
              </a:rPr>
              <a:t>Standard CIC implementation</a:t>
            </a:r>
          </a:p>
          <a:p>
            <a:pPr algn="ctr"/>
            <a:endParaRPr lang="en-US" sz="2400">
              <a:ea typeface="+mn-lt"/>
              <a:cs typeface="+mn-lt"/>
            </a:endParaRPr>
          </a:p>
          <a:p>
            <a:pPr algn="ctr"/>
            <a:endParaRPr lang="en-US" sz="2400">
              <a:ea typeface="+mn-lt"/>
              <a:cs typeface="+mn-lt"/>
            </a:endParaRPr>
          </a:p>
          <a:p>
            <a:pPr marL="285750" indent="-285750">
              <a:buFont typeface="Arial"/>
              <a:buChar char="•"/>
            </a:pPr>
            <a:r>
              <a:rPr lang="en-US" sz="2400">
                <a:ea typeface="+mn-lt"/>
                <a:cs typeface="+mn-lt"/>
              </a:rPr>
              <a:t>Overflow must be handled (wrap-around or wide registers)</a:t>
            </a:r>
            <a:endParaRPr lang="en-US">
              <a:ea typeface="Calibri"/>
              <a:cs typeface="Calibri"/>
            </a:endParaRPr>
          </a:p>
          <a:p>
            <a:pPr marL="285750" indent="-285750">
              <a:buFont typeface="Arial"/>
              <a:buChar char="•"/>
            </a:pPr>
            <a:r>
              <a:rPr lang="en-US" sz="2400">
                <a:ea typeface="+mn-lt"/>
                <a:cs typeface="+mn-lt"/>
              </a:rPr>
              <a:t>High-speed integrator stage must run at modulator rate</a:t>
            </a:r>
            <a:endParaRPr lang="en-US">
              <a:ea typeface="Calibri"/>
              <a:cs typeface="Calibri"/>
            </a:endParaRPr>
          </a:p>
          <a:p>
            <a:pPr marL="285750" indent="-285750">
              <a:buFont typeface="Arial"/>
              <a:buChar char="•"/>
            </a:pPr>
            <a:r>
              <a:rPr lang="en-US" sz="2400">
                <a:ea typeface="+mn-lt"/>
                <a:cs typeface="+mn-lt"/>
              </a:rPr>
              <a:t>Not amenable to coefficient tweaking (fixed response)</a:t>
            </a:r>
            <a:endParaRPr lang="en-US">
              <a:ea typeface="Calibri"/>
              <a:cs typeface="Calibri"/>
            </a:endParaRPr>
          </a:p>
          <a:p>
            <a:pPr algn="ctr"/>
            <a:endParaRPr lang="en-US" sz="2400">
              <a:ea typeface="Calibri"/>
              <a:cs typeface="Calibri"/>
            </a:endParaRPr>
          </a:p>
        </p:txBody>
      </p:sp>
      <p:sp>
        <p:nvSpPr>
          <p:cNvPr id="4" name="TextBox 3">
            <a:extLst>
              <a:ext uri="{FF2B5EF4-FFF2-40B4-BE49-F238E27FC236}">
                <a16:creationId xmlns:a16="http://schemas.microsoft.com/office/drawing/2014/main" id="{72007314-51FC-7EF9-4D8B-F3910CB32763}"/>
              </a:ext>
            </a:extLst>
          </p:cNvPr>
          <p:cNvSpPr txBox="1"/>
          <p:nvPr/>
        </p:nvSpPr>
        <p:spPr>
          <a:xfrm>
            <a:off x="1021978" y="134317"/>
            <a:ext cx="15417051" cy="12339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IN" sz="5400">
                <a:solidFill>
                  <a:srgbClr val="FFFFFF"/>
                </a:solidFill>
                <a:ea typeface="Calibri"/>
                <a:cs typeface="Calibri"/>
              </a:rPr>
              <a:t>Recursive vs Non-recursive CIC</a:t>
            </a:r>
            <a:endParaRPr lang="en-US" sz="5400">
              <a:ea typeface="Calibri"/>
              <a:cs typeface="Calibri"/>
            </a:endParaRPr>
          </a:p>
          <a:p>
            <a:pPr algn="l"/>
            <a:endParaRPr lang="en-US">
              <a:ea typeface="Calibri"/>
              <a:cs typeface="Calibri"/>
            </a:endParaRPr>
          </a:p>
        </p:txBody>
      </p:sp>
    </p:spTree>
    <p:extLst>
      <p:ext uri="{BB962C8B-B14F-4D97-AF65-F5344CB8AC3E}">
        <p14:creationId xmlns:p14="http://schemas.microsoft.com/office/powerpoint/2010/main" val="26507458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AAC81-3677-D82A-A16C-2ACC014F0F12}"/>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52193A63-155C-1362-FB3D-B9AABCAA0D5E}"/>
              </a:ext>
            </a:extLst>
          </p:cNvPr>
          <p:cNvSpPr/>
          <p:nvPr/>
        </p:nvSpPr>
        <p:spPr>
          <a:xfrm>
            <a:off x="1581407" y="-277951"/>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4" name="TextBox 4">
            <a:extLst>
              <a:ext uri="{FF2B5EF4-FFF2-40B4-BE49-F238E27FC236}">
                <a16:creationId xmlns:a16="http://schemas.microsoft.com/office/drawing/2014/main" id="{DDF37A97-6611-6C6B-6C1E-7E12AF96D727}"/>
              </a:ext>
            </a:extLst>
          </p:cNvPr>
          <p:cNvSpPr txBox="1"/>
          <p:nvPr/>
        </p:nvSpPr>
        <p:spPr>
          <a:xfrm>
            <a:off x="1252675" y="7721643"/>
            <a:ext cx="1669427" cy="322287"/>
          </a:xfrm>
          <a:prstGeom prst="rect">
            <a:avLst/>
          </a:prstGeom>
        </p:spPr>
        <p:txBody>
          <a:bodyPr lIns="0" tIns="0" rIns="0" bIns="0" rtlCol="0" anchor="t">
            <a:spAutoFit/>
          </a:bodyPr>
          <a:lstStyle/>
          <a:p>
            <a:pPr algn="l">
              <a:lnSpc>
                <a:spcPts val="2576"/>
              </a:lnSpc>
            </a:pPr>
            <a:r>
              <a:rPr lang="en-US" sz="1840" b="1">
                <a:solidFill>
                  <a:srgbClr val="FFFFFF"/>
                </a:solidFill>
                <a:latin typeface="Poppins Bold"/>
                <a:ea typeface="Poppins Bold"/>
                <a:cs typeface="Poppins Bold"/>
                <a:sym typeface="Poppins Bold"/>
              </a:rPr>
              <a:t>1.6 Billion</a:t>
            </a:r>
          </a:p>
        </p:txBody>
      </p:sp>
      <p:sp>
        <p:nvSpPr>
          <p:cNvPr id="5" name="TextBox 5">
            <a:extLst>
              <a:ext uri="{FF2B5EF4-FFF2-40B4-BE49-F238E27FC236}">
                <a16:creationId xmlns:a16="http://schemas.microsoft.com/office/drawing/2014/main" id="{10045F9A-D64D-1FAD-5358-8C9A044E2DE0}"/>
              </a:ext>
            </a:extLst>
          </p:cNvPr>
          <p:cNvSpPr txBox="1"/>
          <p:nvPr/>
        </p:nvSpPr>
        <p:spPr>
          <a:xfrm>
            <a:off x="1252675" y="8075088"/>
            <a:ext cx="1669427" cy="148590"/>
          </a:xfrm>
          <a:prstGeom prst="rect">
            <a:avLst/>
          </a:prstGeom>
        </p:spPr>
        <p:txBody>
          <a:bodyPr lIns="0" tIns="0" rIns="0" bIns="0" rtlCol="0" anchor="t">
            <a:spAutoFit/>
          </a:bodyPr>
          <a:lstStyle/>
          <a:p>
            <a:pPr algn="l">
              <a:lnSpc>
                <a:spcPts val="1259"/>
              </a:lnSpc>
            </a:pPr>
            <a:r>
              <a:rPr lang="en-US" sz="899" b="1">
                <a:solidFill>
                  <a:srgbClr val="FFFFFF"/>
                </a:solidFill>
                <a:latin typeface="Poppins Bold"/>
                <a:ea typeface="Poppins Bold"/>
                <a:cs typeface="Poppins Bold"/>
                <a:sym typeface="Poppins Bold"/>
              </a:rPr>
              <a:t>Total Available Market </a:t>
            </a:r>
          </a:p>
        </p:txBody>
      </p:sp>
      <p:sp>
        <p:nvSpPr>
          <p:cNvPr id="6" name="TextBox 6">
            <a:extLst>
              <a:ext uri="{FF2B5EF4-FFF2-40B4-BE49-F238E27FC236}">
                <a16:creationId xmlns:a16="http://schemas.microsoft.com/office/drawing/2014/main" id="{1BC86459-3566-0887-EF18-8C45793C7B08}"/>
              </a:ext>
            </a:extLst>
          </p:cNvPr>
          <p:cNvSpPr txBox="1"/>
          <p:nvPr/>
        </p:nvSpPr>
        <p:spPr>
          <a:xfrm>
            <a:off x="1252675" y="7408345"/>
            <a:ext cx="77137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TAM</a:t>
            </a:r>
          </a:p>
        </p:txBody>
      </p:sp>
      <p:sp>
        <p:nvSpPr>
          <p:cNvPr id="8" name="TextBox 8">
            <a:extLst>
              <a:ext uri="{FF2B5EF4-FFF2-40B4-BE49-F238E27FC236}">
                <a16:creationId xmlns:a16="http://schemas.microsoft.com/office/drawing/2014/main" id="{BA19D901-57E8-2B56-AACA-10FD4C6FE202}"/>
              </a:ext>
            </a:extLst>
          </p:cNvPr>
          <p:cNvSpPr txBox="1"/>
          <p:nvPr/>
        </p:nvSpPr>
        <p:spPr>
          <a:xfrm>
            <a:off x="3764298" y="8096835"/>
            <a:ext cx="2095788" cy="148590"/>
          </a:xfrm>
          <a:prstGeom prst="rect">
            <a:avLst/>
          </a:prstGeom>
        </p:spPr>
        <p:txBody>
          <a:bodyPr lIns="0" tIns="0" rIns="0" bIns="0" rtlCol="0" anchor="t">
            <a:spAutoFit/>
          </a:bodyPr>
          <a:lstStyle/>
          <a:p>
            <a:pPr algn="l">
              <a:lnSpc>
                <a:spcPts val="1260"/>
              </a:lnSpc>
            </a:pPr>
            <a:r>
              <a:rPr lang="en-US" sz="900" b="1">
                <a:solidFill>
                  <a:srgbClr val="FFFFFF"/>
                </a:solidFill>
                <a:latin typeface="Poppins Bold"/>
                <a:ea typeface="Poppins Bold"/>
                <a:cs typeface="Poppins Bold"/>
                <a:sym typeface="Poppins Bold"/>
              </a:rPr>
              <a:t>Serviceable Available Market </a:t>
            </a:r>
          </a:p>
        </p:txBody>
      </p:sp>
      <p:sp>
        <p:nvSpPr>
          <p:cNvPr id="9" name="TextBox 9">
            <a:extLst>
              <a:ext uri="{FF2B5EF4-FFF2-40B4-BE49-F238E27FC236}">
                <a16:creationId xmlns:a16="http://schemas.microsoft.com/office/drawing/2014/main" id="{969A86C0-6F23-6463-72F2-D4CBC178AFCC}"/>
              </a:ext>
            </a:extLst>
          </p:cNvPr>
          <p:cNvSpPr txBox="1"/>
          <p:nvPr/>
        </p:nvSpPr>
        <p:spPr>
          <a:xfrm>
            <a:off x="3764298" y="7408345"/>
            <a:ext cx="69398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SAM</a:t>
            </a:r>
          </a:p>
        </p:txBody>
      </p:sp>
      <p:sp>
        <p:nvSpPr>
          <p:cNvPr id="10" name="TextBox 10">
            <a:extLst>
              <a:ext uri="{FF2B5EF4-FFF2-40B4-BE49-F238E27FC236}">
                <a16:creationId xmlns:a16="http://schemas.microsoft.com/office/drawing/2014/main" id="{6305661A-3352-9660-AE30-54002E8067AD}"/>
              </a:ext>
            </a:extLst>
          </p:cNvPr>
          <p:cNvSpPr txBox="1"/>
          <p:nvPr/>
        </p:nvSpPr>
        <p:spPr>
          <a:xfrm>
            <a:off x="6275921" y="7721643"/>
            <a:ext cx="1666072" cy="322287"/>
          </a:xfrm>
          <a:prstGeom prst="rect">
            <a:avLst/>
          </a:prstGeom>
        </p:spPr>
        <p:txBody>
          <a:bodyPr lIns="0" tIns="0" rIns="0" bIns="0" rtlCol="0" anchor="t">
            <a:spAutoFit/>
          </a:bodyPr>
          <a:lstStyle/>
          <a:p>
            <a:pPr algn="l">
              <a:lnSpc>
                <a:spcPts val="2576"/>
              </a:lnSpc>
            </a:pPr>
            <a:r>
              <a:rPr lang="en-US" sz="1840" b="1">
                <a:solidFill>
                  <a:srgbClr val="FFFFFF"/>
                </a:solidFill>
                <a:latin typeface="Poppins Bold"/>
                <a:ea typeface="Poppins Bold"/>
                <a:cs typeface="Poppins Bold"/>
                <a:sym typeface="Poppins Bold"/>
              </a:rPr>
              <a:t>181 Million</a:t>
            </a:r>
          </a:p>
        </p:txBody>
      </p:sp>
      <p:sp>
        <p:nvSpPr>
          <p:cNvPr id="11" name="TextBox 11">
            <a:extLst>
              <a:ext uri="{FF2B5EF4-FFF2-40B4-BE49-F238E27FC236}">
                <a16:creationId xmlns:a16="http://schemas.microsoft.com/office/drawing/2014/main" id="{E5A99054-EC98-92E5-0A91-4B586A5EF7CB}"/>
              </a:ext>
            </a:extLst>
          </p:cNvPr>
          <p:cNvSpPr txBox="1"/>
          <p:nvPr/>
        </p:nvSpPr>
        <p:spPr>
          <a:xfrm>
            <a:off x="6275921" y="8096835"/>
            <a:ext cx="2027367" cy="148590"/>
          </a:xfrm>
          <a:prstGeom prst="rect">
            <a:avLst/>
          </a:prstGeom>
        </p:spPr>
        <p:txBody>
          <a:bodyPr lIns="0" tIns="0" rIns="0" bIns="0" rtlCol="0" anchor="t">
            <a:spAutoFit/>
          </a:bodyPr>
          <a:lstStyle/>
          <a:p>
            <a:pPr algn="l">
              <a:lnSpc>
                <a:spcPts val="1260"/>
              </a:lnSpc>
            </a:pPr>
            <a:r>
              <a:rPr lang="en-US" sz="900" b="1">
                <a:solidFill>
                  <a:srgbClr val="FFFFFF"/>
                </a:solidFill>
                <a:latin typeface="Poppins Bold"/>
                <a:ea typeface="Poppins Bold"/>
                <a:cs typeface="Poppins Bold"/>
                <a:sym typeface="Poppins Bold"/>
              </a:rPr>
              <a:t>Serviceable Obtainable Market </a:t>
            </a:r>
          </a:p>
        </p:txBody>
      </p:sp>
      <p:sp>
        <p:nvSpPr>
          <p:cNvPr id="12" name="TextBox 12">
            <a:extLst>
              <a:ext uri="{FF2B5EF4-FFF2-40B4-BE49-F238E27FC236}">
                <a16:creationId xmlns:a16="http://schemas.microsoft.com/office/drawing/2014/main" id="{73CF918C-7989-2E52-16EC-B0BD9729BC2A}"/>
              </a:ext>
            </a:extLst>
          </p:cNvPr>
          <p:cNvSpPr txBox="1"/>
          <p:nvPr/>
        </p:nvSpPr>
        <p:spPr>
          <a:xfrm>
            <a:off x="6275921" y="7408345"/>
            <a:ext cx="70740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SOM</a:t>
            </a:r>
          </a:p>
        </p:txBody>
      </p:sp>
      <p:sp>
        <p:nvSpPr>
          <p:cNvPr id="29" name="AutoShape 29">
            <a:extLst>
              <a:ext uri="{FF2B5EF4-FFF2-40B4-BE49-F238E27FC236}">
                <a16:creationId xmlns:a16="http://schemas.microsoft.com/office/drawing/2014/main" id="{7DF74331-BAA5-323C-22A4-B637B61A6CAB}"/>
              </a:ext>
            </a:extLst>
          </p:cNvPr>
          <p:cNvSpPr/>
          <p:nvPr/>
        </p:nvSpPr>
        <p:spPr>
          <a:xfrm rot="5400000">
            <a:off x="3008122" y="7812274"/>
            <a:ext cx="659629" cy="0"/>
          </a:xfrm>
          <a:prstGeom prst="line">
            <a:avLst/>
          </a:prstGeom>
          <a:ln w="19050" cap="rnd">
            <a:solidFill>
              <a:srgbClr val="FFFFFF"/>
            </a:solidFill>
            <a:prstDash val="solid"/>
            <a:headEnd type="none" w="sm" len="sm"/>
            <a:tailEnd type="none" w="sm" len="sm"/>
          </a:ln>
        </p:spPr>
        <p:txBody>
          <a:bodyPr/>
          <a:lstStyle/>
          <a:p>
            <a:endParaRPr lang="en-IN"/>
          </a:p>
        </p:txBody>
      </p:sp>
      <p:pic>
        <p:nvPicPr>
          <p:cNvPr id="7" name="Picture 6">
            <a:extLst>
              <a:ext uri="{FF2B5EF4-FFF2-40B4-BE49-F238E27FC236}">
                <a16:creationId xmlns:a16="http://schemas.microsoft.com/office/drawing/2014/main" id="{7BCE2CF5-0E48-CABE-E10F-F4D58D5D022D}"/>
              </a:ext>
            </a:extLst>
          </p:cNvPr>
          <p:cNvPicPr>
            <a:picLocks noChangeAspect="1"/>
          </p:cNvPicPr>
          <p:nvPr/>
        </p:nvPicPr>
        <p:blipFill>
          <a:blip r:embed="rId2"/>
          <a:stretch>
            <a:fillRect/>
          </a:stretch>
        </p:blipFill>
        <p:spPr>
          <a:xfrm>
            <a:off x="1268786" y="1888471"/>
            <a:ext cx="15128503" cy="7535396"/>
          </a:xfrm>
          <a:prstGeom prst="rect">
            <a:avLst/>
          </a:prstGeom>
        </p:spPr>
      </p:pic>
      <p:sp>
        <p:nvSpPr>
          <p:cNvPr id="13" name="Rectangle 25">
            <a:extLst>
              <a:ext uri="{FF2B5EF4-FFF2-40B4-BE49-F238E27FC236}">
                <a16:creationId xmlns:a16="http://schemas.microsoft.com/office/drawing/2014/main" id="{2EAAD177-2B49-D3CB-1228-95206CB43404}"/>
              </a:ext>
            </a:extLst>
          </p:cNvPr>
          <p:cNvSpPr/>
          <p:nvPr/>
        </p:nvSpPr>
        <p:spPr>
          <a:xfrm>
            <a:off x="4567449" y="9432360"/>
            <a:ext cx="9379215" cy="875508"/>
          </a:xfrm>
          <a:prstGeom prst="roundRect">
            <a:avLst/>
          </a:prstGeom>
          <a:solidFill>
            <a:srgbClr val="E5E5E5"/>
          </a:solidFill>
          <a:ln w="6350">
            <a:solidFill>
              <a:srgbClr val="E5E5E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endParaRPr lang="en-US" sz="2600">
              <a:solidFill>
                <a:schemeClr val="tx1"/>
              </a:solidFill>
              <a:latin typeface="Poppins"/>
              <a:ea typeface="Calibri"/>
              <a:cs typeface="Segoe UI"/>
            </a:endParaRPr>
          </a:p>
        </p:txBody>
      </p:sp>
      <p:sp>
        <p:nvSpPr>
          <p:cNvPr id="15" name="TextBox 14">
            <a:extLst>
              <a:ext uri="{FF2B5EF4-FFF2-40B4-BE49-F238E27FC236}">
                <a16:creationId xmlns:a16="http://schemas.microsoft.com/office/drawing/2014/main" id="{A2E496BA-E588-3EA7-FB4A-4D3C1E9C1D78}"/>
              </a:ext>
            </a:extLst>
          </p:cNvPr>
          <p:cNvSpPr txBox="1"/>
          <p:nvPr/>
        </p:nvSpPr>
        <p:spPr>
          <a:xfrm>
            <a:off x="5421194" y="9604285"/>
            <a:ext cx="831286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Poppins"/>
                <a:cs typeface="Poppins"/>
              </a:rPr>
              <a:t>Fig 19. </a:t>
            </a:r>
            <a:r>
              <a:rPr lang="en-US" sz="2000" dirty="0">
                <a:latin typeface="Poppins"/>
                <a:cs typeface="Poppins"/>
              </a:rPr>
              <a:t>Stage 2: </a:t>
            </a:r>
            <a:r>
              <a:rPr lang="en-US" sz="2000" dirty="0">
                <a:latin typeface="Poppins"/>
                <a:ea typeface="+mn-lt"/>
                <a:cs typeface="Poppins"/>
              </a:rPr>
              <a:t>Actual Hardware implementation of MCF Filter</a:t>
            </a:r>
          </a:p>
        </p:txBody>
      </p:sp>
      <p:sp>
        <p:nvSpPr>
          <p:cNvPr id="19" name="TextBox 18">
            <a:extLst>
              <a:ext uri="{FF2B5EF4-FFF2-40B4-BE49-F238E27FC236}">
                <a16:creationId xmlns:a16="http://schemas.microsoft.com/office/drawing/2014/main" id="{2D48D6F7-FC74-E588-1A6C-392BDD32EFD9}"/>
              </a:ext>
            </a:extLst>
          </p:cNvPr>
          <p:cNvSpPr txBox="1"/>
          <p:nvPr/>
        </p:nvSpPr>
        <p:spPr>
          <a:xfrm>
            <a:off x="3779696" y="179225"/>
            <a:ext cx="1013953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solidFill>
                  <a:schemeClr val="bg1"/>
                </a:solidFill>
                <a:ea typeface="Calibri"/>
                <a:cs typeface="Calibri"/>
              </a:rPr>
              <a:t>Stage 2: Compensation FIR Filter</a:t>
            </a:r>
            <a:endParaRPr lang="en-US">
              <a:solidFill>
                <a:schemeClr val="bg1"/>
              </a:solidFill>
            </a:endParaRPr>
          </a:p>
        </p:txBody>
      </p:sp>
    </p:spTree>
    <p:extLst>
      <p:ext uri="{BB962C8B-B14F-4D97-AF65-F5344CB8AC3E}">
        <p14:creationId xmlns:p14="http://schemas.microsoft.com/office/powerpoint/2010/main" val="28926392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3">
            <a:extLst>
              <a:ext uri="{FF2B5EF4-FFF2-40B4-BE49-F238E27FC236}">
                <a16:creationId xmlns:a16="http://schemas.microsoft.com/office/drawing/2014/main" id="{F9A2920F-8B7B-957C-0002-681D5335FE5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508098" y="145956"/>
            <a:ext cx="5243233" cy="1456204"/>
          </a:xfrm>
          <a:prstGeom prst="rect">
            <a:avLst/>
          </a:prstGeom>
        </p:spPr>
      </p:pic>
      <p:sp>
        <p:nvSpPr>
          <p:cNvPr id="7" name="TextBox 6">
            <a:extLst>
              <a:ext uri="{FF2B5EF4-FFF2-40B4-BE49-F238E27FC236}">
                <a16:creationId xmlns:a16="http://schemas.microsoft.com/office/drawing/2014/main" id="{BC84774F-DA15-1061-A86C-82453774EDB1}"/>
              </a:ext>
            </a:extLst>
          </p:cNvPr>
          <p:cNvSpPr txBox="1"/>
          <p:nvPr/>
        </p:nvSpPr>
        <p:spPr>
          <a:xfrm>
            <a:off x="695668" y="1670580"/>
            <a:ext cx="1132039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baseline="0">
                <a:latin typeface="Calibri"/>
                <a:ea typeface="Segoe UI"/>
                <a:cs typeface="Segoe UI"/>
              </a:rPr>
              <a:t>Transfer fn</a:t>
            </a:r>
            <a:r>
              <a:rPr lang="en-US" sz="2800">
                <a:latin typeface="Calibri"/>
                <a:ea typeface="Segoe UI"/>
                <a:cs typeface="Segoe UI"/>
              </a:rPr>
              <a:t>: Nearly inverse of H(z). </a:t>
            </a:r>
          </a:p>
        </p:txBody>
      </p:sp>
      <p:sp>
        <p:nvSpPr>
          <p:cNvPr id="8" name="TextBox 7">
            <a:extLst>
              <a:ext uri="{FF2B5EF4-FFF2-40B4-BE49-F238E27FC236}">
                <a16:creationId xmlns:a16="http://schemas.microsoft.com/office/drawing/2014/main" id="{5DF40CB5-7859-D17A-F0BB-D05CCF36DB46}"/>
              </a:ext>
            </a:extLst>
          </p:cNvPr>
          <p:cNvSpPr txBox="1"/>
          <p:nvPr/>
        </p:nvSpPr>
        <p:spPr>
          <a:xfrm>
            <a:off x="700006" y="390941"/>
            <a:ext cx="12320867"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Filters with constant coefficients (FIR/CIC)</a:t>
            </a:r>
            <a:r>
              <a:rPr lang="en-US" sz="2800"/>
              <a:t> are linear since their output is:</a:t>
            </a:r>
            <a:endParaRPr lang="en-US" sz="2800">
              <a:ea typeface="Calibri"/>
              <a:cs typeface="Calibri"/>
            </a:endParaRPr>
          </a:p>
          <a:p>
            <a:pPr algn="ctr"/>
            <a:endParaRPr lang="en-US" sz="2800">
              <a:ea typeface="Calibri"/>
              <a:cs typeface="Calibri"/>
            </a:endParaRPr>
          </a:p>
        </p:txBody>
      </p:sp>
      <p:pic>
        <p:nvPicPr>
          <p:cNvPr id="3" name="Picture 2">
            <a:extLst>
              <a:ext uri="{FF2B5EF4-FFF2-40B4-BE49-F238E27FC236}">
                <a16:creationId xmlns:a16="http://schemas.microsoft.com/office/drawing/2014/main" id="{D5F89CE1-CD39-E9BF-B8CB-F4859FCF3686}"/>
              </a:ext>
            </a:extLst>
          </p:cNvPr>
          <p:cNvPicPr>
            <a:picLocks noChangeAspect="1"/>
          </p:cNvPicPr>
          <p:nvPr/>
        </p:nvPicPr>
        <p:blipFill>
          <a:blip r:embed="rId4"/>
          <a:srcRect r="546" b="897"/>
          <a:stretch>
            <a:fillRect/>
          </a:stretch>
        </p:blipFill>
        <p:spPr>
          <a:xfrm>
            <a:off x="1429177" y="2206078"/>
            <a:ext cx="15406099" cy="7501403"/>
          </a:xfrm>
          <a:prstGeom prst="rect">
            <a:avLst/>
          </a:prstGeom>
        </p:spPr>
      </p:pic>
    </p:spTree>
    <p:extLst>
      <p:ext uri="{BB962C8B-B14F-4D97-AF65-F5344CB8AC3E}">
        <p14:creationId xmlns:p14="http://schemas.microsoft.com/office/powerpoint/2010/main" val="42079781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60104-FAE6-B126-1C53-4285D70F153B}"/>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7CB417C1-7C1E-01B0-3B49-674D36F4B39C}"/>
              </a:ext>
            </a:extLst>
          </p:cNvPr>
          <p:cNvSpPr/>
          <p:nvPr/>
        </p:nvSpPr>
        <p:spPr>
          <a:xfrm>
            <a:off x="1581407" y="-261386"/>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4" name="TextBox 4">
            <a:extLst>
              <a:ext uri="{FF2B5EF4-FFF2-40B4-BE49-F238E27FC236}">
                <a16:creationId xmlns:a16="http://schemas.microsoft.com/office/drawing/2014/main" id="{E40EAD28-F107-51FE-6656-B8CE614E09D0}"/>
              </a:ext>
            </a:extLst>
          </p:cNvPr>
          <p:cNvSpPr txBox="1"/>
          <p:nvPr/>
        </p:nvSpPr>
        <p:spPr>
          <a:xfrm>
            <a:off x="1252675" y="7721643"/>
            <a:ext cx="1669427" cy="322287"/>
          </a:xfrm>
          <a:prstGeom prst="rect">
            <a:avLst/>
          </a:prstGeom>
        </p:spPr>
        <p:txBody>
          <a:bodyPr lIns="0" tIns="0" rIns="0" bIns="0" rtlCol="0" anchor="t">
            <a:spAutoFit/>
          </a:bodyPr>
          <a:lstStyle/>
          <a:p>
            <a:pPr algn="l">
              <a:lnSpc>
                <a:spcPts val="2576"/>
              </a:lnSpc>
            </a:pPr>
            <a:r>
              <a:rPr lang="en-US" sz="1840" b="1">
                <a:solidFill>
                  <a:srgbClr val="FFFFFF"/>
                </a:solidFill>
                <a:latin typeface="Poppins Bold"/>
                <a:ea typeface="Poppins Bold"/>
                <a:cs typeface="Poppins Bold"/>
                <a:sym typeface="Poppins Bold"/>
              </a:rPr>
              <a:t>1.6 Billion</a:t>
            </a:r>
          </a:p>
        </p:txBody>
      </p:sp>
      <p:sp>
        <p:nvSpPr>
          <p:cNvPr id="5" name="TextBox 5">
            <a:extLst>
              <a:ext uri="{FF2B5EF4-FFF2-40B4-BE49-F238E27FC236}">
                <a16:creationId xmlns:a16="http://schemas.microsoft.com/office/drawing/2014/main" id="{F56980DC-7E29-2366-2860-FA55C7B8F232}"/>
              </a:ext>
            </a:extLst>
          </p:cNvPr>
          <p:cNvSpPr txBox="1"/>
          <p:nvPr/>
        </p:nvSpPr>
        <p:spPr>
          <a:xfrm>
            <a:off x="1252675" y="8075088"/>
            <a:ext cx="1669427" cy="148590"/>
          </a:xfrm>
          <a:prstGeom prst="rect">
            <a:avLst/>
          </a:prstGeom>
        </p:spPr>
        <p:txBody>
          <a:bodyPr lIns="0" tIns="0" rIns="0" bIns="0" rtlCol="0" anchor="t">
            <a:spAutoFit/>
          </a:bodyPr>
          <a:lstStyle/>
          <a:p>
            <a:pPr algn="l">
              <a:lnSpc>
                <a:spcPts val="1259"/>
              </a:lnSpc>
            </a:pPr>
            <a:r>
              <a:rPr lang="en-US" sz="899" b="1">
                <a:solidFill>
                  <a:srgbClr val="FFFFFF"/>
                </a:solidFill>
                <a:latin typeface="Poppins Bold"/>
                <a:ea typeface="Poppins Bold"/>
                <a:cs typeface="Poppins Bold"/>
                <a:sym typeface="Poppins Bold"/>
              </a:rPr>
              <a:t>Total Available Market </a:t>
            </a:r>
          </a:p>
        </p:txBody>
      </p:sp>
      <p:sp>
        <p:nvSpPr>
          <p:cNvPr id="6" name="TextBox 6">
            <a:extLst>
              <a:ext uri="{FF2B5EF4-FFF2-40B4-BE49-F238E27FC236}">
                <a16:creationId xmlns:a16="http://schemas.microsoft.com/office/drawing/2014/main" id="{2C86F424-8C4C-3F72-0770-DB385E4610D7}"/>
              </a:ext>
            </a:extLst>
          </p:cNvPr>
          <p:cNvSpPr txBox="1"/>
          <p:nvPr/>
        </p:nvSpPr>
        <p:spPr>
          <a:xfrm>
            <a:off x="1252675" y="7408345"/>
            <a:ext cx="77137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TAM</a:t>
            </a:r>
          </a:p>
        </p:txBody>
      </p:sp>
      <p:sp>
        <p:nvSpPr>
          <p:cNvPr id="8" name="TextBox 8">
            <a:extLst>
              <a:ext uri="{FF2B5EF4-FFF2-40B4-BE49-F238E27FC236}">
                <a16:creationId xmlns:a16="http://schemas.microsoft.com/office/drawing/2014/main" id="{FE72820E-EC0D-5262-5603-AFFF997208BC}"/>
              </a:ext>
            </a:extLst>
          </p:cNvPr>
          <p:cNvSpPr txBox="1"/>
          <p:nvPr/>
        </p:nvSpPr>
        <p:spPr>
          <a:xfrm>
            <a:off x="3764298" y="8096835"/>
            <a:ext cx="2095788" cy="148590"/>
          </a:xfrm>
          <a:prstGeom prst="rect">
            <a:avLst/>
          </a:prstGeom>
        </p:spPr>
        <p:txBody>
          <a:bodyPr lIns="0" tIns="0" rIns="0" bIns="0" rtlCol="0" anchor="t">
            <a:spAutoFit/>
          </a:bodyPr>
          <a:lstStyle/>
          <a:p>
            <a:pPr algn="l">
              <a:lnSpc>
                <a:spcPts val="1260"/>
              </a:lnSpc>
            </a:pPr>
            <a:r>
              <a:rPr lang="en-US" sz="900" b="1">
                <a:solidFill>
                  <a:srgbClr val="FFFFFF"/>
                </a:solidFill>
                <a:latin typeface="Poppins Bold"/>
                <a:ea typeface="Poppins Bold"/>
                <a:cs typeface="Poppins Bold"/>
                <a:sym typeface="Poppins Bold"/>
              </a:rPr>
              <a:t>Serviceable Available Market </a:t>
            </a:r>
          </a:p>
        </p:txBody>
      </p:sp>
      <p:sp>
        <p:nvSpPr>
          <p:cNvPr id="9" name="TextBox 9">
            <a:extLst>
              <a:ext uri="{FF2B5EF4-FFF2-40B4-BE49-F238E27FC236}">
                <a16:creationId xmlns:a16="http://schemas.microsoft.com/office/drawing/2014/main" id="{D97B82E1-58CB-A763-EB94-81D93E976400}"/>
              </a:ext>
            </a:extLst>
          </p:cNvPr>
          <p:cNvSpPr txBox="1"/>
          <p:nvPr/>
        </p:nvSpPr>
        <p:spPr>
          <a:xfrm>
            <a:off x="3764298" y="7408345"/>
            <a:ext cx="69398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SAM</a:t>
            </a:r>
          </a:p>
        </p:txBody>
      </p:sp>
      <p:sp>
        <p:nvSpPr>
          <p:cNvPr id="10" name="TextBox 10">
            <a:extLst>
              <a:ext uri="{FF2B5EF4-FFF2-40B4-BE49-F238E27FC236}">
                <a16:creationId xmlns:a16="http://schemas.microsoft.com/office/drawing/2014/main" id="{BF4CFEF9-4068-BB11-06A3-2B4AEB91E87E}"/>
              </a:ext>
            </a:extLst>
          </p:cNvPr>
          <p:cNvSpPr txBox="1"/>
          <p:nvPr/>
        </p:nvSpPr>
        <p:spPr>
          <a:xfrm>
            <a:off x="6275921" y="7721643"/>
            <a:ext cx="1666072" cy="322287"/>
          </a:xfrm>
          <a:prstGeom prst="rect">
            <a:avLst/>
          </a:prstGeom>
        </p:spPr>
        <p:txBody>
          <a:bodyPr lIns="0" tIns="0" rIns="0" bIns="0" rtlCol="0" anchor="t">
            <a:spAutoFit/>
          </a:bodyPr>
          <a:lstStyle/>
          <a:p>
            <a:pPr algn="l">
              <a:lnSpc>
                <a:spcPts val="2576"/>
              </a:lnSpc>
            </a:pPr>
            <a:r>
              <a:rPr lang="en-US" sz="1840" b="1">
                <a:solidFill>
                  <a:srgbClr val="FFFFFF"/>
                </a:solidFill>
                <a:latin typeface="Poppins Bold"/>
                <a:ea typeface="Poppins Bold"/>
                <a:cs typeface="Poppins Bold"/>
                <a:sym typeface="Poppins Bold"/>
              </a:rPr>
              <a:t>181 Million</a:t>
            </a:r>
          </a:p>
        </p:txBody>
      </p:sp>
      <p:sp>
        <p:nvSpPr>
          <p:cNvPr id="11" name="TextBox 11">
            <a:extLst>
              <a:ext uri="{FF2B5EF4-FFF2-40B4-BE49-F238E27FC236}">
                <a16:creationId xmlns:a16="http://schemas.microsoft.com/office/drawing/2014/main" id="{AF2CA985-B65C-EE5E-4E0E-CD6D7D86D90B}"/>
              </a:ext>
            </a:extLst>
          </p:cNvPr>
          <p:cNvSpPr txBox="1"/>
          <p:nvPr/>
        </p:nvSpPr>
        <p:spPr>
          <a:xfrm>
            <a:off x="6275921" y="8096835"/>
            <a:ext cx="2027367" cy="148590"/>
          </a:xfrm>
          <a:prstGeom prst="rect">
            <a:avLst/>
          </a:prstGeom>
        </p:spPr>
        <p:txBody>
          <a:bodyPr lIns="0" tIns="0" rIns="0" bIns="0" rtlCol="0" anchor="t">
            <a:spAutoFit/>
          </a:bodyPr>
          <a:lstStyle/>
          <a:p>
            <a:pPr algn="l">
              <a:lnSpc>
                <a:spcPts val="1260"/>
              </a:lnSpc>
            </a:pPr>
            <a:r>
              <a:rPr lang="en-US" sz="900" b="1">
                <a:solidFill>
                  <a:srgbClr val="FFFFFF"/>
                </a:solidFill>
                <a:latin typeface="Poppins Bold"/>
                <a:ea typeface="Poppins Bold"/>
                <a:cs typeface="Poppins Bold"/>
                <a:sym typeface="Poppins Bold"/>
              </a:rPr>
              <a:t>Serviceable Obtainable Market </a:t>
            </a:r>
          </a:p>
        </p:txBody>
      </p:sp>
      <p:sp>
        <p:nvSpPr>
          <p:cNvPr id="12" name="TextBox 12">
            <a:extLst>
              <a:ext uri="{FF2B5EF4-FFF2-40B4-BE49-F238E27FC236}">
                <a16:creationId xmlns:a16="http://schemas.microsoft.com/office/drawing/2014/main" id="{FB170832-85D9-3463-D561-D26C91E826C0}"/>
              </a:ext>
            </a:extLst>
          </p:cNvPr>
          <p:cNvSpPr txBox="1"/>
          <p:nvPr/>
        </p:nvSpPr>
        <p:spPr>
          <a:xfrm>
            <a:off x="6275921" y="7408345"/>
            <a:ext cx="70740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SOM</a:t>
            </a:r>
          </a:p>
        </p:txBody>
      </p:sp>
      <p:sp>
        <p:nvSpPr>
          <p:cNvPr id="29" name="AutoShape 29">
            <a:extLst>
              <a:ext uri="{FF2B5EF4-FFF2-40B4-BE49-F238E27FC236}">
                <a16:creationId xmlns:a16="http://schemas.microsoft.com/office/drawing/2014/main" id="{FE754E20-C932-CD14-D1AA-A6A1721A6276}"/>
              </a:ext>
            </a:extLst>
          </p:cNvPr>
          <p:cNvSpPr/>
          <p:nvPr/>
        </p:nvSpPr>
        <p:spPr>
          <a:xfrm rot="5400000">
            <a:off x="3008122" y="7812274"/>
            <a:ext cx="659629" cy="0"/>
          </a:xfrm>
          <a:prstGeom prst="line">
            <a:avLst/>
          </a:prstGeom>
          <a:ln w="19050" cap="rnd">
            <a:solidFill>
              <a:srgbClr val="FFFFFF"/>
            </a:solidFill>
            <a:prstDash val="solid"/>
            <a:headEnd type="none" w="sm" len="sm"/>
            <a:tailEnd type="none" w="sm" len="sm"/>
          </a:ln>
        </p:spPr>
        <p:txBody>
          <a:bodyPr/>
          <a:lstStyle/>
          <a:p>
            <a:endParaRPr lang="en-IN"/>
          </a:p>
        </p:txBody>
      </p:sp>
      <p:sp>
        <p:nvSpPr>
          <p:cNvPr id="2" name="TextBox 1">
            <a:extLst>
              <a:ext uri="{FF2B5EF4-FFF2-40B4-BE49-F238E27FC236}">
                <a16:creationId xmlns:a16="http://schemas.microsoft.com/office/drawing/2014/main" id="{E7EC41AA-70BE-F3BA-DB7D-7E495A60D3B3}"/>
              </a:ext>
            </a:extLst>
          </p:cNvPr>
          <p:cNvSpPr txBox="1"/>
          <p:nvPr/>
        </p:nvSpPr>
        <p:spPr>
          <a:xfrm>
            <a:off x="2802124" y="267697"/>
            <a:ext cx="12692132"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solidFill>
                  <a:schemeClr val="bg1"/>
                </a:solidFill>
                <a:latin typeface="Calibri"/>
              </a:rPr>
              <a:t>Stage 2: </a:t>
            </a:r>
            <a:r>
              <a:rPr lang="en-US" sz="5400">
                <a:solidFill>
                  <a:schemeClr val="bg1"/>
                </a:solidFill>
                <a:ea typeface="+mn-lt"/>
                <a:cs typeface="+mn-lt"/>
              </a:rPr>
              <a:t>Compensation FIR Filter</a:t>
            </a:r>
          </a:p>
          <a:p>
            <a:endParaRPr lang="en-US" sz="5400" dirty="0">
              <a:solidFill>
                <a:schemeClr val="bg1"/>
              </a:solidFill>
              <a:ea typeface="Calibri"/>
              <a:cs typeface="Calibri"/>
            </a:endParaRPr>
          </a:p>
          <a:p>
            <a:pPr algn="ctr"/>
            <a:endParaRPr lang="en-US"/>
          </a:p>
        </p:txBody>
      </p:sp>
      <p:pic>
        <p:nvPicPr>
          <p:cNvPr id="3" name="Picture 2" descr="A diagram of a computer system&#10;&#10;AI-generated content may be incorrect.">
            <a:extLst>
              <a:ext uri="{FF2B5EF4-FFF2-40B4-BE49-F238E27FC236}">
                <a16:creationId xmlns:a16="http://schemas.microsoft.com/office/drawing/2014/main" id="{19B62CFD-2C94-E44A-CF9D-978953992663}"/>
              </a:ext>
            </a:extLst>
          </p:cNvPr>
          <p:cNvPicPr>
            <a:picLocks noChangeAspect="1"/>
          </p:cNvPicPr>
          <p:nvPr/>
        </p:nvPicPr>
        <p:blipFill>
          <a:blip r:embed="rId2"/>
          <a:stretch>
            <a:fillRect/>
          </a:stretch>
        </p:blipFill>
        <p:spPr>
          <a:xfrm>
            <a:off x="2676887" y="1472163"/>
            <a:ext cx="12949432" cy="8093249"/>
          </a:xfrm>
          <a:prstGeom prst="rect">
            <a:avLst/>
          </a:prstGeom>
        </p:spPr>
      </p:pic>
      <p:sp>
        <p:nvSpPr>
          <p:cNvPr id="7" name="TextBox 6">
            <a:extLst>
              <a:ext uri="{FF2B5EF4-FFF2-40B4-BE49-F238E27FC236}">
                <a16:creationId xmlns:a16="http://schemas.microsoft.com/office/drawing/2014/main" id="{3A6E9F64-DF25-5616-41D9-17B7E5EB6711}"/>
              </a:ext>
            </a:extLst>
          </p:cNvPr>
          <p:cNvSpPr txBox="1"/>
          <p:nvPr/>
        </p:nvSpPr>
        <p:spPr>
          <a:xfrm>
            <a:off x="2805499" y="9704690"/>
            <a:ext cx="921505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200">
                <a:ea typeface="Calibri"/>
                <a:cs typeface="Calibri"/>
              </a:rPr>
              <a:t>Fully Serial FIR structure Implementation</a:t>
            </a:r>
            <a:endParaRPr lang="en-US"/>
          </a:p>
        </p:txBody>
      </p:sp>
    </p:spTree>
    <p:extLst>
      <p:ext uri="{BB962C8B-B14F-4D97-AF65-F5344CB8AC3E}">
        <p14:creationId xmlns:p14="http://schemas.microsoft.com/office/powerpoint/2010/main" val="25110759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258A19-C6C3-AC85-378C-83235B292628}"/>
              </a:ext>
            </a:extLst>
          </p:cNvPr>
          <p:cNvSpPr txBox="1"/>
          <p:nvPr/>
        </p:nvSpPr>
        <p:spPr>
          <a:xfrm>
            <a:off x="187891" y="-287994"/>
            <a:ext cx="9144000" cy="98796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3200">
              <a:solidFill>
                <a:srgbClr val="222222"/>
              </a:solidFill>
              <a:latin typeface="Arial"/>
              <a:ea typeface="Calibri"/>
              <a:cs typeface="Arial"/>
            </a:endParaRPr>
          </a:p>
          <a:p>
            <a:pPr marL="228600" indent="-228600">
              <a:buFont typeface=""/>
              <a:buChar char="•"/>
            </a:pPr>
            <a:r>
              <a:rPr lang="en-US" sz="3200">
                <a:solidFill>
                  <a:srgbClr val="222222"/>
                </a:solidFill>
                <a:latin typeface="Calibri"/>
                <a:ea typeface="Calibri"/>
                <a:cs typeface="Calibri"/>
              </a:rPr>
              <a:t>classic </a:t>
            </a:r>
            <a:r>
              <a:rPr lang="en-US" sz="3200" b="1">
                <a:solidFill>
                  <a:srgbClr val="222222"/>
                </a:solidFill>
                <a:latin typeface="Calibri"/>
                <a:ea typeface="Calibri"/>
                <a:cs typeface="Calibri"/>
              </a:rPr>
              <a:t>filter–then–decimate</a:t>
            </a:r>
            <a:r>
              <a:rPr lang="en-US" sz="3200">
                <a:solidFill>
                  <a:srgbClr val="222222"/>
                </a:solidFill>
                <a:latin typeface="Calibri"/>
                <a:ea typeface="Calibri"/>
                <a:cs typeface="Calibri"/>
              </a:rPr>
              <a:t> structure: performs </a:t>
            </a:r>
            <a:r>
              <a:rPr lang="en-US" sz="3200" b="1">
                <a:solidFill>
                  <a:srgbClr val="222222"/>
                </a:solidFill>
                <a:latin typeface="Calibri"/>
                <a:ea typeface="Calibri"/>
                <a:cs typeface="Calibri"/>
              </a:rPr>
              <a:t>many unnecessary multiplications</a:t>
            </a:r>
            <a:r>
              <a:rPr lang="en-US" sz="3200">
                <a:solidFill>
                  <a:srgbClr val="222222"/>
                </a:solidFill>
                <a:latin typeface="Calibri"/>
                <a:ea typeface="Calibri"/>
                <a:cs typeface="Calibri"/>
              </a:rPr>
              <a:t>, because after filtering we discard M−1 out of every M output samples.</a:t>
            </a:r>
          </a:p>
          <a:p>
            <a:pPr marL="228600" indent="-228600">
              <a:buFont typeface=""/>
              <a:buChar char="•"/>
            </a:pPr>
            <a:r>
              <a:rPr lang="en-US" sz="3200">
                <a:solidFill>
                  <a:srgbClr val="222222"/>
                </a:solidFill>
                <a:latin typeface="Calibri"/>
                <a:ea typeface="Calibri"/>
                <a:cs typeface="Calibri"/>
              </a:rPr>
              <a:t>Why Polyphase Helps: you only need </a:t>
            </a:r>
            <a:r>
              <a:rPr lang="en-US" sz="3200" b="1">
                <a:solidFill>
                  <a:srgbClr val="222222"/>
                </a:solidFill>
                <a:latin typeface="Calibri"/>
                <a:ea typeface="Calibri"/>
                <a:cs typeface="Calibri"/>
              </a:rPr>
              <a:t>one out of the M phases</a:t>
            </a:r>
            <a:r>
              <a:rPr lang="en-US" sz="3200">
                <a:solidFill>
                  <a:srgbClr val="222222"/>
                </a:solidFill>
                <a:latin typeface="Calibri"/>
                <a:ea typeface="Calibri"/>
                <a:cs typeface="Calibri"/>
              </a:rPr>
              <a:t> of the convolution sum. So </a:t>
            </a:r>
            <a:r>
              <a:rPr lang="en-US" sz="3200" b="1">
                <a:solidFill>
                  <a:srgbClr val="222222"/>
                </a:solidFill>
                <a:latin typeface="Calibri"/>
                <a:ea typeface="Calibri"/>
                <a:cs typeface="Calibri"/>
              </a:rPr>
              <a:t>polyphase lets you isolate exactly the computations needed for each output sample</a:t>
            </a:r>
            <a:r>
              <a:rPr lang="en-US" sz="3200">
                <a:solidFill>
                  <a:srgbClr val="222222"/>
                </a:solidFill>
                <a:latin typeface="Calibri"/>
                <a:ea typeface="Calibri"/>
                <a:cs typeface="Calibri"/>
              </a:rPr>
              <a:t>.</a:t>
            </a:r>
          </a:p>
          <a:p>
            <a:pPr marL="285750" indent="-285750">
              <a:buFont typeface="Arial"/>
              <a:buChar char="•"/>
            </a:pPr>
            <a:endParaRPr lang="en-US" sz="3200">
              <a:solidFill>
                <a:srgbClr val="222222"/>
              </a:solidFill>
              <a:latin typeface="Calibri"/>
              <a:ea typeface="Calibri"/>
              <a:cs typeface="Calibri"/>
            </a:endParaRPr>
          </a:p>
          <a:p>
            <a:pPr marL="228600" indent="-228600">
              <a:buFont typeface="Arial"/>
              <a:buChar char="•"/>
            </a:pPr>
            <a:r>
              <a:rPr lang="en-US" sz="3200">
                <a:solidFill>
                  <a:srgbClr val="222222"/>
                </a:solidFill>
                <a:latin typeface="Arial"/>
                <a:ea typeface="Calibri"/>
                <a:cs typeface="Arial"/>
              </a:rPr>
              <a:t>Compared with FIR filter, IIR filter is simpler in calculation and smaller in area. However, the IIR filterhas a nonlinear phase, so the additional phasecompensator is required </a:t>
            </a:r>
            <a:endParaRPr lang="en-US" sz="3200">
              <a:solidFill>
                <a:srgbClr val="000000"/>
              </a:solidFill>
              <a:latin typeface="Arial"/>
              <a:ea typeface="Calibri"/>
              <a:cs typeface="Arial"/>
            </a:endParaRPr>
          </a:p>
          <a:p>
            <a:pPr marL="228600" indent="-228600">
              <a:buFont typeface="Arial"/>
              <a:buChar char="•"/>
            </a:pPr>
            <a:r>
              <a:rPr lang="en-US" sz="3200">
                <a:solidFill>
                  <a:srgbClr val="222222"/>
                </a:solidFill>
                <a:ea typeface="+mn-lt"/>
                <a:cs typeface="+mn-lt"/>
              </a:rPr>
              <a:t>Q-format is the industry standard, and is used by us for implementing fixed-point arithmetic.</a:t>
            </a:r>
          </a:p>
          <a:p>
            <a:pPr marL="285750" indent="-285750" algn="ctr">
              <a:buFont typeface="Arial"/>
              <a:buChar char="•"/>
            </a:pPr>
            <a:endParaRPr lang="en-US" sz="6000">
              <a:solidFill>
                <a:srgbClr val="000000"/>
              </a:solidFill>
              <a:latin typeface="Calibri"/>
              <a:ea typeface="Calibri"/>
              <a:cs typeface="Calibri"/>
            </a:endParaRPr>
          </a:p>
          <a:p>
            <a:pPr marL="228600" indent="-228600">
              <a:buFont typeface=""/>
              <a:buChar char="•"/>
            </a:pPr>
            <a:endParaRPr lang="en-US" sz="3200">
              <a:solidFill>
                <a:srgbClr val="222222"/>
              </a:solidFill>
              <a:latin typeface="Calibri"/>
              <a:ea typeface="Calibri"/>
              <a:cs typeface="Calibri"/>
            </a:endParaRPr>
          </a:p>
          <a:p>
            <a:pPr marL="228600" indent="-228600">
              <a:buFont typeface=""/>
              <a:buChar char="•"/>
            </a:pPr>
            <a:endParaRPr lang="en-US" sz="3200">
              <a:solidFill>
                <a:srgbClr val="222222"/>
              </a:solidFill>
              <a:latin typeface="Arial"/>
              <a:ea typeface="Arial"/>
              <a:cs typeface="Arial"/>
            </a:endParaRPr>
          </a:p>
        </p:txBody>
      </p:sp>
      <p:sp>
        <p:nvSpPr>
          <p:cNvPr id="3" name="TextBox 2">
            <a:extLst>
              <a:ext uri="{FF2B5EF4-FFF2-40B4-BE49-F238E27FC236}">
                <a16:creationId xmlns:a16="http://schemas.microsoft.com/office/drawing/2014/main" id="{7CDF636E-9999-5489-7EB3-6C51ECACD785}"/>
              </a:ext>
            </a:extLst>
          </p:cNvPr>
          <p:cNvSpPr txBox="1"/>
          <p:nvPr/>
        </p:nvSpPr>
        <p:spPr>
          <a:xfrm>
            <a:off x="9144000" y="164403"/>
            <a:ext cx="9144000" cy="104336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200">
                <a:ea typeface="+mn-lt"/>
                <a:cs typeface="+mn-lt"/>
              </a:rPr>
              <a:t>The FIR filter is designed based on Parks-McClellan interlaced point algorithm and Remez algorithm to obtain the filter coefficients that meet the error accuracy.</a:t>
            </a:r>
          </a:p>
          <a:p>
            <a:pPr marL="457200" indent="-457200">
              <a:buFont typeface="Arial"/>
              <a:buChar char="•"/>
            </a:pPr>
            <a:r>
              <a:rPr lang="en-US" sz="3200">
                <a:ea typeface="Calibri"/>
                <a:cs typeface="Calibri"/>
              </a:rPr>
              <a:t>This is a weighted sum → </a:t>
            </a:r>
            <a:r>
              <a:rPr lang="en-US" sz="3200" b="1">
                <a:ea typeface="Calibri"/>
                <a:cs typeface="Calibri"/>
              </a:rPr>
              <a:t>linear combination</a:t>
            </a:r>
            <a:r>
              <a:rPr lang="en-US" sz="3200">
                <a:ea typeface="Calibri"/>
                <a:cs typeface="Calibri"/>
              </a:rPr>
              <a:t>.</a:t>
            </a:r>
            <a:br>
              <a:rPr lang="en-US" sz="3200">
                <a:ea typeface="Calibri"/>
                <a:cs typeface="Calibri"/>
              </a:rPr>
            </a:br>
            <a:r>
              <a:rPr lang="en-US" sz="3200">
                <a:ea typeface="Calibri"/>
                <a:cs typeface="Calibri"/>
              </a:rPr>
              <a:t>There are </a:t>
            </a:r>
            <a:r>
              <a:rPr lang="en-US" sz="3200" i="1">
                <a:ea typeface="Calibri"/>
                <a:cs typeface="Calibri"/>
              </a:rPr>
              <a:t>no operations like</a:t>
            </a:r>
            <a:r>
              <a:rPr lang="en-US" sz="3200">
                <a:ea typeface="Calibri"/>
                <a:cs typeface="Calibri"/>
              </a:rPr>
              <a:t> squaring, clipping, multiplication of signals, adaptive coefficients, etc.</a:t>
            </a:r>
          </a:p>
          <a:p>
            <a:pPr marL="285750" indent="-285750">
              <a:buFont typeface="Arial"/>
              <a:buChar char="•"/>
            </a:pPr>
            <a:r>
              <a:rPr lang="en-US" sz="2800">
                <a:latin typeface="Arial"/>
                <a:ea typeface="Calibri"/>
                <a:cs typeface="Arial"/>
              </a:rPr>
              <a:t>The structure is compared in terms of </a:t>
            </a:r>
            <a:r>
              <a:rPr lang="en-US" sz="2800" b="1">
                <a:latin typeface="Arial"/>
                <a:ea typeface="Calibri"/>
                <a:cs typeface="Arial"/>
              </a:rPr>
              <a:t>implementation difficulty</a:t>
            </a:r>
            <a:r>
              <a:rPr lang="en-US" sz="2800">
                <a:latin typeface="Arial"/>
                <a:ea typeface="Calibri"/>
                <a:cs typeface="Arial"/>
              </a:rPr>
              <a:t>,</a:t>
            </a:r>
            <a:r>
              <a:rPr lang="en-US" sz="2800" b="1">
                <a:latin typeface="Arial"/>
                <a:ea typeface="Calibri"/>
                <a:cs typeface="Arial"/>
              </a:rPr>
              <a:t>number of multipliers</a:t>
            </a:r>
            <a:r>
              <a:rPr lang="en-US" sz="2800">
                <a:latin typeface="Arial"/>
                <a:ea typeface="Calibri"/>
                <a:cs typeface="Arial"/>
              </a:rPr>
              <a:t>, </a:t>
            </a:r>
            <a:r>
              <a:rPr lang="en-US" sz="2800" b="1">
                <a:latin typeface="Arial"/>
                <a:ea typeface="Calibri"/>
                <a:cs typeface="Arial"/>
              </a:rPr>
              <a:t>logic resources</a:t>
            </a:r>
            <a:r>
              <a:rPr lang="en-US" sz="2800">
                <a:latin typeface="Arial"/>
                <a:ea typeface="Calibri"/>
                <a:cs typeface="Arial"/>
              </a:rPr>
              <a:t>, </a:t>
            </a:r>
            <a:r>
              <a:rPr lang="en-US" sz="2800" b="1">
                <a:latin typeface="Arial"/>
                <a:ea typeface="Calibri"/>
                <a:cs typeface="Arial"/>
              </a:rPr>
              <a:t>layout area</a:t>
            </a:r>
            <a:r>
              <a:rPr lang="en-US" sz="2800">
                <a:latin typeface="Arial"/>
                <a:ea typeface="Calibri"/>
                <a:cs typeface="Arial"/>
              </a:rPr>
              <a:t>, and otherindicators. Polyphase structure compensation filter is better incomparison with the coefficient symmetry as designated FIR</a:t>
            </a:r>
          </a:p>
          <a:p>
            <a:pPr marL="342900" indent="-342900">
              <a:buFont typeface="Arial"/>
              <a:buChar char="•"/>
            </a:pPr>
            <a:r>
              <a:rPr lang="en-US" sz="2800">
                <a:latin typeface="Arial"/>
                <a:ea typeface="Calibri"/>
                <a:cs typeface="Arial"/>
              </a:rPr>
              <a:t>The order / taps of FIR are used as derivatives of theeqn displayed before, employing 63 MACs for ourpurpose.</a:t>
            </a:r>
          </a:p>
          <a:p>
            <a:pPr marL="342900" indent="-342900">
              <a:buFont typeface="Arial"/>
              <a:buChar char="•"/>
            </a:pPr>
            <a:r>
              <a:rPr lang="en-US" sz="3200">
                <a:ea typeface="+mn-lt"/>
                <a:cs typeface="+mn-lt"/>
              </a:rPr>
              <a:t>the equiripple solution achieves the </a:t>
            </a:r>
            <a:r>
              <a:rPr lang="en-US" sz="3200" b="1">
                <a:ea typeface="+mn-lt"/>
                <a:cs typeface="+mn-lt"/>
              </a:rPr>
              <a:t>lowest possible worst-case error</a:t>
            </a:r>
            <a:r>
              <a:rPr lang="en-US" sz="3200">
                <a:ea typeface="+mn-lt"/>
                <a:cs typeface="+mn-lt"/>
              </a:rPr>
              <a:t>.</a:t>
            </a:r>
          </a:p>
          <a:p>
            <a:pPr marL="285750" indent="-285750">
              <a:buFont typeface="Arial"/>
              <a:buChar char="•"/>
            </a:pPr>
            <a:endParaRPr lang="en-US" sz="2800">
              <a:latin typeface="Arial"/>
              <a:ea typeface="Calibri"/>
              <a:cs typeface="Arial"/>
            </a:endParaRPr>
          </a:p>
          <a:p>
            <a:pPr marL="285750" indent="-285750" algn="ctr">
              <a:buFont typeface="Arial"/>
              <a:buChar char="•"/>
            </a:pPr>
            <a:endParaRPr lang="en-US" sz="4000">
              <a:ea typeface="Calibri"/>
              <a:cs typeface="Calibri"/>
            </a:endParaRPr>
          </a:p>
          <a:p>
            <a:pPr marL="457200" indent="-457200">
              <a:buFont typeface="Arial"/>
              <a:buChar char="•"/>
            </a:pPr>
            <a:endParaRPr lang="en-US" sz="3200">
              <a:ea typeface="Calibri"/>
              <a:cs typeface="Calibri"/>
            </a:endParaRPr>
          </a:p>
          <a:p>
            <a:pPr marL="457200" indent="-457200">
              <a:buFont typeface="Arial"/>
              <a:buChar char="•"/>
            </a:pPr>
            <a:endParaRPr lang="en-US" sz="3200">
              <a:ea typeface="Calibri"/>
              <a:cs typeface="Calibri"/>
            </a:endParaRPr>
          </a:p>
        </p:txBody>
      </p:sp>
    </p:spTree>
    <p:extLst>
      <p:ext uri="{BB962C8B-B14F-4D97-AF65-F5344CB8AC3E}">
        <p14:creationId xmlns:p14="http://schemas.microsoft.com/office/powerpoint/2010/main" val="7842181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1D2FD-8D21-B2ED-039F-2982F33C35E5}"/>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E3F472C4-B326-08EB-277A-7107087D9D07}"/>
              </a:ext>
            </a:extLst>
          </p:cNvPr>
          <p:cNvSpPr/>
          <p:nvPr/>
        </p:nvSpPr>
        <p:spPr>
          <a:xfrm>
            <a:off x="1581407" y="-277951"/>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4" name="TextBox 4">
            <a:extLst>
              <a:ext uri="{FF2B5EF4-FFF2-40B4-BE49-F238E27FC236}">
                <a16:creationId xmlns:a16="http://schemas.microsoft.com/office/drawing/2014/main" id="{73B97CCD-62A2-61DD-EA87-09966E14D047}"/>
              </a:ext>
            </a:extLst>
          </p:cNvPr>
          <p:cNvSpPr txBox="1"/>
          <p:nvPr/>
        </p:nvSpPr>
        <p:spPr>
          <a:xfrm>
            <a:off x="1252675" y="7721643"/>
            <a:ext cx="1669427" cy="322287"/>
          </a:xfrm>
          <a:prstGeom prst="rect">
            <a:avLst/>
          </a:prstGeom>
        </p:spPr>
        <p:txBody>
          <a:bodyPr lIns="0" tIns="0" rIns="0" bIns="0" rtlCol="0" anchor="t">
            <a:spAutoFit/>
          </a:bodyPr>
          <a:lstStyle/>
          <a:p>
            <a:pPr algn="l">
              <a:lnSpc>
                <a:spcPts val="2576"/>
              </a:lnSpc>
            </a:pPr>
            <a:r>
              <a:rPr lang="en-US" sz="1840" b="1">
                <a:solidFill>
                  <a:srgbClr val="FFFFFF"/>
                </a:solidFill>
                <a:latin typeface="Poppins Bold"/>
                <a:ea typeface="Poppins Bold"/>
                <a:cs typeface="Poppins Bold"/>
                <a:sym typeface="Poppins Bold"/>
              </a:rPr>
              <a:t>1.6 Billion</a:t>
            </a:r>
          </a:p>
        </p:txBody>
      </p:sp>
      <p:sp>
        <p:nvSpPr>
          <p:cNvPr id="5" name="TextBox 5">
            <a:extLst>
              <a:ext uri="{FF2B5EF4-FFF2-40B4-BE49-F238E27FC236}">
                <a16:creationId xmlns:a16="http://schemas.microsoft.com/office/drawing/2014/main" id="{514AE365-1229-A5F1-E7F8-BEC13EE5FDBA}"/>
              </a:ext>
            </a:extLst>
          </p:cNvPr>
          <p:cNvSpPr txBox="1"/>
          <p:nvPr/>
        </p:nvSpPr>
        <p:spPr>
          <a:xfrm>
            <a:off x="1252675" y="8075088"/>
            <a:ext cx="1669427" cy="148590"/>
          </a:xfrm>
          <a:prstGeom prst="rect">
            <a:avLst/>
          </a:prstGeom>
        </p:spPr>
        <p:txBody>
          <a:bodyPr lIns="0" tIns="0" rIns="0" bIns="0" rtlCol="0" anchor="t">
            <a:spAutoFit/>
          </a:bodyPr>
          <a:lstStyle/>
          <a:p>
            <a:pPr algn="l">
              <a:lnSpc>
                <a:spcPts val="1259"/>
              </a:lnSpc>
            </a:pPr>
            <a:r>
              <a:rPr lang="en-US" sz="899" b="1">
                <a:solidFill>
                  <a:srgbClr val="FFFFFF"/>
                </a:solidFill>
                <a:latin typeface="Poppins Bold"/>
                <a:ea typeface="Poppins Bold"/>
                <a:cs typeface="Poppins Bold"/>
                <a:sym typeface="Poppins Bold"/>
              </a:rPr>
              <a:t>Total Available Market </a:t>
            </a:r>
          </a:p>
        </p:txBody>
      </p:sp>
      <p:sp>
        <p:nvSpPr>
          <p:cNvPr id="6" name="TextBox 6">
            <a:extLst>
              <a:ext uri="{FF2B5EF4-FFF2-40B4-BE49-F238E27FC236}">
                <a16:creationId xmlns:a16="http://schemas.microsoft.com/office/drawing/2014/main" id="{1BDD51BE-3879-31D8-C6CD-A7337FBBFF67}"/>
              </a:ext>
            </a:extLst>
          </p:cNvPr>
          <p:cNvSpPr txBox="1"/>
          <p:nvPr/>
        </p:nvSpPr>
        <p:spPr>
          <a:xfrm>
            <a:off x="1252675" y="7408345"/>
            <a:ext cx="77137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TAM</a:t>
            </a:r>
          </a:p>
        </p:txBody>
      </p:sp>
      <p:sp>
        <p:nvSpPr>
          <p:cNvPr id="8" name="TextBox 8">
            <a:extLst>
              <a:ext uri="{FF2B5EF4-FFF2-40B4-BE49-F238E27FC236}">
                <a16:creationId xmlns:a16="http://schemas.microsoft.com/office/drawing/2014/main" id="{2A5A1289-AA80-3663-D612-631AD6A5B9B3}"/>
              </a:ext>
            </a:extLst>
          </p:cNvPr>
          <p:cNvSpPr txBox="1"/>
          <p:nvPr/>
        </p:nvSpPr>
        <p:spPr>
          <a:xfrm>
            <a:off x="3764298" y="8096835"/>
            <a:ext cx="2095788" cy="148590"/>
          </a:xfrm>
          <a:prstGeom prst="rect">
            <a:avLst/>
          </a:prstGeom>
        </p:spPr>
        <p:txBody>
          <a:bodyPr lIns="0" tIns="0" rIns="0" bIns="0" rtlCol="0" anchor="t">
            <a:spAutoFit/>
          </a:bodyPr>
          <a:lstStyle/>
          <a:p>
            <a:pPr algn="l">
              <a:lnSpc>
                <a:spcPts val="1260"/>
              </a:lnSpc>
            </a:pPr>
            <a:r>
              <a:rPr lang="en-US" sz="900" b="1">
                <a:solidFill>
                  <a:srgbClr val="FFFFFF"/>
                </a:solidFill>
                <a:latin typeface="Poppins Bold"/>
                <a:ea typeface="Poppins Bold"/>
                <a:cs typeface="Poppins Bold"/>
                <a:sym typeface="Poppins Bold"/>
              </a:rPr>
              <a:t>Serviceable Available Market </a:t>
            </a:r>
          </a:p>
        </p:txBody>
      </p:sp>
      <p:sp>
        <p:nvSpPr>
          <p:cNvPr id="9" name="TextBox 9">
            <a:extLst>
              <a:ext uri="{FF2B5EF4-FFF2-40B4-BE49-F238E27FC236}">
                <a16:creationId xmlns:a16="http://schemas.microsoft.com/office/drawing/2014/main" id="{D4809E62-F17F-DE37-8FBA-CE080EFA6590}"/>
              </a:ext>
            </a:extLst>
          </p:cNvPr>
          <p:cNvSpPr txBox="1"/>
          <p:nvPr/>
        </p:nvSpPr>
        <p:spPr>
          <a:xfrm>
            <a:off x="3764298" y="7408345"/>
            <a:ext cx="69398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SAM</a:t>
            </a:r>
          </a:p>
        </p:txBody>
      </p:sp>
      <p:sp>
        <p:nvSpPr>
          <p:cNvPr id="10" name="TextBox 10">
            <a:extLst>
              <a:ext uri="{FF2B5EF4-FFF2-40B4-BE49-F238E27FC236}">
                <a16:creationId xmlns:a16="http://schemas.microsoft.com/office/drawing/2014/main" id="{E89D428B-F5FB-2649-D579-ADCD960527F7}"/>
              </a:ext>
            </a:extLst>
          </p:cNvPr>
          <p:cNvSpPr txBox="1"/>
          <p:nvPr/>
        </p:nvSpPr>
        <p:spPr>
          <a:xfrm>
            <a:off x="6275921" y="7721643"/>
            <a:ext cx="1666072" cy="322287"/>
          </a:xfrm>
          <a:prstGeom prst="rect">
            <a:avLst/>
          </a:prstGeom>
        </p:spPr>
        <p:txBody>
          <a:bodyPr lIns="0" tIns="0" rIns="0" bIns="0" rtlCol="0" anchor="t">
            <a:spAutoFit/>
          </a:bodyPr>
          <a:lstStyle/>
          <a:p>
            <a:pPr algn="l">
              <a:lnSpc>
                <a:spcPts val="2576"/>
              </a:lnSpc>
            </a:pPr>
            <a:r>
              <a:rPr lang="en-US" sz="1840" b="1">
                <a:solidFill>
                  <a:srgbClr val="FFFFFF"/>
                </a:solidFill>
                <a:latin typeface="Poppins Bold"/>
                <a:ea typeface="Poppins Bold"/>
                <a:cs typeface="Poppins Bold"/>
                <a:sym typeface="Poppins Bold"/>
              </a:rPr>
              <a:t>181 Million</a:t>
            </a:r>
          </a:p>
        </p:txBody>
      </p:sp>
      <p:sp>
        <p:nvSpPr>
          <p:cNvPr id="11" name="TextBox 11">
            <a:extLst>
              <a:ext uri="{FF2B5EF4-FFF2-40B4-BE49-F238E27FC236}">
                <a16:creationId xmlns:a16="http://schemas.microsoft.com/office/drawing/2014/main" id="{E04678D7-CDBB-638C-82BF-CE45786F493D}"/>
              </a:ext>
            </a:extLst>
          </p:cNvPr>
          <p:cNvSpPr txBox="1"/>
          <p:nvPr/>
        </p:nvSpPr>
        <p:spPr>
          <a:xfrm>
            <a:off x="6275921" y="8096835"/>
            <a:ext cx="2027367" cy="148590"/>
          </a:xfrm>
          <a:prstGeom prst="rect">
            <a:avLst/>
          </a:prstGeom>
        </p:spPr>
        <p:txBody>
          <a:bodyPr lIns="0" tIns="0" rIns="0" bIns="0" rtlCol="0" anchor="t">
            <a:spAutoFit/>
          </a:bodyPr>
          <a:lstStyle/>
          <a:p>
            <a:pPr algn="l">
              <a:lnSpc>
                <a:spcPts val="1260"/>
              </a:lnSpc>
            </a:pPr>
            <a:r>
              <a:rPr lang="en-US" sz="900" b="1">
                <a:solidFill>
                  <a:srgbClr val="FFFFFF"/>
                </a:solidFill>
                <a:latin typeface="Poppins Bold"/>
                <a:ea typeface="Poppins Bold"/>
                <a:cs typeface="Poppins Bold"/>
                <a:sym typeface="Poppins Bold"/>
              </a:rPr>
              <a:t>Serviceable Obtainable Market </a:t>
            </a:r>
          </a:p>
        </p:txBody>
      </p:sp>
      <p:sp>
        <p:nvSpPr>
          <p:cNvPr id="12" name="TextBox 12">
            <a:extLst>
              <a:ext uri="{FF2B5EF4-FFF2-40B4-BE49-F238E27FC236}">
                <a16:creationId xmlns:a16="http://schemas.microsoft.com/office/drawing/2014/main" id="{659B97A9-2E1D-7970-0E85-7919D6306196}"/>
              </a:ext>
            </a:extLst>
          </p:cNvPr>
          <p:cNvSpPr txBox="1"/>
          <p:nvPr/>
        </p:nvSpPr>
        <p:spPr>
          <a:xfrm>
            <a:off x="6275921" y="7408345"/>
            <a:ext cx="70740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SOM</a:t>
            </a:r>
          </a:p>
        </p:txBody>
      </p:sp>
      <p:sp>
        <p:nvSpPr>
          <p:cNvPr id="29" name="AutoShape 29">
            <a:extLst>
              <a:ext uri="{FF2B5EF4-FFF2-40B4-BE49-F238E27FC236}">
                <a16:creationId xmlns:a16="http://schemas.microsoft.com/office/drawing/2014/main" id="{D4F77DAE-E9EE-3A06-6AFC-C5D6BC759C2A}"/>
              </a:ext>
            </a:extLst>
          </p:cNvPr>
          <p:cNvSpPr/>
          <p:nvPr/>
        </p:nvSpPr>
        <p:spPr>
          <a:xfrm rot="5400000">
            <a:off x="3008122" y="7812274"/>
            <a:ext cx="659629" cy="0"/>
          </a:xfrm>
          <a:prstGeom prst="line">
            <a:avLst/>
          </a:prstGeom>
          <a:ln w="19050" cap="rnd">
            <a:solidFill>
              <a:srgbClr val="FFFFFF"/>
            </a:solidFill>
            <a:prstDash val="solid"/>
            <a:headEnd type="none" w="sm" len="sm"/>
            <a:tailEnd type="none" w="sm" len="sm"/>
          </a:ln>
        </p:spPr>
        <p:txBody>
          <a:bodyPr/>
          <a:lstStyle/>
          <a:p>
            <a:endParaRPr lang="en-IN"/>
          </a:p>
        </p:txBody>
      </p:sp>
      <p:sp>
        <p:nvSpPr>
          <p:cNvPr id="2" name="TextBox 1">
            <a:extLst>
              <a:ext uri="{FF2B5EF4-FFF2-40B4-BE49-F238E27FC236}">
                <a16:creationId xmlns:a16="http://schemas.microsoft.com/office/drawing/2014/main" id="{7B0A81F4-6864-D01A-CF8F-F9CEC747F179}"/>
              </a:ext>
            </a:extLst>
          </p:cNvPr>
          <p:cNvSpPr txBox="1"/>
          <p:nvPr/>
        </p:nvSpPr>
        <p:spPr>
          <a:xfrm>
            <a:off x="2089820" y="185358"/>
            <a:ext cx="1640909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solidFill>
                  <a:schemeClr val="bg1"/>
                </a:solidFill>
                <a:latin typeface="Calibri"/>
              </a:rPr>
              <a:t>Stage 3: </a:t>
            </a:r>
            <a:r>
              <a:rPr lang="en-US" sz="5400">
                <a:solidFill>
                  <a:schemeClr val="bg1"/>
                </a:solidFill>
                <a:ea typeface="+mn-lt"/>
                <a:cs typeface="+mn-lt"/>
              </a:rPr>
              <a:t>Partially Serial FIR Compensation Filter</a:t>
            </a:r>
            <a:endParaRPr lang="en-US" sz="5400">
              <a:solidFill>
                <a:schemeClr val="bg1"/>
              </a:solidFill>
            </a:endParaRPr>
          </a:p>
          <a:p>
            <a:pPr algn="ctr"/>
            <a:endParaRPr lang="en-US"/>
          </a:p>
        </p:txBody>
      </p:sp>
      <p:pic>
        <p:nvPicPr>
          <p:cNvPr id="3" name="Picture 2">
            <a:extLst>
              <a:ext uri="{FF2B5EF4-FFF2-40B4-BE49-F238E27FC236}">
                <a16:creationId xmlns:a16="http://schemas.microsoft.com/office/drawing/2014/main" id="{9D1B892B-7154-F485-8307-6BAFB469A361}"/>
              </a:ext>
            </a:extLst>
          </p:cNvPr>
          <p:cNvPicPr>
            <a:picLocks noChangeAspect="1"/>
          </p:cNvPicPr>
          <p:nvPr/>
        </p:nvPicPr>
        <p:blipFill>
          <a:blip r:embed="rId2"/>
          <a:stretch>
            <a:fillRect/>
          </a:stretch>
        </p:blipFill>
        <p:spPr>
          <a:xfrm>
            <a:off x="4202" y="2571470"/>
            <a:ext cx="17018933" cy="8236883"/>
          </a:xfrm>
          <a:prstGeom prst="rect">
            <a:avLst/>
          </a:prstGeom>
        </p:spPr>
      </p:pic>
    </p:spTree>
    <p:extLst>
      <p:ext uri="{BB962C8B-B14F-4D97-AF65-F5344CB8AC3E}">
        <p14:creationId xmlns:p14="http://schemas.microsoft.com/office/powerpoint/2010/main" val="22425492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5E837-19AA-2F1A-075F-1099E004DE0B}"/>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8786A4BF-F611-DC30-9C91-CDF84CC1DAF4}"/>
              </a:ext>
            </a:extLst>
          </p:cNvPr>
          <p:cNvSpPr/>
          <p:nvPr/>
        </p:nvSpPr>
        <p:spPr>
          <a:xfrm>
            <a:off x="1581407" y="-277951"/>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4" name="TextBox 4">
            <a:extLst>
              <a:ext uri="{FF2B5EF4-FFF2-40B4-BE49-F238E27FC236}">
                <a16:creationId xmlns:a16="http://schemas.microsoft.com/office/drawing/2014/main" id="{3740BF6A-17AC-DFDA-2C3C-FF1F853DE1B1}"/>
              </a:ext>
            </a:extLst>
          </p:cNvPr>
          <p:cNvSpPr txBox="1"/>
          <p:nvPr/>
        </p:nvSpPr>
        <p:spPr>
          <a:xfrm>
            <a:off x="1252675" y="7721643"/>
            <a:ext cx="1669427" cy="322287"/>
          </a:xfrm>
          <a:prstGeom prst="rect">
            <a:avLst/>
          </a:prstGeom>
        </p:spPr>
        <p:txBody>
          <a:bodyPr lIns="0" tIns="0" rIns="0" bIns="0" rtlCol="0" anchor="t">
            <a:spAutoFit/>
          </a:bodyPr>
          <a:lstStyle/>
          <a:p>
            <a:pPr algn="l">
              <a:lnSpc>
                <a:spcPts val="2576"/>
              </a:lnSpc>
            </a:pPr>
            <a:r>
              <a:rPr lang="en-US" sz="1840" b="1">
                <a:solidFill>
                  <a:srgbClr val="FFFFFF"/>
                </a:solidFill>
                <a:latin typeface="Poppins Bold"/>
                <a:ea typeface="Poppins Bold"/>
                <a:cs typeface="Poppins Bold"/>
                <a:sym typeface="Poppins Bold"/>
              </a:rPr>
              <a:t>1.6 Billion</a:t>
            </a:r>
          </a:p>
        </p:txBody>
      </p:sp>
      <p:sp>
        <p:nvSpPr>
          <p:cNvPr id="5" name="TextBox 5">
            <a:extLst>
              <a:ext uri="{FF2B5EF4-FFF2-40B4-BE49-F238E27FC236}">
                <a16:creationId xmlns:a16="http://schemas.microsoft.com/office/drawing/2014/main" id="{4A7D2D43-ECE3-7AC6-DF9A-8DFE91FBA1A3}"/>
              </a:ext>
            </a:extLst>
          </p:cNvPr>
          <p:cNvSpPr txBox="1"/>
          <p:nvPr/>
        </p:nvSpPr>
        <p:spPr>
          <a:xfrm>
            <a:off x="1252675" y="8075088"/>
            <a:ext cx="1669427" cy="148590"/>
          </a:xfrm>
          <a:prstGeom prst="rect">
            <a:avLst/>
          </a:prstGeom>
        </p:spPr>
        <p:txBody>
          <a:bodyPr lIns="0" tIns="0" rIns="0" bIns="0" rtlCol="0" anchor="t">
            <a:spAutoFit/>
          </a:bodyPr>
          <a:lstStyle/>
          <a:p>
            <a:pPr algn="l">
              <a:lnSpc>
                <a:spcPts val="1259"/>
              </a:lnSpc>
            </a:pPr>
            <a:r>
              <a:rPr lang="en-US" sz="899" b="1">
                <a:solidFill>
                  <a:srgbClr val="FFFFFF"/>
                </a:solidFill>
                <a:latin typeface="Poppins Bold"/>
                <a:ea typeface="Poppins Bold"/>
                <a:cs typeface="Poppins Bold"/>
                <a:sym typeface="Poppins Bold"/>
              </a:rPr>
              <a:t>Total Available Market </a:t>
            </a:r>
          </a:p>
        </p:txBody>
      </p:sp>
      <p:sp>
        <p:nvSpPr>
          <p:cNvPr id="6" name="TextBox 6">
            <a:extLst>
              <a:ext uri="{FF2B5EF4-FFF2-40B4-BE49-F238E27FC236}">
                <a16:creationId xmlns:a16="http://schemas.microsoft.com/office/drawing/2014/main" id="{3B226303-4DCE-8C3F-1426-7DD478F16A35}"/>
              </a:ext>
            </a:extLst>
          </p:cNvPr>
          <p:cNvSpPr txBox="1"/>
          <p:nvPr/>
        </p:nvSpPr>
        <p:spPr>
          <a:xfrm>
            <a:off x="1252675" y="7408345"/>
            <a:ext cx="77137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TAM</a:t>
            </a:r>
          </a:p>
        </p:txBody>
      </p:sp>
      <p:sp>
        <p:nvSpPr>
          <p:cNvPr id="8" name="TextBox 8">
            <a:extLst>
              <a:ext uri="{FF2B5EF4-FFF2-40B4-BE49-F238E27FC236}">
                <a16:creationId xmlns:a16="http://schemas.microsoft.com/office/drawing/2014/main" id="{5BCF1120-06E8-C64A-E732-5353AFE60444}"/>
              </a:ext>
            </a:extLst>
          </p:cNvPr>
          <p:cNvSpPr txBox="1"/>
          <p:nvPr/>
        </p:nvSpPr>
        <p:spPr>
          <a:xfrm>
            <a:off x="3764298" y="8096835"/>
            <a:ext cx="2095788" cy="148590"/>
          </a:xfrm>
          <a:prstGeom prst="rect">
            <a:avLst/>
          </a:prstGeom>
        </p:spPr>
        <p:txBody>
          <a:bodyPr lIns="0" tIns="0" rIns="0" bIns="0" rtlCol="0" anchor="t">
            <a:spAutoFit/>
          </a:bodyPr>
          <a:lstStyle/>
          <a:p>
            <a:pPr algn="l">
              <a:lnSpc>
                <a:spcPts val="1260"/>
              </a:lnSpc>
            </a:pPr>
            <a:r>
              <a:rPr lang="en-US" sz="900" b="1">
                <a:solidFill>
                  <a:srgbClr val="FFFFFF"/>
                </a:solidFill>
                <a:latin typeface="Poppins Bold"/>
                <a:ea typeface="Poppins Bold"/>
                <a:cs typeface="Poppins Bold"/>
                <a:sym typeface="Poppins Bold"/>
              </a:rPr>
              <a:t>Serviceable Available Market </a:t>
            </a:r>
          </a:p>
        </p:txBody>
      </p:sp>
      <p:sp>
        <p:nvSpPr>
          <p:cNvPr id="9" name="TextBox 9">
            <a:extLst>
              <a:ext uri="{FF2B5EF4-FFF2-40B4-BE49-F238E27FC236}">
                <a16:creationId xmlns:a16="http://schemas.microsoft.com/office/drawing/2014/main" id="{919ABF7D-2FE4-6C5D-21E1-5EBDAF41BF04}"/>
              </a:ext>
            </a:extLst>
          </p:cNvPr>
          <p:cNvSpPr txBox="1"/>
          <p:nvPr/>
        </p:nvSpPr>
        <p:spPr>
          <a:xfrm>
            <a:off x="3764298" y="7408345"/>
            <a:ext cx="69398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SAM</a:t>
            </a:r>
          </a:p>
        </p:txBody>
      </p:sp>
      <p:sp>
        <p:nvSpPr>
          <p:cNvPr id="10" name="TextBox 10">
            <a:extLst>
              <a:ext uri="{FF2B5EF4-FFF2-40B4-BE49-F238E27FC236}">
                <a16:creationId xmlns:a16="http://schemas.microsoft.com/office/drawing/2014/main" id="{78FE504E-2E30-56A8-C729-54062F6DD4BB}"/>
              </a:ext>
            </a:extLst>
          </p:cNvPr>
          <p:cNvSpPr txBox="1"/>
          <p:nvPr/>
        </p:nvSpPr>
        <p:spPr>
          <a:xfrm>
            <a:off x="6275921" y="7721643"/>
            <a:ext cx="1666072" cy="322287"/>
          </a:xfrm>
          <a:prstGeom prst="rect">
            <a:avLst/>
          </a:prstGeom>
        </p:spPr>
        <p:txBody>
          <a:bodyPr lIns="0" tIns="0" rIns="0" bIns="0" rtlCol="0" anchor="t">
            <a:spAutoFit/>
          </a:bodyPr>
          <a:lstStyle/>
          <a:p>
            <a:pPr algn="l">
              <a:lnSpc>
                <a:spcPts val="2576"/>
              </a:lnSpc>
            </a:pPr>
            <a:r>
              <a:rPr lang="en-US" sz="1840" b="1">
                <a:solidFill>
                  <a:srgbClr val="FFFFFF"/>
                </a:solidFill>
                <a:latin typeface="Poppins Bold"/>
                <a:ea typeface="Poppins Bold"/>
                <a:cs typeface="Poppins Bold"/>
                <a:sym typeface="Poppins Bold"/>
              </a:rPr>
              <a:t>181 Million</a:t>
            </a:r>
          </a:p>
        </p:txBody>
      </p:sp>
      <p:sp>
        <p:nvSpPr>
          <p:cNvPr id="11" name="TextBox 11">
            <a:extLst>
              <a:ext uri="{FF2B5EF4-FFF2-40B4-BE49-F238E27FC236}">
                <a16:creationId xmlns:a16="http://schemas.microsoft.com/office/drawing/2014/main" id="{CEAE105B-9C8D-7457-8674-D99628FDD094}"/>
              </a:ext>
            </a:extLst>
          </p:cNvPr>
          <p:cNvSpPr txBox="1"/>
          <p:nvPr/>
        </p:nvSpPr>
        <p:spPr>
          <a:xfrm>
            <a:off x="6275921" y="8096835"/>
            <a:ext cx="2027367" cy="148590"/>
          </a:xfrm>
          <a:prstGeom prst="rect">
            <a:avLst/>
          </a:prstGeom>
        </p:spPr>
        <p:txBody>
          <a:bodyPr lIns="0" tIns="0" rIns="0" bIns="0" rtlCol="0" anchor="t">
            <a:spAutoFit/>
          </a:bodyPr>
          <a:lstStyle/>
          <a:p>
            <a:pPr algn="l">
              <a:lnSpc>
                <a:spcPts val="1260"/>
              </a:lnSpc>
            </a:pPr>
            <a:r>
              <a:rPr lang="en-US" sz="900" b="1">
                <a:solidFill>
                  <a:srgbClr val="FFFFFF"/>
                </a:solidFill>
                <a:latin typeface="Poppins Bold"/>
                <a:ea typeface="Poppins Bold"/>
                <a:cs typeface="Poppins Bold"/>
                <a:sym typeface="Poppins Bold"/>
              </a:rPr>
              <a:t>Serviceable Obtainable Market </a:t>
            </a:r>
          </a:p>
        </p:txBody>
      </p:sp>
      <p:sp>
        <p:nvSpPr>
          <p:cNvPr id="12" name="TextBox 12">
            <a:extLst>
              <a:ext uri="{FF2B5EF4-FFF2-40B4-BE49-F238E27FC236}">
                <a16:creationId xmlns:a16="http://schemas.microsoft.com/office/drawing/2014/main" id="{7BF3A49A-2689-378D-4307-C5F252EC330F}"/>
              </a:ext>
            </a:extLst>
          </p:cNvPr>
          <p:cNvSpPr txBox="1"/>
          <p:nvPr/>
        </p:nvSpPr>
        <p:spPr>
          <a:xfrm>
            <a:off x="6275921" y="7408345"/>
            <a:ext cx="70740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SOM</a:t>
            </a:r>
          </a:p>
        </p:txBody>
      </p:sp>
      <p:sp>
        <p:nvSpPr>
          <p:cNvPr id="29" name="AutoShape 29">
            <a:extLst>
              <a:ext uri="{FF2B5EF4-FFF2-40B4-BE49-F238E27FC236}">
                <a16:creationId xmlns:a16="http://schemas.microsoft.com/office/drawing/2014/main" id="{AD43B4DD-41C9-1860-0A49-B1A0CF618743}"/>
              </a:ext>
            </a:extLst>
          </p:cNvPr>
          <p:cNvSpPr/>
          <p:nvPr/>
        </p:nvSpPr>
        <p:spPr>
          <a:xfrm rot="5400000">
            <a:off x="3008122" y="7812274"/>
            <a:ext cx="659629" cy="0"/>
          </a:xfrm>
          <a:prstGeom prst="line">
            <a:avLst/>
          </a:prstGeom>
          <a:ln w="19050" cap="rnd">
            <a:solidFill>
              <a:srgbClr val="FFFFFF"/>
            </a:solidFill>
            <a:prstDash val="solid"/>
            <a:headEnd type="none" w="sm" len="sm"/>
            <a:tailEnd type="none" w="sm" len="sm"/>
          </a:ln>
        </p:spPr>
        <p:txBody>
          <a:bodyPr/>
          <a:lstStyle/>
          <a:p>
            <a:endParaRPr lang="en-IN"/>
          </a:p>
        </p:txBody>
      </p:sp>
      <p:sp>
        <p:nvSpPr>
          <p:cNvPr id="2" name="TextBox 1">
            <a:extLst>
              <a:ext uri="{FF2B5EF4-FFF2-40B4-BE49-F238E27FC236}">
                <a16:creationId xmlns:a16="http://schemas.microsoft.com/office/drawing/2014/main" id="{67F814C5-C464-974D-8F24-578A4B6C1EE2}"/>
              </a:ext>
            </a:extLst>
          </p:cNvPr>
          <p:cNvSpPr txBox="1"/>
          <p:nvPr/>
        </p:nvSpPr>
        <p:spPr>
          <a:xfrm>
            <a:off x="2005776" y="185358"/>
            <a:ext cx="16409094" cy="1200329"/>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solidFill>
                  <a:schemeClr val="bg1"/>
                </a:solidFill>
                <a:latin typeface="Calibri"/>
              </a:rPr>
              <a:t>Stage 3: </a:t>
            </a:r>
            <a:r>
              <a:rPr lang="en-US" sz="5400">
                <a:solidFill>
                  <a:schemeClr val="bg1"/>
                </a:solidFill>
                <a:ea typeface="+mn-lt"/>
                <a:cs typeface="+mn-lt"/>
              </a:rPr>
              <a:t>Partially Serial FIR Compensation Filter</a:t>
            </a:r>
            <a:endParaRPr lang="en-US" sz="5400">
              <a:solidFill>
                <a:schemeClr val="bg1"/>
              </a:solidFill>
            </a:endParaRPr>
          </a:p>
          <a:p>
            <a:pPr algn="ctr"/>
            <a:endParaRPr lang="en-US"/>
          </a:p>
        </p:txBody>
      </p:sp>
      <p:pic>
        <p:nvPicPr>
          <p:cNvPr id="7" name="Picture 6" descr="A diagram of a computer&#10;&#10;AI-generated content may be incorrect.">
            <a:extLst>
              <a:ext uri="{FF2B5EF4-FFF2-40B4-BE49-F238E27FC236}">
                <a16:creationId xmlns:a16="http://schemas.microsoft.com/office/drawing/2014/main" id="{F34EED46-115A-DF19-78CA-151A9DF22BB3}"/>
              </a:ext>
            </a:extLst>
          </p:cNvPr>
          <p:cNvPicPr>
            <a:picLocks noChangeAspect="1"/>
          </p:cNvPicPr>
          <p:nvPr/>
        </p:nvPicPr>
        <p:blipFill>
          <a:blip r:embed="rId2"/>
          <a:srcRect r="102" b="2938"/>
          <a:stretch>
            <a:fillRect/>
          </a:stretch>
        </p:blipFill>
        <p:spPr>
          <a:xfrm>
            <a:off x="266412" y="1945940"/>
            <a:ext cx="16449153" cy="8579806"/>
          </a:xfrm>
          <a:prstGeom prst="rect">
            <a:avLst/>
          </a:prstGeom>
        </p:spPr>
      </p:pic>
    </p:spTree>
    <p:extLst>
      <p:ext uri="{BB962C8B-B14F-4D97-AF65-F5344CB8AC3E}">
        <p14:creationId xmlns:p14="http://schemas.microsoft.com/office/powerpoint/2010/main" val="26667431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59190F04-2BD1-D1AC-7702-707FFDDAB5AA}"/>
              </a:ext>
            </a:extLst>
          </p:cNvPr>
          <p:cNvSpPr/>
          <p:nvPr/>
        </p:nvSpPr>
        <p:spPr>
          <a:xfrm>
            <a:off x="1581407" y="-277951"/>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3" name="TextBox 2">
            <a:extLst>
              <a:ext uri="{FF2B5EF4-FFF2-40B4-BE49-F238E27FC236}">
                <a16:creationId xmlns:a16="http://schemas.microsoft.com/office/drawing/2014/main" id="{050321CE-E37A-AB10-B3DE-21196C0502BB}"/>
              </a:ext>
            </a:extLst>
          </p:cNvPr>
          <p:cNvSpPr txBox="1"/>
          <p:nvPr/>
        </p:nvSpPr>
        <p:spPr>
          <a:xfrm>
            <a:off x="2340340" y="221188"/>
            <a:ext cx="13683119" cy="1757538"/>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Bef>
                <a:spcPct val="0"/>
              </a:spcBef>
              <a:spcAft>
                <a:spcPts val="600"/>
              </a:spcAft>
            </a:pPr>
            <a:r>
              <a:rPr lang="en-US" sz="5400">
                <a:solidFill>
                  <a:schemeClr val="bg1"/>
                </a:solidFill>
                <a:latin typeface="+mj-lt"/>
                <a:ea typeface="+mj-ea"/>
                <a:cs typeface="+mj-cs"/>
              </a:rPr>
              <a:t>Overall Magnitude Response vs Input freq.</a:t>
            </a:r>
            <a:endParaRPr lang="en-US" sz="5400">
              <a:solidFill>
                <a:schemeClr val="bg1"/>
              </a:solidFill>
              <a:ea typeface="+mj-ea"/>
              <a:cs typeface="+mj-cs"/>
            </a:endParaRPr>
          </a:p>
        </p:txBody>
      </p:sp>
      <p:cxnSp>
        <p:nvCxnSpPr>
          <p:cNvPr id="12" name="Straight Connector 11">
            <a:extLst>
              <a:ext uri="{FF2B5EF4-FFF2-40B4-BE49-F238E27FC236}">
                <a16:creationId xmlns:a16="http://schemas.microsoft.com/office/drawing/2014/main" id="{192712F8-36FA-35DF-0CE8-4098D93322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97710" y="1306719"/>
            <a:ext cx="1105408"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67864D58-2A6E-BD0B-7589-2048A1DD62FF}"/>
              </a:ext>
            </a:extLst>
          </p:cNvPr>
          <p:cNvPicPr>
            <a:picLocks noChangeAspect="1"/>
          </p:cNvPicPr>
          <p:nvPr/>
        </p:nvPicPr>
        <p:blipFill>
          <a:blip r:embed="rId2"/>
          <a:stretch>
            <a:fillRect/>
          </a:stretch>
        </p:blipFill>
        <p:spPr>
          <a:xfrm>
            <a:off x="1334949" y="2572824"/>
            <a:ext cx="15140491" cy="7456484"/>
          </a:xfrm>
          <a:prstGeom prst="rect">
            <a:avLst/>
          </a:prstGeom>
        </p:spPr>
      </p:pic>
      <p:cxnSp>
        <p:nvCxnSpPr>
          <p:cNvPr id="14" name="Straight Connector 13">
            <a:extLst>
              <a:ext uri="{FF2B5EF4-FFF2-40B4-BE49-F238E27FC236}">
                <a16:creationId xmlns:a16="http://schemas.microsoft.com/office/drawing/2014/main" id="{AF9469B9-6468-5B6A-E832-8D45903884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33345" y="7847370"/>
            <a:ext cx="15688734"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37342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C2061-0F9E-2190-0358-2864DFEC0D21}"/>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81D6C35-3D34-58E5-CD31-63BDB06399E5}"/>
              </a:ext>
            </a:extLst>
          </p:cNvPr>
          <p:cNvSpPr/>
          <p:nvPr/>
        </p:nvSpPr>
        <p:spPr>
          <a:xfrm>
            <a:off x="1581407" y="-277951"/>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8" name="Rectangle 7">
            <a:extLst>
              <a:ext uri="{FF2B5EF4-FFF2-40B4-BE49-F238E27FC236}">
                <a16:creationId xmlns:a16="http://schemas.microsoft.com/office/drawing/2014/main" id="{E347F888-8B5D-48A7-A851-CF755FC6DF32}"/>
              </a:ext>
            </a:extLst>
          </p:cNvPr>
          <p:cNvSpPr/>
          <p:nvPr/>
        </p:nvSpPr>
        <p:spPr>
          <a:xfrm>
            <a:off x="3767784" y="7241435"/>
            <a:ext cx="9786716" cy="3041122"/>
          </a:xfrm>
          <a:prstGeom prst="rect">
            <a:avLst/>
          </a:prstGeom>
          <a:solidFill>
            <a:srgbClr val="F8F9FB"/>
          </a:solidFill>
          <a:ln>
            <a:solidFill>
              <a:srgbClr val="F8F9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9">
            <a:extLst>
              <a:ext uri="{FF2B5EF4-FFF2-40B4-BE49-F238E27FC236}">
                <a16:creationId xmlns:a16="http://schemas.microsoft.com/office/drawing/2014/main" id="{90CFFDCB-F7B6-50A6-44C1-C144C7D163B8}"/>
              </a:ext>
            </a:extLst>
          </p:cNvPr>
          <p:cNvSpPr txBox="1"/>
          <p:nvPr/>
        </p:nvSpPr>
        <p:spPr>
          <a:xfrm>
            <a:off x="11696179" y="9592446"/>
            <a:ext cx="3077236" cy="291211"/>
          </a:xfrm>
          <a:prstGeom prst="rect">
            <a:avLst/>
          </a:prstGeom>
        </p:spPr>
        <p:txBody>
          <a:bodyPr lIns="0" tIns="0" rIns="0" bIns="0" rtlCol="0" anchor="t">
            <a:spAutoFit/>
          </a:bodyPr>
          <a:lstStyle/>
          <a:p>
            <a:pPr algn="l">
              <a:lnSpc>
                <a:spcPts val="2324"/>
              </a:lnSpc>
            </a:pPr>
            <a:r>
              <a:rPr lang="en-US" sz="1660">
                <a:solidFill>
                  <a:srgbClr val="FFFFFF"/>
                </a:solidFill>
                <a:latin typeface="Poppins"/>
                <a:ea typeface="Poppins"/>
                <a:cs typeface="Poppins"/>
                <a:sym typeface="Poppins"/>
              </a:rPr>
              <a:t>www.reallygreatsite.com </a:t>
            </a:r>
          </a:p>
        </p:txBody>
      </p:sp>
      <p:sp>
        <p:nvSpPr>
          <p:cNvPr id="14" name="AutoShape 14">
            <a:extLst>
              <a:ext uri="{FF2B5EF4-FFF2-40B4-BE49-F238E27FC236}">
                <a16:creationId xmlns:a16="http://schemas.microsoft.com/office/drawing/2014/main" id="{2F9197CF-6FD7-2247-5B52-A64839A8DEA0}"/>
              </a:ext>
            </a:extLst>
          </p:cNvPr>
          <p:cNvSpPr/>
          <p:nvPr/>
        </p:nvSpPr>
        <p:spPr>
          <a:xfrm rot="5400000">
            <a:off x="16399966" y="6264625"/>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15" name="TextBox 15">
            <a:extLst>
              <a:ext uri="{FF2B5EF4-FFF2-40B4-BE49-F238E27FC236}">
                <a16:creationId xmlns:a16="http://schemas.microsoft.com/office/drawing/2014/main" id="{B821A7E2-2F26-BC01-8B68-41DB4B3BBD30}"/>
              </a:ext>
            </a:extLst>
          </p:cNvPr>
          <p:cNvSpPr txBox="1"/>
          <p:nvPr/>
        </p:nvSpPr>
        <p:spPr>
          <a:xfrm rot="-5400000">
            <a:off x="17310518" y="8275412"/>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16" name="TextBox 16">
            <a:extLst>
              <a:ext uri="{FF2B5EF4-FFF2-40B4-BE49-F238E27FC236}">
                <a16:creationId xmlns:a16="http://schemas.microsoft.com/office/drawing/2014/main" id="{9F692D16-9490-5CC5-45D7-357769076FB9}"/>
              </a:ext>
            </a:extLst>
          </p:cNvPr>
          <p:cNvSpPr txBox="1"/>
          <p:nvPr/>
        </p:nvSpPr>
        <p:spPr>
          <a:xfrm rot="-5400000">
            <a:off x="16161626" y="2739884"/>
            <a:ext cx="3231104" cy="272161"/>
          </a:xfrm>
          <a:prstGeom prst="rect">
            <a:avLst/>
          </a:prstGeom>
        </p:spPr>
        <p:txBody>
          <a:bodyPr lIns="0" tIns="0" rIns="0" bIns="0" rtlCol="0" anchor="t">
            <a:spAutoFit/>
          </a:bodyPr>
          <a:lstStyle/>
          <a:p>
            <a:pPr algn="ctr">
              <a:lnSpc>
                <a:spcPts val="2324"/>
              </a:lnSpc>
            </a:pPr>
            <a:r>
              <a:rPr lang="en-US" sz="1660">
                <a:solidFill>
                  <a:srgbClr val="FFFFFF"/>
                </a:solidFill>
                <a:latin typeface="Quicksand"/>
                <a:ea typeface="Quicksand"/>
                <a:cs typeface="Quicksand"/>
                <a:sym typeface="Quicksand"/>
              </a:rPr>
              <a:t>www.reallygreatsite.com </a:t>
            </a:r>
          </a:p>
        </p:txBody>
      </p:sp>
      <p:sp>
        <p:nvSpPr>
          <p:cNvPr id="21" name="TextBox 20">
            <a:extLst>
              <a:ext uri="{FF2B5EF4-FFF2-40B4-BE49-F238E27FC236}">
                <a16:creationId xmlns:a16="http://schemas.microsoft.com/office/drawing/2014/main" id="{69B2647E-AEC4-8888-8900-5F8BA596FC0C}"/>
              </a:ext>
            </a:extLst>
          </p:cNvPr>
          <p:cNvSpPr txBox="1"/>
          <p:nvPr/>
        </p:nvSpPr>
        <p:spPr>
          <a:xfrm>
            <a:off x="591512" y="1984537"/>
            <a:ext cx="14795176" cy="64940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sz="3200">
                <a:ea typeface="+mn-lt"/>
                <a:cs typeface="+mn-lt"/>
              </a:rPr>
              <a:t>  For the design and simulation of the digital filter we use </a:t>
            </a:r>
            <a:r>
              <a:rPr lang="en-US" sz="3200" err="1">
                <a:ea typeface="+mn-lt"/>
                <a:cs typeface="+mn-lt"/>
              </a:rPr>
              <a:t>Vivado</a:t>
            </a:r>
            <a:r>
              <a:rPr lang="en-US" sz="3200">
                <a:ea typeface="+mn-lt"/>
                <a:cs typeface="+mn-lt"/>
              </a:rPr>
              <a:t> 2023.2 version.</a:t>
            </a:r>
            <a:endParaRPr lang="en-US">
              <a:ea typeface="+mn-lt"/>
              <a:cs typeface="+mn-lt"/>
            </a:endParaRPr>
          </a:p>
          <a:p>
            <a:pPr marL="285750" indent="-285750">
              <a:buFont typeface="Calibri"/>
              <a:buChar char="-"/>
            </a:pPr>
            <a:endParaRPr lang="en-US" sz="3200">
              <a:ea typeface="+mn-lt"/>
              <a:cs typeface="+mn-lt"/>
            </a:endParaRPr>
          </a:p>
          <a:p>
            <a:pPr marL="457200" indent="-457200">
              <a:buFont typeface="Calibri"/>
              <a:buChar char="-"/>
            </a:pPr>
            <a:r>
              <a:rPr lang="en-US" sz="3200">
                <a:ea typeface="+mn-lt"/>
                <a:cs typeface="+mn-lt"/>
              </a:rPr>
              <a:t>To verify the filter performance, we write testbench in which we provide the input stimulus of 440 Hz cosine wave with amplitude of 1v.</a:t>
            </a:r>
          </a:p>
          <a:p>
            <a:pPr marL="457200" indent="-457200">
              <a:buFont typeface="Calibri"/>
              <a:buChar char="-"/>
            </a:pPr>
            <a:endParaRPr lang="en-US" sz="3200">
              <a:ea typeface="+mn-lt"/>
              <a:cs typeface="+mn-lt"/>
            </a:endParaRPr>
          </a:p>
          <a:p>
            <a:pPr marL="457200" indent="-457200">
              <a:buFont typeface="Calibri"/>
              <a:buChar char="-"/>
            </a:pPr>
            <a:r>
              <a:rPr lang="en-US" sz="3200">
                <a:ea typeface="+mn-lt"/>
                <a:cs typeface="+mn-lt"/>
              </a:rPr>
              <a:t>To emulate real-world conditions, we also introduced flicker noise (1/f noise) into the input signal. This helps evaluate the filter’s robustness under practical noise environments.</a:t>
            </a:r>
          </a:p>
          <a:p>
            <a:pPr marL="457200" indent="-457200">
              <a:buFont typeface="Calibri"/>
              <a:buChar char="-"/>
            </a:pPr>
            <a:endParaRPr lang="en-US" sz="3200">
              <a:ea typeface="+mn-lt"/>
              <a:cs typeface="+mn-lt"/>
            </a:endParaRPr>
          </a:p>
          <a:p>
            <a:pPr marL="457200" indent="-457200">
              <a:buFont typeface="Calibri"/>
              <a:buChar char="-"/>
            </a:pPr>
            <a:r>
              <a:rPr lang="en-US" sz="3200">
                <a:ea typeface="+mn-lt"/>
                <a:cs typeface="+mn-lt"/>
              </a:rPr>
              <a:t>The following mathematical model is used for generating flicker noise:</a:t>
            </a:r>
          </a:p>
          <a:p>
            <a:pPr marL="457200" indent="-457200">
              <a:buFont typeface="Calibri"/>
              <a:buChar char="-"/>
            </a:pPr>
            <a:endParaRPr lang="en-US" sz="3200">
              <a:ea typeface="+mn-lt"/>
              <a:cs typeface="+mn-lt"/>
            </a:endParaRPr>
          </a:p>
          <a:p>
            <a:pPr marL="457200" indent="-457200">
              <a:buFont typeface="Calibri"/>
              <a:buChar char="-"/>
            </a:pPr>
            <a:endParaRPr lang="en-US" sz="3200">
              <a:latin typeface="Calibri"/>
              <a:ea typeface="Calibri"/>
              <a:cs typeface="Calibri"/>
            </a:endParaRPr>
          </a:p>
          <a:p>
            <a:endParaRPr lang="en-US" sz="3200">
              <a:latin typeface="Calibri"/>
              <a:ea typeface="Calibri"/>
              <a:cs typeface="Calibri"/>
            </a:endParaRPr>
          </a:p>
        </p:txBody>
      </p:sp>
      <p:sp>
        <p:nvSpPr>
          <p:cNvPr id="2" name="TextBox 1">
            <a:extLst>
              <a:ext uri="{FF2B5EF4-FFF2-40B4-BE49-F238E27FC236}">
                <a16:creationId xmlns:a16="http://schemas.microsoft.com/office/drawing/2014/main" id="{46EED84E-0AB1-88BF-9A39-594A9A900555}"/>
              </a:ext>
            </a:extLst>
          </p:cNvPr>
          <p:cNvSpPr txBox="1"/>
          <p:nvPr/>
        </p:nvSpPr>
        <p:spPr>
          <a:xfrm>
            <a:off x="3969394" y="7661084"/>
            <a:ext cx="14795176"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ea typeface="+mn-lt"/>
                <a:cs typeface="+mn-lt"/>
              </a:rPr>
              <a:t>noise</a:t>
            </a:r>
            <a:r>
              <a:rPr lang="en-US" sz="3200">
                <a:ea typeface="+mn-lt"/>
                <a:cs typeface="+mn-lt"/>
              </a:rPr>
              <a:t> = (FLICKER_AMP * ($random % 100 - 50)) / 3.0;</a:t>
            </a:r>
            <a:br>
              <a:rPr lang="en-US" sz="3200">
                <a:ea typeface="+mn-lt"/>
                <a:cs typeface="+mn-lt"/>
              </a:rPr>
            </a:br>
            <a:br>
              <a:rPr lang="en-US" sz="3200">
                <a:ea typeface="Calibri"/>
                <a:cs typeface="Calibri"/>
              </a:rPr>
            </a:br>
            <a:r>
              <a:rPr lang="en-US" sz="3200" b="1" err="1">
                <a:ea typeface="+mn-lt"/>
                <a:cs typeface="+mn-lt"/>
              </a:rPr>
              <a:t>noise_prev</a:t>
            </a:r>
            <a:r>
              <a:rPr lang="en-US" sz="3200">
                <a:ea typeface="+mn-lt"/>
                <a:cs typeface="+mn-lt"/>
              </a:rPr>
              <a:t> = 0.3 * </a:t>
            </a:r>
            <a:r>
              <a:rPr lang="en-US" sz="3200" err="1">
                <a:ea typeface="+mn-lt"/>
                <a:cs typeface="+mn-lt"/>
              </a:rPr>
              <a:t>noise_prev</a:t>
            </a:r>
            <a:r>
              <a:rPr lang="en-US" sz="3200">
                <a:ea typeface="+mn-lt"/>
                <a:cs typeface="+mn-lt"/>
              </a:rPr>
              <a:t> + 0.7 * noise;</a:t>
            </a:r>
            <a:endParaRPr lang="en-US" sz="3200">
              <a:ea typeface="Calibri"/>
              <a:cs typeface="Calibri"/>
            </a:endParaRPr>
          </a:p>
          <a:p>
            <a:pPr marL="457200" indent="-457200">
              <a:buFont typeface="Calibri"/>
              <a:buChar char="-"/>
            </a:pPr>
            <a:endParaRPr lang="en-US" sz="3200">
              <a:latin typeface="Calibri"/>
              <a:ea typeface="Calibri"/>
              <a:cs typeface="Calibri"/>
            </a:endParaRPr>
          </a:p>
          <a:p>
            <a:r>
              <a:rPr lang="en-US" sz="3200" b="1" err="1">
                <a:ea typeface="+mn-lt"/>
                <a:cs typeface="+mn-lt"/>
              </a:rPr>
              <a:t>adc_input</a:t>
            </a:r>
            <a:r>
              <a:rPr lang="en-US" sz="3200">
                <a:ea typeface="+mn-lt"/>
                <a:cs typeface="+mn-lt"/>
              </a:rPr>
              <a:t> = </a:t>
            </a:r>
            <a:r>
              <a:rPr lang="en-US" sz="3200" err="1">
                <a:ea typeface="+mn-lt"/>
                <a:cs typeface="+mn-lt"/>
              </a:rPr>
              <a:t>base_signal</a:t>
            </a:r>
            <a:r>
              <a:rPr lang="en-US" sz="3200">
                <a:ea typeface="+mn-lt"/>
                <a:cs typeface="+mn-lt"/>
              </a:rPr>
              <a:t> + </a:t>
            </a:r>
            <a:r>
              <a:rPr lang="en-US" sz="3200" err="1">
                <a:ea typeface="+mn-lt"/>
                <a:cs typeface="+mn-lt"/>
              </a:rPr>
              <a:t>noise_prev</a:t>
            </a:r>
            <a:r>
              <a:rPr lang="en-US" sz="3200">
                <a:ea typeface="+mn-lt"/>
                <a:cs typeface="+mn-lt"/>
              </a:rPr>
              <a:t>;</a:t>
            </a:r>
            <a:endParaRPr lang="en-US"/>
          </a:p>
          <a:p>
            <a:endParaRPr lang="en-US" sz="3200">
              <a:latin typeface="Calibri"/>
              <a:ea typeface="Calibri"/>
              <a:cs typeface="Calibri"/>
            </a:endParaRPr>
          </a:p>
        </p:txBody>
      </p:sp>
      <p:sp>
        <p:nvSpPr>
          <p:cNvPr id="7" name="TextBox 6">
            <a:extLst>
              <a:ext uri="{FF2B5EF4-FFF2-40B4-BE49-F238E27FC236}">
                <a16:creationId xmlns:a16="http://schemas.microsoft.com/office/drawing/2014/main" id="{69AB655C-F52F-16C4-4B48-824E064B02DD}"/>
              </a:ext>
            </a:extLst>
          </p:cNvPr>
          <p:cNvSpPr txBox="1"/>
          <p:nvPr/>
        </p:nvSpPr>
        <p:spPr>
          <a:xfrm>
            <a:off x="5287585" y="178087"/>
            <a:ext cx="7728027" cy="923330"/>
          </a:xfrm>
          <a:prstGeom prst="rect">
            <a:avLst/>
          </a:prstGeom>
          <a:noFill/>
        </p:spPr>
        <p:txBody>
          <a:bodyPr wrap="square" lIns="91440" tIns="45720" rIns="91440" bIns="45720" rtlCol="0" anchor="t">
            <a:spAutoFit/>
          </a:bodyPr>
          <a:lstStyle/>
          <a:p>
            <a:r>
              <a:rPr lang="en-US" sz="5400">
                <a:solidFill>
                  <a:schemeClr val="bg1"/>
                </a:solidFill>
              </a:rPr>
              <a:t>Design and Simulation</a:t>
            </a:r>
            <a:endParaRPr lang="en-US">
              <a:solidFill>
                <a:schemeClr val="bg1"/>
              </a:solidFill>
            </a:endParaRPr>
          </a:p>
        </p:txBody>
      </p:sp>
    </p:spTree>
    <p:extLst>
      <p:ext uri="{BB962C8B-B14F-4D97-AF65-F5344CB8AC3E}">
        <p14:creationId xmlns:p14="http://schemas.microsoft.com/office/powerpoint/2010/main" val="22284757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03BD2-05CD-C148-338F-D47AA332879E}"/>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6B5E54A-55A2-B969-1DAB-21B942123DBC}"/>
              </a:ext>
            </a:extLst>
          </p:cNvPr>
          <p:cNvSpPr/>
          <p:nvPr/>
        </p:nvSpPr>
        <p:spPr>
          <a:xfrm>
            <a:off x="1581407" y="-277951"/>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11" name="AutoShape 11">
            <a:extLst>
              <a:ext uri="{FF2B5EF4-FFF2-40B4-BE49-F238E27FC236}">
                <a16:creationId xmlns:a16="http://schemas.microsoft.com/office/drawing/2014/main" id="{861070C6-4C27-4C67-4552-81C1EAF21C43}"/>
              </a:ext>
            </a:extLst>
          </p:cNvPr>
          <p:cNvSpPr/>
          <p:nvPr/>
        </p:nvSpPr>
        <p:spPr>
          <a:xfrm rot="5400000">
            <a:off x="16399966" y="6264625"/>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12" name="TextBox 12">
            <a:extLst>
              <a:ext uri="{FF2B5EF4-FFF2-40B4-BE49-F238E27FC236}">
                <a16:creationId xmlns:a16="http://schemas.microsoft.com/office/drawing/2014/main" id="{9E2FC89B-F567-7962-42E2-870560649D4E}"/>
              </a:ext>
            </a:extLst>
          </p:cNvPr>
          <p:cNvSpPr txBox="1"/>
          <p:nvPr/>
        </p:nvSpPr>
        <p:spPr>
          <a:xfrm rot="-5400000">
            <a:off x="17310518" y="8275412"/>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13" name="TextBox 13">
            <a:extLst>
              <a:ext uri="{FF2B5EF4-FFF2-40B4-BE49-F238E27FC236}">
                <a16:creationId xmlns:a16="http://schemas.microsoft.com/office/drawing/2014/main" id="{202942DB-AC17-59DC-A4BF-499EECA0937A}"/>
              </a:ext>
            </a:extLst>
          </p:cNvPr>
          <p:cNvSpPr txBox="1"/>
          <p:nvPr/>
        </p:nvSpPr>
        <p:spPr>
          <a:xfrm rot="-5400000">
            <a:off x="16161626" y="2739884"/>
            <a:ext cx="3231104" cy="272161"/>
          </a:xfrm>
          <a:prstGeom prst="rect">
            <a:avLst/>
          </a:prstGeom>
        </p:spPr>
        <p:txBody>
          <a:bodyPr lIns="0" tIns="0" rIns="0" bIns="0" rtlCol="0" anchor="t">
            <a:spAutoFit/>
          </a:bodyPr>
          <a:lstStyle/>
          <a:p>
            <a:pPr algn="ctr">
              <a:lnSpc>
                <a:spcPts val="2324"/>
              </a:lnSpc>
            </a:pPr>
            <a:r>
              <a:rPr lang="en-US" sz="1660">
                <a:solidFill>
                  <a:srgbClr val="FFFFFF"/>
                </a:solidFill>
                <a:latin typeface="Quicksand"/>
                <a:ea typeface="Quicksand"/>
                <a:cs typeface="Quicksand"/>
                <a:sym typeface="Quicksand"/>
              </a:rPr>
              <a:t>www.reallygreatsite.com </a:t>
            </a:r>
          </a:p>
        </p:txBody>
      </p:sp>
      <p:sp>
        <p:nvSpPr>
          <p:cNvPr id="14" name="Freeform 14">
            <a:extLst>
              <a:ext uri="{FF2B5EF4-FFF2-40B4-BE49-F238E27FC236}">
                <a16:creationId xmlns:a16="http://schemas.microsoft.com/office/drawing/2014/main" id="{B9BCDD48-885B-2032-38D6-2EC84D0BF4C6}"/>
              </a:ext>
            </a:extLst>
          </p:cNvPr>
          <p:cNvSpPr/>
          <p:nvPr/>
        </p:nvSpPr>
        <p:spPr>
          <a:xfrm>
            <a:off x="1116739" y="764505"/>
            <a:ext cx="207288" cy="169717"/>
          </a:xfrm>
          <a:custGeom>
            <a:avLst/>
            <a:gdLst/>
            <a:ahLst/>
            <a:cxnLst/>
            <a:rect l="l" t="t" r="r" b="b"/>
            <a:pathLst>
              <a:path w="207288" h="169717">
                <a:moveTo>
                  <a:pt x="0" y="0"/>
                </a:moveTo>
                <a:lnTo>
                  <a:pt x="207288" y="0"/>
                </a:lnTo>
                <a:lnTo>
                  <a:pt x="207288" y="169716"/>
                </a:lnTo>
                <a:lnTo>
                  <a:pt x="0" y="1697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TextBox 15">
            <a:extLst>
              <a:ext uri="{FF2B5EF4-FFF2-40B4-BE49-F238E27FC236}">
                <a16:creationId xmlns:a16="http://schemas.microsoft.com/office/drawing/2014/main" id="{59BBA0AD-6CF0-44DB-634A-9812D9ECAF4C}"/>
              </a:ext>
            </a:extLst>
          </p:cNvPr>
          <p:cNvSpPr txBox="1"/>
          <p:nvPr/>
        </p:nvSpPr>
        <p:spPr>
          <a:xfrm>
            <a:off x="5955103" y="183153"/>
            <a:ext cx="6318849" cy="923330"/>
          </a:xfrm>
          <a:prstGeom prst="rect">
            <a:avLst/>
          </a:prstGeom>
          <a:noFill/>
        </p:spPr>
        <p:txBody>
          <a:bodyPr wrap="square" lIns="91440" tIns="45720" rIns="91440" bIns="45720" rtlCol="0" anchor="t">
            <a:spAutoFit/>
          </a:bodyPr>
          <a:lstStyle/>
          <a:p>
            <a:r>
              <a:rPr lang="en-US" sz="5400">
                <a:solidFill>
                  <a:schemeClr val="bg1"/>
                </a:solidFill>
              </a:rPr>
              <a:t>Simulation Result</a:t>
            </a:r>
            <a:endParaRPr lang="en-IN" sz="5400">
              <a:solidFill>
                <a:schemeClr val="bg1"/>
              </a:solidFill>
            </a:endParaRPr>
          </a:p>
        </p:txBody>
      </p:sp>
      <p:pic>
        <p:nvPicPr>
          <p:cNvPr id="2" name="Picture 1">
            <a:extLst>
              <a:ext uri="{FF2B5EF4-FFF2-40B4-BE49-F238E27FC236}">
                <a16:creationId xmlns:a16="http://schemas.microsoft.com/office/drawing/2014/main" id="{586F3529-4CA2-55CB-BCBE-E5426B4B1BC2}"/>
              </a:ext>
            </a:extLst>
          </p:cNvPr>
          <p:cNvPicPr>
            <a:picLocks noChangeAspect="1"/>
          </p:cNvPicPr>
          <p:nvPr/>
        </p:nvPicPr>
        <p:blipFill>
          <a:blip r:embed="rId4"/>
          <a:stretch>
            <a:fillRect/>
          </a:stretch>
        </p:blipFill>
        <p:spPr>
          <a:xfrm>
            <a:off x="802901" y="2388253"/>
            <a:ext cx="16631771" cy="6838390"/>
          </a:xfrm>
          <a:prstGeom prst="rect">
            <a:avLst/>
          </a:prstGeom>
        </p:spPr>
      </p:pic>
    </p:spTree>
    <p:extLst>
      <p:ext uri="{BB962C8B-B14F-4D97-AF65-F5344CB8AC3E}">
        <p14:creationId xmlns:p14="http://schemas.microsoft.com/office/powerpoint/2010/main" val="36189326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E606A-8D70-BB07-53A3-8D95242D4917}"/>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AA7D95D7-081F-E4F7-A299-69F0C81C683E}"/>
              </a:ext>
            </a:extLst>
          </p:cNvPr>
          <p:cNvSpPr txBox="1"/>
          <p:nvPr/>
        </p:nvSpPr>
        <p:spPr>
          <a:xfrm>
            <a:off x="1252675" y="7721643"/>
            <a:ext cx="1669427" cy="322287"/>
          </a:xfrm>
          <a:prstGeom prst="rect">
            <a:avLst/>
          </a:prstGeom>
        </p:spPr>
        <p:txBody>
          <a:bodyPr lIns="0" tIns="0" rIns="0" bIns="0" rtlCol="0" anchor="t">
            <a:spAutoFit/>
          </a:bodyPr>
          <a:lstStyle/>
          <a:p>
            <a:pPr algn="l">
              <a:lnSpc>
                <a:spcPts val="2576"/>
              </a:lnSpc>
            </a:pPr>
            <a:r>
              <a:rPr lang="en-US" sz="1840" b="1">
                <a:solidFill>
                  <a:srgbClr val="FFFFFF"/>
                </a:solidFill>
                <a:latin typeface="Poppins Bold"/>
                <a:ea typeface="Poppins Bold"/>
                <a:cs typeface="Poppins Bold"/>
                <a:sym typeface="Poppins Bold"/>
              </a:rPr>
              <a:t>1.6 Billion</a:t>
            </a:r>
          </a:p>
        </p:txBody>
      </p:sp>
      <p:sp>
        <p:nvSpPr>
          <p:cNvPr id="5" name="TextBox 5">
            <a:extLst>
              <a:ext uri="{FF2B5EF4-FFF2-40B4-BE49-F238E27FC236}">
                <a16:creationId xmlns:a16="http://schemas.microsoft.com/office/drawing/2014/main" id="{E6ACD77D-CE42-0CF0-22F0-A645F30FC001}"/>
              </a:ext>
            </a:extLst>
          </p:cNvPr>
          <p:cNvSpPr txBox="1"/>
          <p:nvPr/>
        </p:nvSpPr>
        <p:spPr>
          <a:xfrm>
            <a:off x="1252675" y="8075088"/>
            <a:ext cx="1669427" cy="148590"/>
          </a:xfrm>
          <a:prstGeom prst="rect">
            <a:avLst/>
          </a:prstGeom>
        </p:spPr>
        <p:txBody>
          <a:bodyPr lIns="0" tIns="0" rIns="0" bIns="0" rtlCol="0" anchor="t">
            <a:spAutoFit/>
          </a:bodyPr>
          <a:lstStyle/>
          <a:p>
            <a:pPr algn="l">
              <a:lnSpc>
                <a:spcPts val="1259"/>
              </a:lnSpc>
            </a:pPr>
            <a:r>
              <a:rPr lang="en-US" sz="899" b="1">
                <a:solidFill>
                  <a:srgbClr val="FFFFFF"/>
                </a:solidFill>
                <a:latin typeface="Poppins Bold"/>
                <a:ea typeface="Poppins Bold"/>
                <a:cs typeface="Poppins Bold"/>
                <a:sym typeface="Poppins Bold"/>
              </a:rPr>
              <a:t>Total Available Market </a:t>
            </a:r>
          </a:p>
        </p:txBody>
      </p:sp>
      <p:sp>
        <p:nvSpPr>
          <p:cNvPr id="6" name="TextBox 6">
            <a:extLst>
              <a:ext uri="{FF2B5EF4-FFF2-40B4-BE49-F238E27FC236}">
                <a16:creationId xmlns:a16="http://schemas.microsoft.com/office/drawing/2014/main" id="{2B924CED-3135-0726-0974-537C04F3D29C}"/>
              </a:ext>
            </a:extLst>
          </p:cNvPr>
          <p:cNvSpPr txBox="1"/>
          <p:nvPr/>
        </p:nvSpPr>
        <p:spPr>
          <a:xfrm>
            <a:off x="1252675" y="7408345"/>
            <a:ext cx="77137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TAM</a:t>
            </a:r>
          </a:p>
        </p:txBody>
      </p:sp>
      <p:sp>
        <p:nvSpPr>
          <p:cNvPr id="8" name="TextBox 8">
            <a:extLst>
              <a:ext uri="{FF2B5EF4-FFF2-40B4-BE49-F238E27FC236}">
                <a16:creationId xmlns:a16="http://schemas.microsoft.com/office/drawing/2014/main" id="{8DBFEE84-1A12-2223-3AAA-266BFA094BE1}"/>
              </a:ext>
            </a:extLst>
          </p:cNvPr>
          <p:cNvSpPr txBox="1"/>
          <p:nvPr/>
        </p:nvSpPr>
        <p:spPr>
          <a:xfrm>
            <a:off x="3764298" y="8096835"/>
            <a:ext cx="2095788" cy="148590"/>
          </a:xfrm>
          <a:prstGeom prst="rect">
            <a:avLst/>
          </a:prstGeom>
        </p:spPr>
        <p:txBody>
          <a:bodyPr lIns="0" tIns="0" rIns="0" bIns="0" rtlCol="0" anchor="t">
            <a:spAutoFit/>
          </a:bodyPr>
          <a:lstStyle/>
          <a:p>
            <a:pPr algn="l">
              <a:lnSpc>
                <a:spcPts val="1260"/>
              </a:lnSpc>
            </a:pPr>
            <a:r>
              <a:rPr lang="en-US" sz="900" b="1">
                <a:solidFill>
                  <a:srgbClr val="FFFFFF"/>
                </a:solidFill>
                <a:latin typeface="Poppins Bold"/>
                <a:ea typeface="Poppins Bold"/>
                <a:cs typeface="Poppins Bold"/>
                <a:sym typeface="Poppins Bold"/>
              </a:rPr>
              <a:t>Serviceable Available Market </a:t>
            </a:r>
          </a:p>
        </p:txBody>
      </p:sp>
      <p:sp>
        <p:nvSpPr>
          <p:cNvPr id="9" name="TextBox 9">
            <a:extLst>
              <a:ext uri="{FF2B5EF4-FFF2-40B4-BE49-F238E27FC236}">
                <a16:creationId xmlns:a16="http://schemas.microsoft.com/office/drawing/2014/main" id="{45B8DF16-73CC-B95B-1915-60C5255D8C80}"/>
              </a:ext>
            </a:extLst>
          </p:cNvPr>
          <p:cNvSpPr txBox="1"/>
          <p:nvPr/>
        </p:nvSpPr>
        <p:spPr>
          <a:xfrm>
            <a:off x="3764298" y="7408345"/>
            <a:ext cx="69398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SAM</a:t>
            </a:r>
          </a:p>
        </p:txBody>
      </p:sp>
      <p:sp>
        <p:nvSpPr>
          <p:cNvPr id="10" name="TextBox 10">
            <a:extLst>
              <a:ext uri="{FF2B5EF4-FFF2-40B4-BE49-F238E27FC236}">
                <a16:creationId xmlns:a16="http://schemas.microsoft.com/office/drawing/2014/main" id="{2F5986D1-74F4-4A9C-6B66-D64C949CEE78}"/>
              </a:ext>
            </a:extLst>
          </p:cNvPr>
          <p:cNvSpPr txBox="1"/>
          <p:nvPr/>
        </p:nvSpPr>
        <p:spPr>
          <a:xfrm>
            <a:off x="6275921" y="7721643"/>
            <a:ext cx="1666072" cy="322287"/>
          </a:xfrm>
          <a:prstGeom prst="rect">
            <a:avLst/>
          </a:prstGeom>
        </p:spPr>
        <p:txBody>
          <a:bodyPr lIns="0" tIns="0" rIns="0" bIns="0" rtlCol="0" anchor="t">
            <a:spAutoFit/>
          </a:bodyPr>
          <a:lstStyle/>
          <a:p>
            <a:pPr algn="l">
              <a:lnSpc>
                <a:spcPts val="2576"/>
              </a:lnSpc>
            </a:pPr>
            <a:r>
              <a:rPr lang="en-US" sz="1840" b="1">
                <a:solidFill>
                  <a:srgbClr val="FFFFFF"/>
                </a:solidFill>
                <a:latin typeface="Poppins Bold"/>
                <a:ea typeface="Poppins Bold"/>
                <a:cs typeface="Poppins Bold"/>
                <a:sym typeface="Poppins Bold"/>
              </a:rPr>
              <a:t>181 Million</a:t>
            </a:r>
          </a:p>
        </p:txBody>
      </p:sp>
      <p:sp>
        <p:nvSpPr>
          <p:cNvPr id="11" name="TextBox 11">
            <a:extLst>
              <a:ext uri="{FF2B5EF4-FFF2-40B4-BE49-F238E27FC236}">
                <a16:creationId xmlns:a16="http://schemas.microsoft.com/office/drawing/2014/main" id="{A62D62DC-AD55-B5E3-DE63-4FEB6E42FBCC}"/>
              </a:ext>
            </a:extLst>
          </p:cNvPr>
          <p:cNvSpPr txBox="1"/>
          <p:nvPr/>
        </p:nvSpPr>
        <p:spPr>
          <a:xfrm>
            <a:off x="6275921" y="8096835"/>
            <a:ext cx="2027367" cy="148590"/>
          </a:xfrm>
          <a:prstGeom prst="rect">
            <a:avLst/>
          </a:prstGeom>
        </p:spPr>
        <p:txBody>
          <a:bodyPr lIns="0" tIns="0" rIns="0" bIns="0" rtlCol="0" anchor="t">
            <a:spAutoFit/>
          </a:bodyPr>
          <a:lstStyle/>
          <a:p>
            <a:pPr algn="l">
              <a:lnSpc>
                <a:spcPts val="1260"/>
              </a:lnSpc>
            </a:pPr>
            <a:r>
              <a:rPr lang="en-US" sz="900" b="1">
                <a:solidFill>
                  <a:srgbClr val="FFFFFF"/>
                </a:solidFill>
                <a:latin typeface="Poppins Bold"/>
                <a:ea typeface="Poppins Bold"/>
                <a:cs typeface="Poppins Bold"/>
                <a:sym typeface="Poppins Bold"/>
              </a:rPr>
              <a:t>Serviceable Obtainable Market </a:t>
            </a:r>
          </a:p>
        </p:txBody>
      </p:sp>
      <p:sp>
        <p:nvSpPr>
          <p:cNvPr id="12" name="TextBox 12">
            <a:extLst>
              <a:ext uri="{FF2B5EF4-FFF2-40B4-BE49-F238E27FC236}">
                <a16:creationId xmlns:a16="http://schemas.microsoft.com/office/drawing/2014/main" id="{3E41843C-FB32-C96B-B286-EE2F282AD72E}"/>
              </a:ext>
            </a:extLst>
          </p:cNvPr>
          <p:cNvSpPr txBox="1"/>
          <p:nvPr/>
        </p:nvSpPr>
        <p:spPr>
          <a:xfrm>
            <a:off x="6275921" y="7408345"/>
            <a:ext cx="70740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SOM</a:t>
            </a:r>
          </a:p>
        </p:txBody>
      </p:sp>
      <p:sp>
        <p:nvSpPr>
          <p:cNvPr id="29" name="AutoShape 29">
            <a:extLst>
              <a:ext uri="{FF2B5EF4-FFF2-40B4-BE49-F238E27FC236}">
                <a16:creationId xmlns:a16="http://schemas.microsoft.com/office/drawing/2014/main" id="{8F6763FA-83E1-2A14-FF49-4C9C6F17E985}"/>
              </a:ext>
            </a:extLst>
          </p:cNvPr>
          <p:cNvSpPr/>
          <p:nvPr/>
        </p:nvSpPr>
        <p:spPr>
          <a:xfrm rot="5400000">
            <a:off x="3008122" y="7812274"/>
            <a:ext cx="659629" cy="0"/>
          </a:xfrm>
          <a:prstGeom prst="line">
            <a:avLst/>
          </a:prstGeom>
          <a:ln w="19050" cap="rnd">
            <a:solidFill>
              <a:srgbClr val="FFFFFF"/>
            </a:solidFill>
            <a:prstDash val="solid"/>
            <a:headEnd type="none" w="sm" len="sm"/>
            <a:tailEnd type="none" w="sm" len="sm"/>
          </a:ln>
        </p:spPr>
        <p:txBody>
          <a:bodyPr/>
          <a:lstStyle/>
          <a:p>
            <a:endParaRPr lang="en-IN"/>
          </a:p>
        </p:txBody>
      </p:sp>
      <p:sp>
        <p:nvSpPr>
          <p:cNvPr id="2" name="TextBox 1">
            <a:extLst>
              <a:ext uri="{FF2B5EF4-FFF2-40B4-BE49-F238E27FC236}">
                <a16:creationId xmlns:a16="http://schemas.microsoft.com/office/drawing/2014/main" id="{1560BF3B-FB3C-6906-08E4-3CB7137A4A88}"/>
              </a:ext>
            </a:extLst>
          </p:cNvPr>
          <p:cNvSpPr txBox="1"/>
          <p:nvPr/>
        </p:nvSpPr>
        <p:spPr>
          <a:xfrm>
            <a:off x="1635978" y="2204328"/>
            <a:ext cx="9397650"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8800" b="1">
              <a:latin typeface="Poppins Bold"/>
              <a:ea typeface="Batang"/>
              <a:cs typeface="Poppins Bold"/>
            </a:endParaRPr>
          </a:p>
          <a:p>
            <a:r>
              <a:rPr lang="en-US" sz="8800" b="1">
                <a:latin typeface="Poppins Bold"/>
                <a:ea typeface="Batang"/>
                <a:cs typeface="Poppins Bold"/>
              </a:rPr>
              <a:t>SYNTHESIS &amp; ASIC FLOW</a:t>
            </a:r>
            <a:endParaRPr lang="en-US">
              <a:ea typeface="Calibri"/>
              <a:cs typeface="Calibri"/>
            </a:endParaRPr>
          </a:p>
        </p:txBody>
      </p:sp>
      <p:grpSp>
        <p:nvGrpSpPr>
          <p:cNvPr id="13" name="Group 24">
            <a:extLst>
              <a:ext uri="{FF2B5EF4-FFF2-40B4-BE49-F238E27FC236}">
                <a16:creationId xmlns:a16="http://schemas.microsoft.com/office/drawing/2014/main" id="{0C6BF81B-FECC-8FB5-7CB3-548894F0CE3D}"/>
              </a:ext>
            </a:extLst>
          </p:cNvPr>
          <p:cNvGrpSpPr/>
          <p:nvPr/>
        </p:nvGrpSpPr>
        <p:grpSpPr>
          <a:xfrm>
            <a:off x="16711286" y="1028700"/>
            <a:ext cx="1952277" cy="8229600"/>
            <a:chOff x="0" y="0"/>
            <a:chExt cx="660400" cy="2783840"/>
          </a:xfrm>
        </p:grpSpPr>
        <p:sp>
          <p:nvSpPr>
            <p:cNvPr id="7" name="Freeform 25">
              <a:extLst>
                <a:ext uri="{FF2B5EF4-FFF2-40B4-BE49-F238E27FC236}">
                  <a16:creationId xmlns:a16="http://schemas.microsoft.com/office/drawing/2014/main" id="{25B5C20F-42E7-29B1-DA48-29D7C90E9B90}"/>
                </a:ext>
              </a:extLst>
            </p:cNvPr>
            <p:cNvSpPr/>
            <p:nvPr/>
          </p:nvSpPr>
          <p:spPr>
            <a:xfrm>
              <a:off x="0" y="0"/>
              <a:ext cx="660400" cy="2783840"/>
            </a:xfrm>
            <a:custGeom>
              <a:avLst/>
              <a:gdLst/>
              <a:ahLst/>
              <a:cxnLst/>
              <a:rect l="l" t="t" r="r" b="b"/>
              <a:pathLst>
                <a:path w="660400" h="2783840">
                  <a:moveTo>
                    <a:pt x="535940" y="2783840"/>
                  </a:moveTo>
                  <a:lnTo>
                    <a:pt x="124460" y="2783840"/>
                  </a:lnTo>
                  <a:cubicBezTo>
                    <a:pt x="55880" y="2783840"/>
                    <a:pt x="0" y="2727960"/>
                    <a:pt x="0" y="2659380"/>
                  </a:cubicBezTo>
                  <a:lnTo>
                    <a:pt x="0" y="124460"/>
                  </a:lnTo>
                  <a:cubicBezTo>
                    <a:pt x="0" y="55880"/>
                    <a:pt x="55880" y="0"/>
                    <a:pt x="124460" y="0"/>
                  </a:cubicBezTo>
                  <a:lnTo>
                    <a:pt x="535940" y="0"/>
                  </a:lnTo>
                  <a:cubicBezTo>
                    <a:pt x="604520" y="0"/>
                    <a:pt x="660400" y="55880"/>
                    <a:pt x="660400" y="124460"/>
                  </a:cubicBezTo>
                  <a:lnTo>
                    <a:pt x="660400" y="2659380"/>
                  </a:lnTo>
                  <a:cubicBezTo>
                    <a:pt x="660400" y="2727960"/>
                    <a:pt x="604520" y="2783840"/>
                    <a:pt x="535940" y="2783840"/>
                  </a:cubicBezTo>
                  <a:close/>
                </a:path>
              </a:pathLst>
            </a:custGeom>
            <a:solidFill>
              <a:srgbClr val="FF914D"/>
            </a:solidFill>
          </p:spPr>
          <p:txBody>
            <a:bodyPr/>
            <a:lstStyle/>
            <a:p>
              <a:endParaRPr lang="en-IN"/>
            </a:p>
          </p:txBody>
        </p:sp>
      </p:grpSp>
    </p:spTree>
    <p:extLst>
      <p:ext uri="{BB962C8B-B14F-4D97-AF65-F5344CB8AC3E}">
        <p14:creationId xmlns:p14="http://schemas.microsoft.com/office/powerpoint/2010/main" val="16665249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62F327A-B1ED-F663-AFF6-942A326B7FAA}"/>
              </a:ext>
            </a:extLst>
          </p:cNvPr>
          <p:cNvSpPr/>
          <p:nvPr/>
        </p:nvSpPr>
        <p:spPr>
          <a:xfrm>
            <a:off x="1581407" y="-277951"/>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9" name="TextBox 9"/>
          <p:cNvSpPr txBox="1"/>
          <p:nvPr/>
        </p:nvSpPr>
        <p:spPr>
          <a:xfrm>
            <a:off x="11696179" y="9592446"/>
            <a:ext cx="3077236" cy="291211"/>
          </a:xfrm>
          <a:prstGeom prst="rect">
            <a:avLst/>
          </a:prstGeom>
        </p:spPr>
        <p:txBody>
          <a:bodyPr lIns="0" tIns="0" rIns="0" bIns="0" rtlCol="0" anchor="t">
            <a:spAutoFit/>
          </a:bodyPr>
          <a:lstStyle/>
          <a:p>
            <a:pPr algn="l">
              <a:lnSpc>
                <a:spcPts val="2324"/>
              </a:lnSpc>
            </a:pPr>
            <a:r>
              <a:rPr lang="en-US" sz="1660">
                <a:solidFill>
                  <a:srgbClr val="FFFFFF"/>
                </a:solidFill>
                <a:latin typeface="Poppins"/>
                <a:ea typeface="Poppins"/>
                <a:cs typeface="Poppins"/>
                <a:sym typeface="Poppins"/>
              </a:rPr>
              <a:t>www.reallygreatsite.com </a:t>
            </a:r>
          </a:p>
        </p:txBody>
      </p:sp>
      <p:sp>
        <p:nvSpPr>
          <p:cNvPr id="14" name="AutoShape 14"/>
          <p:cNvSpPr/>
          <p:nvPr/>
        </p:nvSpPr>
        <p:spPr>
          <a:xfrm rot="5400000">
            <a:off x="16399966" y="6264625"/>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15" name="TextBox 15"/>
          <p:cNvSpPr txBox="1"/>
          <p:nvPr/>
        </p:nvSpPr>
        <p:spPr>
          <a:xfrm rot="-5400000">
            <a:off x="17310518" y="8275412"/>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16" name="TextBox 16"/>
          <p:cNvSpPr txBox="1"/>
          <p:nvPr/>
        </p:nvSpPr>
        <p:spPr>
          <a:xfrm rot="-5400000">
            <a:off x="16161626" y="2739884"/>
            <a:ext cx="3231104" cy="272161"/>
          </a:xfrm>
          <a:prstGeom prst="rect">
            <a:avLst/>
          </a:prstGeom>
        </p:spPr>
        <p:txBody>
          <a:bodyPr lIns="0" tIns="0" rIns="0" bIns="0" rtlCol="0" anchor="t">
            <a:spAutoFit/>
          </a:bodyPr>
          <a:lstStyle/>
          <a:p>
            <a:pPr algn="ctr">
              <a:lnSpc>
                <a:spcPts val="2324"/>
              </a:lnSpc>
            </a:pPr>
            <a:r>
              <a:rPr lang="en-US" sz="1660">
                <a:solidFill>
                  <a:srgbClr val="FFFFFF"/>
                </a:solidFill>
                <a:latin typeface="Quicksand"/>
                <a:ea typeface="Quicksand"/>
                <a:cs typeface="Quicksand"/>
                <a:sym typeface="Quicksand"/>
              </a:rPr>
              <a:t>www.reallygreatsite.com </a:t>
            </a:r>
          </a:p>
        </p:txBody>
      </p:sp>
      <p:sp>
        <p:nvSpPr>
          <p:cNvPr id="21" name="TextBox 20">
            <a:extLst>
              <a:ext uri="{FF2B5EF4-FFF2-40B4-BE49-F238E27FC236}">
                <a16:creationId xmlns:a16="http://schemas.microsoft.com/office/drawing/2014/main" id="{9E55A93C-E1F0-8973-50F6-DC8A45CCEFD4}"/>
              </a:ext>
            </a:extLst>
          </p:cNvPr>
          <p:cNvSpPr txBox="1"/>
          <p:nvPr/>
        </p:nvSpPr>
        <p:spPr>
          <a:xfrm>
            <a:off x="675557" y="2404758"/>
            <a:ext cx="14795176" cy="74789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sz="3200">
                <a:ea typeface="+mn-lt"/>
                <a:cs typeface="+mn-lt"/>
              </a:rPr>
              <a:t>Used </a:t>
            </a:r>
            <a:r>
              <a:rPr lang="en-US" sz="3200" b="1">
                <a:ea typeface="+mn-lt"/>
                <a:cs typeface="+mn-lt"/>
              </a:rPr>
              <a:t>Synopsys Design Compiler (DC)</a:t>
            </a:r>
            <a:r>
              <a:rPr lang="en-US" sz="3200">
                <a:ea typeface="+mn-lt"/>
                <a:cs typeface="+mn-lt"/>
              </a:rPr>
              <a:t> for RTL-to-gate-level synthesis of our  design.</a:t>
            </a:r>
            <a:endParaRPr lang="en-US" sz="3200">
              <a:ea typeface="Calibri"/>
              <a:cs typeface="Calibri"/>
            </a:endParaRPr>
          </a:p>
          <a:p>
            <a:endParaRPr lang="en-US" sz="3200">
              <a:ea typeface="+mn-lt"/>
              <a:cs typeface="+mn-lt"/>
            </a:endParaRPr>
          </a:p>
          <a:p>
            <a:pPr>
              <a:buFont typeface="Calibri"/>
              <a:buChar char="-"/>
            </a:pPr>
            <a:r>
              <a:rPr lang="en-US" sz="3200" b="1">
                <a:ea typeface="+mn-lt"/>
                <a:cs typeface="+mn-lt"/>
              </a:rPr>
              <a:t>Target and link libraries:</a:t>
            </a:r>
            <a:endParaRPr lang="en-US" sz="3200">
              <a:ea typeface="Calibri"/>
              <a:cs typeface="Calibri"/>
            </a:endParaRPr>
          </a:p>
          <a:p>
            <a:pPr marL="914400" lvl="1" indent="-457200">
              <a:buFont typeface="Courier New"/>
              <a:buChar char="o"/>
            </a:pPr>
            <a:r>
              <a:rPr lang="en-US" sz="3200" b="1">
                <a:ea typeface="+mn-lt"/>
                <a:cs typeface="+mn-lt"/>
              </a:rPr>
              <a:t>  Target library:</a:t>
            </a:r>
            <a:r>
              <a:rPr lang="en-US" sz="3200">
                <a:ea typeface="+mn-lt"/>
                <a:cs typeface="+mn-lt"/>
              </a:rPr>
              <a:t> Slow corner → </a:t>
            </a:r>
            <a:r>
              <a:rPr lang="en-US" sz="3200">
                <a:latin typeface="Consolas"/>
                <a:ea typeface="Calibri"/>
                <a:cs typeface="Calibri"/>
              </a:rPr>
              <a:t>tsl18fs120_scl_ss.db</a:t>
            </a:r>
            <a:endParaRPr lang="en-US">
              <a:ea typeface="Calibri"/>
              <a:cs typeface="Calibri"/>
            </a:endParaRPr>
          </a:p>
          <a:p>
            <a:pPr lvl="1">
              <a:buFont typeface="Courier New"/>
              <a:buChar char="o"/>
            </a:pPr>
            <a:r>
              <a:rPr lang="en-US" sz="3200" b="1">
                <a:ea typeface="+mn-lt"/>
                <a:cs typeface="+mn-lt"/>
              </a:rPr>
              <a:t>     Link library:</a:t>
            </a:r>
            <a:r>
              <a:rPr lang="en-US" sz="3200">
                <a:ea typeface="+mn-lt"/>
                <a:cs typeface="+mn-lt"/>
              </a:rPr>
              <a:t> Includes both → </a:t>
            </a:r>
            <a:r>
              <a:rPr lang="en-US" sz="3200">
                <a:latin typeface="Consolas"/>
                <a:ea typeface="Calibri"/>
                <a:cs typeface="Calibri"/>
              </a:rPr>
              <a:t>ss.db</a:t>
            </a:r>
            <a:r>
              <a:rPr lang="en-US" sz="3200">
                <a:ea typeface="+mn-lt"/>
                <a:cs typeface="+mn-lt"/>
              </a:rPr>
              <a:t> + </a:t>
            </a:r>
            <a:r>
              <a:rPr lang="en-US" sz="3200">
                <a:latin typeface="Consolas"/>
                <a:ea typeface="Calibri"/>
                <a:cs typeface="Calibri"/>
              </a:rPr>
              <a:t>ff.db</a:t>
            </a:r>
            <a:endParaRPr lang="en-US">
              <a:ea typeface="Calibri"/>
              <a:cs typeface="Calibri"/>
            </a:endParaRPr>
          </a:p>
          <a:p>
            <a:pPr lvl="1"/>
            <a:endParaRPr lang="en-US" sz="3200">
              <a:latin typeface="Consolas"/>
              <a:ea typeface="+mn-lt"/>
              <a:cs typeface="+mn-lt"/>
            </a:endParaRPr>
          </a:p>
          <a:p>
            <a:pPr marL="285750" indent="-285750">
              <a:buFont typeface="Calibri"/>
              <a:buChar char="-"/>
            </a:pPr>
            <a:r>
              <a:rPr lang="en-US" sz="3200" b="1">
                <a:ea typeface="+mn-lt"/>
                <a:cs typeface="+mn-lt"/>
              </a:rPr>
              <a:t>PVT operating conditions</a:t>
            </a:r>
            <a:r>
              <a:rPr lang="en-US" sz="3200">
                <a:ea typeface="+mn-lt"/>
                <a:cs typeface="+mn-lt"/>
              </a:rPr>
              <a:t> defined from </a:t>
            </a:r>
            <a:r>
              <a:rPr lang="en-US" sz="3200">
                <a:latin typeface="Consolas"/>
                <a:ea typeface="Calibri"/>
                <a:cs typeface="Calibri"/>
              </a:rPr>
              <a:t>.lib</a:t>
            </a:r>
            <a:r>
              <a:rPr lang="en-US" sz="3200">
                <a:ea typeface="+mn-lt"/>
                <a:cs typeface="+mn-lt"/>
              </a:rPr>
              <a:t> files:</a:t>
            </a:r>
            <a:endParaRPr lang="en-US" sz="3200">
              <a:ea typeface="Calibri"/>
              <a:cs typeface="Calibri"/>
            </a:endParaRPr>
          </a:p>
          <a:p>
            <a:pPr marL="742950" lvl="1" indent="-285750">
              <a:buFont typeface="Courier New"/>
              <a:buChar char="o"/>
            </a:pPr>
            <a:r>
              <a:rPr lang="en-US" sz="3200">
                <a:ea typeface="+mn-lt"/>
                <a:cs typeface="+mn-lt"/>
              </a:rPr>
              <a:t>SS Corner(worst-case / for setup)-</a:t>
            </a:r>
            <a:endParaRPr lang="en-US" sz="3200">
              <a:ea typeface="Calibri"/>
              <a:cs typeface="Calibri"/>
            </a:endParaRPr>
          </a:p>
          <a:p>
            <a:pPr marL="1200150" lvl="2" indent="-285750">
              <a:buFont typeface="Wingdings"/>
              <a:buChar char="§"/>
            </a:pPr>
            <a:r>
              <a:rPr lang="en-US" sz="3200">
                <a:latin typeface="Consolas"/>
                <a:ea typeface="Calibri"/>
                <a:cs typeface="Calibri"/>
              </a:rPr>
              <a:t>process = 1</a:t>
            </a:r>
            <a:r>
              <a:rPr lang="en-US" sz="3200">
                <a:ea typeface="+mn-lt"/>
                <a:cs typeface="+mn-lt"/>
              </a:rPr>
              <a:t>, </a:t>
            </a:r>
            <a:r>
              <a:rPr lang="en-US" sz="3200">
                <a:latin typeface="Consolas"/>
                <a:ea typeface="Calibri"/>
                <a:cs typeface="Calibri"/>
              </a:rPr>
              <a:t>voltage = 1.62V, temp = 125°C</a:t>
            </a:r>
            <a:endParaRPr lang="en-US" sz="3200">
              <a:ea typeface="Calibri"/>
              <a:cs typeface="Calibri"/>
            </a:endParaRPr>
          </a:p>
          <a:p>
            <a:pPr marL="742950" lvl="1" indent="-285750">
              <a:buFont typeface="Courier New"/>
              <a:buChar char="o"/>
            </a:pPr>
            <a:r>
              <a:rPr lang="en-US" sz="3200">
                <a:ea typeface="+mn-lt"/>
                <a:cs typeface="+mn-lt"/>
              </a:rPr>
              <a:t>FF Corner (best-case / for hold):</a:t>
            </a:r>
            <a:endParaRPr lang="en-US" sz="3200">
              <a:latin typeface="Calibri"/>
              <a:ea typeface="Calibri"/>
              <a:cs typeface="Calibri"/>
            </a:endParaRPr>
          </a:p>
          <a:p>
            <a:pPr marL="1200150" lvl="2" indent="-285750">
              <a:buFont typeface="Wingdings"/>
              <a:buChar char="§"/>
            </a:pPr>
            <a:r>
              <a:rPr lang="en-US" sz="3200">
                <a:latin typeface="Consolas"/>
                <a:ea typeface="Calibri"/>
                <a:cs typeface="Calibri"/>
              </a:rPr>
              <a:t>process = 1</a:t>
            </a:r>
            <a:r>
              <a:rPr lang="en-US" sz="3200">
                <a:ea typeface="+mn-lt"/>
                <a:cs typeface="+mn-lt"/>
              </a:rPr>
              <a:t>, </a:t>
            </a:r>
            <a:r>
              <a:rPr lang="en-US" sz="3200">
                <a:latin typeface="Consolas"/>
                <a:ea typeface="Calibri"/>
                <a:cs typeface="Calibri"/>
              </a:rPr>
              <a:t>voltage = 1.98V, temp = –40°C</a:t>
            </a:r>
            <a:endParaRPr lang="en-US" sz="3200">
              <a:ea typeface="Calibri"/>
              <a:cs typeface="Calibri"/>
            </a:endParaRPr>
          </a:p>
          <a:p>
            <a:pPr marL="457200" indent="-457200">
              <a:buFont typeface="Calibri"/>
              <a:buChar char="-"/>
            </a:pPr>
            <a:r>
              <a:rPr lang="en-US" sz="3200">
                <a:latin typeface="Calibri"/>
                <a:ea typeface="Calibri"/>
                <a:cs typeface="Calibri"/>
              </a:rPr>
              <a:t>Generated Output : Gatelevel netlist (.v), updated timing constraint (.sdc)</a:t>
            </a:r>
          </a:p>
          <a:p>
            <a:pPr marL="457200" indent="-457200">
              <a:buFont typeface="Calibri"/>
              <a:buChar char="-"/>
            </a:pPr>
            <a:r>
              <a:rPr lang="en-US" sz="3200">
                <a:latin typeface="Calibri"/>
                <a:ea typeface="Calibri"/>
                <a:cs typeface="Calibri"/>
              </a:rPr>
              <a:t>Generated Output: Area, Power, Timing Reports</a:t>
            </a:r>
          </a:p>
          <a:p>
            <a:pPr marL="457200" indent="-457200">
              <a:buFont typeface="Calibri"/>
              <a:buChar char="-"/>
            </a:pPr>
            <a:endParaRPr lang="en-US" sz="3200">
              <a:latin typeface="Calibri"/>
              <a:ea typeface="Calibri"/>
              <a:cs typeface="Calibri"/>
            </a:endParaRPr>
          </a:p>
          <a:p>
            <a:endParaRPr lang="en-US" sz="3200">
              <a:latin typeface="Calibri"/>
              <a:ea typeface="Calibri"/>
              <a:cs typeface="Calibri"/>
            </a:endParaRPr>
          </a:p>
        </p:txBody>
      </p:sp>
      <p:sp>
        <p:nvSpPr>
          <p:cNvPr id="8" name="TextBox 7">
            <a:extLst>
              <a:ext uri="{FF2B5EF4-FFF2-40B4-BE49-F238E27FC236}">
                <a16:creationId xmlns:a16="http://schemas.microsoft.com/office/drawing/2014/main" id="{7E0006D7-8B9B-CC45-789C-58BBE1FD41AA}"/>
              </a:ext>
            </a:extLst>
          </p:cNvPr>
          <p:cNvSpPr txBox="1"/>
          <p:nvPr/>
        </p:nvSpPr>
        <p:spPr>
          <a:xfrm>
            <a:off x="6934781" y="181397"/>
            <a:ext cx="6318849" cy="923330"/>
          </a:xfrm>
          <a:prstGeom prst="rect">
            <a:avLst/>
          </a:prstGeom>
          <a:noFill/>
        </p:spPr>
        <p:txBody>
          <a:bodyPr wrap="square" lIns="91440" tIns="45720" rIns="91440" bIns="45720" rtlCol="0" anchor="t">
            <a:spAutoFit/>
          </a:bodyPr>
          <a:lstStyle/>
          <a:p>
            <a:r>
              <a:rPr lang="en-US" sz="5400">
                <a:solidFill>
                  <a:schemeClr val="bg1"/>
                </a:solidFill>
                <a:ea typeface="Calibri"/>
                <a:cs typeface="Calibri"/>
              </a:rPr>
              <a:t>SYNTHESIS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2A6CE-6140-4083-69CA-BCBB214115A9}"/>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278227EA-9580-6AD0-85D9-CFF2A258601C}"/>
              </a:ext>
            </a:extLst>
          </p:cNvPr>
          <p:cNvSpPr/>
          <p:nvPr/>
        </p:nvSpPr>
        <p:spPr>
          <a:xfrm>
            <a:off x="1581407" y="-277951"/>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9" name="TextBox 9">
            <a:extLst>
              <a:ext uri="{FF2B5EF4-FFF2-40B4-BE49-F238E27FC236}">
                <a16:creationId xmlns:a16="http://schemas.microsoft.com/office/drawing/2014/main" id="{51EE9A69-BCC4-680A-F670-5FD7C2E5E398}"/>
              </a:ext>
            </a:extLst>
          </p:cNvPr>
          <p:cNvSpPr txBox="1"/>
          <p:nvPr/>
        </p:nvSpPr>
        <p:spPr>
          <a:xfrm>
            <a:off x="11696179" y="9592446"/>
            <a:ext cx="3077236" cy="291211"/>
          </a:xfrm>
          <a:prstGeom prst="rect">
            <a:avLst/>
          </a:prstGeom>
        </p:spPr>
        <p:txBody>
          <a:bodyPr lIns="0" tIns="0" rIns="0" bIns="0" rtlCol="0" anchor="t">
            <a:spAutoFit/>
          </a:bodyPr>
          <a:lstStyle/>
          <a:p>
            <a:pPr algn="l">
              <a:lnSpc>
                <a:spcPts val="2324"/>
              </a:lnSpc>
            </a:pPr>
            <a:r>
              <a:rPr lang="en-US" sz="1660">
                <a:solidFill>
                  <a:srgbClr val="FFFFFF"/>
                </a:solidFill>
                <a:latin typeface="Poppins"/>
                <a:ea typeface="Poppins"/>
                <a:cs typeface="Poppins"/>
                <a:sym typeface="Poppins"/>
              </a:rPr>
              <a:t>www.reallygreatsite.com </a:t>
            </a:r>
          </a:p>
        </p:txBody>
      </p:sp>
      <p:sp>
        <p:nvSpPr>
          <p:cNvPr id="14" name="AutoShape 14">
            <a:extLst>
              <a:ext uri="{FF2B5EF4-FFF2-40B4-BE49-F238E27FC236}">
                <a16:creationId xmlns:a16="http://schemas.microsoft.com/office/drawing/2014/main" id="{1753726E-FC82-D2D2-8591-39E9884732DF}"/>
              </a:ext>
            </a:extLst>
          </p:cNvPr>
          <p:cNvSpPr/>
          <p:nvPr/>
        </p:nvSpPr>
        <p:spPr>
          <a:xfrm rot="5400000">
            <a:off x="16399966" y="6264625"/>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15" name="TextBox 15">
            <a:extLst>
              <a:ext uri="{FF2B5EF4-FFF2-40B4-BE49-F238E27FC236}">
                <a16:creationId xmlns:a16="http://schemas.microsoft.com/office/drawing/2014/main" id="{269FBB92-C671-28CB-E5F3-1AC939347235}"/>
              </a:ext>
            </a:extLst>
          </p:cNvPr>
          <p:cNvSpPr txBox="1"/>
          <p:nvPr/>
        </p:nvSpPr>
        <p:spPr>
          <a:xfrm rot="-5400000">
            <a:off x="17310518" y="8275412"/>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16" name="TextBox 16">
            <a:extLst>
              <a:ext uri="{FF2B5EF4-FFF2-40B4-BE49-F238E27FC236}">
                <a16:creationId xmlns:a16="http://schemas.microsoft.com/office/drawing/2014/main" id="{595046B6-8521-6286-3B02-8A07750DEF35}"/>
              </a:ext>
            </a:extLst>
          </p:cNvPr>
          <p:cNvSpPr txBox="1"/>
          <p:nvPr/>
        </p:nvSpPr>
        <p:spPr>
          <a:xfrm rot="-5400000">
            <a:off x="16161626" y="2739884"/>
            <a:ext cx="3231104" cy="272161"/>
          </a:xfrm>
          <a:prstGeom prst="rect">
            <a:avLst/>
          </a:prstGeom>
        </p:spPr>
        <p:txBody>
          <a:bodyPr lIns="0" tIns="0" rIns="0" bIns="0" rtlCol="0" anchor="t">
            <a:spAutoFit/>
          </a:bodyPr>
          <a:lstStyle/>
          <a:p>
            <a:pPr algn="ctr">
              <a:lnSpc>
                <a:spcPts val="2324"/>
              </a:lnSpc>
            </a:pPr>
            <a:r>
              <a:rPr lang="en-US" sz="1660">
                <a:solidFill>
                  <a:srgbClr val="FFFFFF"/>
                </a:solidFill>
                <a:latin typeface="Quicksand"/>
                <a:ea typeface="Quicksand"/>
                <a:cs typeface="Quicksand"/>
                <a:sym typeface="Quicksand"/>
              </a:rPr>
              <a:t>www.reallygreatsite.com </a:t>
            </a:r>
          </a:p>
        </p:txBody>
      </p:sp>
      <p:sp>
        <p:nvSpPr>
          <p:cNvPr id="8" name="TextBox 7">
            <a:extLst>
              <a:ext uri="{FF2B5EF4-FFF2-40B4-BE49-F238E27FC236}">
                <a16:creationId xmlns:a16="http://schemas.microsoft.com/office/drawing/2014/main" id="{461FECA1-A454-75F6-9471-6D6AD22BBFB4}"/>
              </a:ext>
            </a:extLst>
          </p:cNvPr>
          <p:cNvSpPr txBox="1"/>
          <p:nvPr/>
        </p:nvSpPr>
        <p:spPr>
          <a:xfrm>
            <a:off x="6934781" y="181397"/>
            <a:ext cx="6318849" cy="923330"/>
          </a:xfrm>
          <a:prstGeom prst="rect">
            <a:avLst/>
          </a:prstGeom>
          <a:noFill/>
        </p:spPr>
        <p:txBody>
          <a:bodyPr wrap="square" lIns="91440" tIns="45720" rIns="91440" bIns="45720" rtlCol="0" anchor="t">
            <a:spAutoFit/>
          </a:bodyPr>
          <a:lstStyle/>
          <a:p>
            <a:r>
              <a:rPr lang="en-US" sz="5400">
                <a:solidFill>
                  <a:schemeClr val="bg1"/>
                </a:solidFill>
                <a:ea typeface="Calibri"/>
                <a:cs typeface="Calibri"/>
              </a:rPr>
              <a:t>SYNTHESIS</a:t>
            </a:r>
          </a:p>
        </p:txBody>
      </p:sp>
      <p:pic>
        <p:nvPicPr>
          <p:cNvPr id="2" name="Picture 1" descr="A blue lines on a black background&#10;&#10;AI-generated content may be incorrect.">
            <a:extLst>
              <a:ext uri="{FF2B5EF4-FFF2-40B4-BE49-F238E27FC236}">
                <a16:creationId xmlns:a16="http://schemas.microsoft.com/office/drawing/2014/main" id="{B4E0CA0D-F745-155F-0D28-C14DDCC62C78}"/>
              </a:ext>
            </a:extLst>
          </p:cNvPr>
          <p:cNvPicPr>
            <a:picLocks noChangeAspect="1"/>
          </p:cNvPicPr>
          <p:nvPr/>
        </p:nvPicPr>
        <p:blipFill>
          <a:blip r:embed="rId2"/>
          <a:stretch>
            <a:fillRect/>
          </a:stretch>
        </p:blipFill>
        <p:spPr>
          <a:xfrm>
            <a:off x="355787" y="2413187"/>
            <a:ext cx="17441955" cy="6485965"/>
          </a:xfrm>
          <a:prstGeom prst="rect">
            <a:avLst/>
          </a:prstGeom>
        </p:spPr>
      </p:pic>
      <p:sp>
        <p:nvSpPr>
          <p:cNvPr id="3" name="TextBox 2">
            <a:extLst>
              <a:ext uri="{FF2B5EF4-FFF2-40B4-BE49-F238E27FC236}">
                <a16:creationId xmlns:a16="http://schemas.microsoft.com/office/drawing/2014/main" id="{336A21EA-D42A-CFCA-5CB3-A5D0B1B65FFB}"/>
              </a:ext>
            </a:extLst>
          </p:cNvPr>
          <p:cNvSpPr txBox="1"/>
          <p:nvPr/>
        </p:nvSpPr>
        <p:spPr>
          <a:xfrm>
            <a:off x="6082388" y="9140947"/>
            <a:ext cx="598153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ea typeface="Calibri"/>
                <a:cs typeface="Calibri"/>
              </a:rPr>
              <a:t>GATELEVEL NETLIST SCHEMATIC</a:t>
            </a:r>
          </a:p>
        </p:txBody>
      </p:sp>
    </p:spTree>
    <p:extLst>
      <p:ext uri="{BB962C8B-B14F-4D97-AF65-F5344CB8AC3E}">
        <p14:creationId xmlns:p14="http://schemas.microsoft.com/office/powerpoint/2010/main" val="19914106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9123D-213E-6795-ACA4-5FAD51BFB791}"/>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46BD159F-BC24-3031-429A-3345D96D621F}"/>
              </a:ext>
            </a:extLst>
          </p:cNvPr>
          <p:cNvSpPr/>
          <p:nvPr/>
        </p:nvSpPr>
        <p:spPr>
          <a:xfrm>
            <a:off x="1581407" y="-277951"/>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9" name="TextBox 9">
            <a:extLst>
              <a:ext uri="{FF2B5EF4-FFF2-40B4-BE49-F238E27FC236}">
                <a16:creationId xmlns:a16="http://schemas.microsoft.com/office/drawing/2014/main" id="{2AF56FAB-0693-16A8-F0BD-316C3E7C5B9D}"/>
              </a:ext>
            </a:extLst>
          </p:cNvPr>
          <p:cNvSpPr txBox="1"/>
          <p:nvPr/>
        </p:nvSpPr>
        <p:spPr>
          <a:xfrm>
            <a:off x="11696179" y="9592446"/>
            <a:ext cx="3077236" cy="291211"/>
          </a:xfrm>
          <a:prstGeom prst="rect">
            <a:avLst/>
          </a:prstGeom>
        </p:spPr>
        <p:txBody>
          <a:bodyPr lIns="0" tIns="0" rIns="0" bIns="0" rtlCol="0" anchor="t">
            <a:spAutoFit/>
          </a:bodyPr>
          <a:lstStyle/>
          <a:p>
            <a:pPr algn="l">
              <a:lnSpc>
                <a:spcPts val="2324"/>
              </a:lnSpc>
            </a:pPr>
            <a:r>
              <a:rPr lang="en-US" sz="1660">
                <a:solidFill>
                  <a:srgbClr val="FFFFFF"/>
                </a:solidFill>
                <a:latin typeface="Poppins"/>
                <a:ea typeface="Poppins"/>
                <a:cs typeface="Poppins"/>
                <a:sym typeface="Poppins"/>
              </a:rPr>
              <a:t>www.reallygreatsite.com </a:t>
            </a:r>
          </a:p>
        </p:txBody>
      </p:sp>
      <p:sp>
        <p:nvSpPr>
          <p:cNvPr id="14" name="AutoShape 14">
            <a:extLst>
              <a:ext uri="{FF2B5EF4-FFF2-40B4-BE49-F238E27FC236}">
                <a16:creationId xmlns:a16="http://schemas.microsoft.com/office/drawing/2014/main" id="{D418D6C4-3E1E-82A7-95FB-FC475EBE2C94}"/>
              </a:ext>
            </a:extLst>
          </p:cNvPr>
          <p:cNvSpPr/>
          <p:nvPr/>
        </p:nvSpPr>
        <p:spPr>
          <a:xfrm rot="5400000">
            <a:off x="16399966" y="6264625"/>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15" name="TextBox 15">
            <a:extLst>
              <a:ext uri="{FF2B5EF4-FFF2-40B4-BE49-F238E27FC236}">
                <a16:creationId xmlns:a16="http://schemas.microsoft.com/office/drawing/2014/main" id="{8274D8A5-DB39-A960-68F6-D45CE007B076}"/>
              </a:ext>
            </a:extLst>
          </p:cNvPr>
          <p:cNvSpPr txBox="1"/>
          <p:nvPr/>
        </p:nvSpPr>
        <p:spPr>
          <a:xfrm rot="-5400000">
            <a:off x="17310518" y="8275412"/>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16" name="TextBox 16">
            <a:extLst>
              <a:ext uri="{FF2B5EF4-FFF2-40B4-BE49-F238E27FC236}">
                <a16:creationId xmlns:a16="http://schemas.microsoft.com/office/drawing/2014/main" id="{D7091069-C704-7DD3-3089-4103A5066861}"/>
              </a:ext>
            </a:extLst>
          </p:cNvPr>
          <p:cNvSpPr txBox="1"/>
          <p:nvPr/>
        </p:nvSpPr>
        <p:spPr>
          <a:xfrm rot="-5400000">
            <a:off x="16161626" y="2739884"/>
            <a:ext cx="3231104" cy="272161"/>
          </a:xfrm>
          <a:prstGeom prst="rect">
            <a:avLst/>
          </a:prstGeom>
        </p:spPr>
        <p:txBody>
          <a:bodyPr lIns="0" tIns="0" rIns="0" bIns="0" rtlCol="0" anchor="t">
            <a:spAutoFit/>
          </a:bodyPr>
          <a:lstStyle/>
          <a:p>
            <a:pPr algn="ctr">
              <a:lnSpc>
                <a:spcPts val="2324"/>
              </a:lnSpc>
            </a:pPr>
            <a:r>
              <a:rPr lang="en-US" sz="1660">
                <a:solidFill>
                  <a:srgbClr val="FFFFFF"/>
                </a:solidFill>
                <a:latin typeface="Quicksand"/>
                <a:ea typeface="Quicksand"/>
                <a:cs typeface="Quicksand"/>
                <a:sym typeface="Quicksand"/>
              </a:rPr>
              <a:t>www.reallygreatsite.com </a:t>
            </a:r>
          </a:p>
        </p:txBody>
      </p:sp>
      <p:sp>
        <p:nvSpPr>
          <p:cNvPr id="6" name="TextBox 5">
            <a:extLst>
              <a:ext uri="{FF2B5EF4-FFF2-40B4-BE49-F238E27FC236}">
                <a16:creationId xmlns:a16="http://schemas.microsoft.com/office/drawing/2014/main" id="{FD7C31AA-BD55-DFC9-30D3-698160C095D6}"/>
              </a:ext>
            </a:extLst>
          </p:cNvPr>
          <p:cNvSpPr txBox="1"/>
          <p:nvPr/>
        </p:nvSpPr>
        <p:spPr>
          <a:xfrm>
            <a:off x="5177883" y="181397"/>
            <a:ext cx="8058938" cy="923330"/>
          </a:xfrm>
          <a:prstGeom prst="rect">
            <a:avLst/>
          </a:prstGeom>
          <a:noFill/>
        </p:spPr>
        <p:txBody>
          <a:bodyPr wrap="square" lIns="91440" tIns="45720" rIns="91440" bIns="45720" rtlCol="0" anchor="t">
            <a:spAutoFit/>
          </a:bodyPr>
          <a:lstStyle/>
          <a:p>
            <a:r>
              <a:rPr lang="en-US" sz="5400">
                <a:solidFill>
                  <a:schemeClr val="bg1"/>
                </a:solidFill>
                <a:ea typeface="Calibri"/>
                <a:cs typeface="Calibri"/>
              </a:rPr>
              <a:t>        Area Report</a:t>
            </a:r>
          </a:p>
        </p:txBody>
      </p:sp>
      <p:sp>
        <p:nvSpPr>
          <p:cNvPr id="2" name="TextBox 1">
            <a:extLst>
              <a:ext uri="{FF2B5EF4-FFF2-40B4-BE49-F238E27FC236}">
                <a16:creationId xmlns:a16="http://schemas.microsoft.com/office/drawing/2014/main" id="{834EA369-1E0C-33A7-9BBA-49FE2D501DF5}"/>
              </a:ext>
            </a:extLst>
          </p:cNvPr>
          <p:cNvSpPr txBox="1"/>
          <p:nvPr/>
        </p:nvSpPr>
        <p:spPr>
          <a:xfrm>
            <a:off x="1578332" y="2067098"/>
            <a:ext cx="14450914" cy="99411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3200" b="1">
                <a:ea typeface="+mn-lt"/>
                <a:cs typeface="+mn-lt"/>
              </a:rPr>
              <a:t>731 </a:t>
            </a:r>
            <a:r>
              <a:rPr lang="en-US" sz="3200">
                <a:ea typeface="+mn-lt"/>
                <a:cs typeface="+mn-lt"/>
              </a:rPr>
              <a:t>total cells </a:t>
            </a:r>
            <a:endParaRPr lang="en-US" sz="3200">
              <a:ea typeface="Calibri"/>
              <a:cs typeface="Calibri"/>
            </a:endParaRPr>
          </a:p>
          <a:p>
            <a:pPr marL="285750" indent="-285750">
              <a:buFont typeface="Arial"/>
              <a:buChar char="•"/>
            </a:pPr>
            <a:r>
              <a:rPr lang="en-US" sz="3200" b="1">
                <a:ea typeface="+mn-lt"/>
                <a:cs typeface="+mn-lt"/>
              </a:rPr>
              <a:t>577 </a:t>
            </a:r>
            <a:r>
              <a:rPr lang="en-US" sz="3200">
                <a:ea typeface="+mn-lt"/>
                <a:cs typeface="+mn-lt"/>
              </a:rPr>
              <a:t>combinational</a:t>
            </a:r>
            <a:r>
              <a:rPr lang="en-US" sz="3200" b="1">
                <a:ea typeface="+mn-lt"/>
                <a:cs typeface="+mn-lt"/>
              </a:rPr>
              <a:t> </a:t>
            </a:r>
            <a:r>
              <a:rPr lang="en-US" sz="3200">
                <a:ea typeface="+mn-lt"/>
                <a:cs typeface="+mn-lt"/>
              </a:rPr>
              <a:t>cells</a:t>
            </a:r>
          </a:p>
          <a:p>
            <a:pPr marL="285750" indent="-285750">
              <a:buFont typeface="Arial"/>
              <a:buChar char="•"/>
            </a:pPr>
            <a:r>
              <a:rPr lang="en-US" sz="3200" b="1">
                <a:ea typeface="+mn-lt"/>
                <a:cs typeface="+mn-lt"/>
              </a:rPr>
              <a:t>151 </a:t>
            </a:r>
            <a:r>
              <a:rPr lang="en-US" sz="3200">
                <a:ea typeface="+mn-lt"/>
                <a:cs typeface="+mn-lt"/>
              </a:rPr>
              <a:t>sequential cells </a:t>
            </a:r>
            <a:endParaRPr lang="en-US" sz="3200">
              <a:ea typeface="Calibri"/>
              <a:cs typeface="Calibri"/>
            </a:endParaRPr>
          </a:p>
          <a:p>
            <a:pPr marL="285750" indent="-285750">
              <a:buFont typeface="Arial"/>
              <a:buChar char="•"/>
            </a:pPr>
            <a:r>
              <a:rPr lang="en-US" sz="3200" b="1">
                <a:ea typeface="+mn-lt"/>
                <a:cs typeface="+mn-lt"/>
              </a:rPr>
              <a:t>150 </a:t>
            </a:r>
            <a:r>
              <a:rPr lang="en-US" sz="3200">
                <a:ea typeface="+mn-lt"/>
                <a:cs typeface="+mn-lt"/>
              </a:rPr>
              <a:t>buffers/inverters </a:t>
            </a:r>
            <a:endParaRPr lang="en-US" sz="3200">
              <a:ea typeface="Calibri"/>
              <a:cs typeface="Calibri"/>
            </a:endParaRPr>
          </a:p>
          <a:p>
            <a:pPr marL="285750" indent="-285750">
              <a:buFont typeface="Arial"/>
              <a:buChar char="•"/>
            </a:pPr>
            <a:r>
              <a:rPr lang="en-US" sz="3200" b="1">
                <a:ea typeface="+mn-lt"/>
                <a:cs typeface="+mn-lt"/>
              </a:rPr>
              <a:t>No macros/black boxes</a:t>
            </a:r>
            <a:r>
              <a:rPr lang="en-US" sz="3200">
                <a:ea typeface="+mn-lt"/>
                <a:cs typeface="+mn-lt"/>
              </a:rPr>
              <a:t> ( fully standard-cell implementation)</a:t>
            </a:r>
            <a:endParaRPr lang="en-US" sz="3200">
              <a:ea typeface="Calibri"/>
              <a:cs typeface="Calibri"/>
            </a:endParaRPr>
          </a:p>
          <a:p>
            <a:pPr marL="285750" indent="-285750">
              <a:buFont typeface="Arial"/>
              <a:buChar char="•"/>
            </a:pPr>
            <a:r>
              <a:rPr lang="en-US" sz="3200" b="1">
                <a:ea typeface="+mn-lt"/>
                <a:cs typeface="+mn-lt"/>
              </a:rPr>
              <a:t>Combinational area:</a:t>
            </a:r>
            <a:r>
              <a:rPr lang="en-US" sz="3200">
                <a:ea typeface="+mn-lt"/>
                <a:cs typeface="+mn-lt"/>
              </a:rPr>
              <a:t> 10,473.89 µm²</a:t>
            </a:r>
            <a:endParaRPr lang="en-US" sz="3200">
              <a:ea typeface="Calibri"/>
              <a:cs typeface="Calibri"/>
            </a:endParaRPr>
          </a:p>
          <a:p>
            <a:pPr marL="285750" indent="-285750">
              <a:buFont typeface="Arial"/>
              <a:buChar char="•"/>
            </a:pPr>
            <a:r>
              <a:rPr lang="en-US" sz="3200" b="1">
                <a:ea typeface="+mn-lt"/>
                <a:cs typeface="+mn-lt"/>
              </a:rPr>
              <a:t>Sequential area:</a:t>
            </a:r>
            <a:r>
              <a:rPr lang="en-US" sz="3200">
                <a:ea typeface="+mn-lt"/>
                <a:cs typeface="+mn-lt"/>
              </a:rPr>
              <a:t> 9,097.05 µm²</a:t>
            </a:r>
            <a:endParaRPr lang="en-US" sz="3200">
              <a:ea typeface="Calibri"/>
              <a:cs typeface="Calibri"/>
            </a:endParaRPr>
          </a:p>
          <a:p>
            <a:pPr marL="285750" indent="-285750">
              <a:buFont typeface="Arial"/>
              <a:buChar char="•"/>
            </a:pPr>
            <a:r>
              <a:rPr lang="en-US" sz="3200" b="1">
                <a:ea typeface="+mn-lt"/>
                <a:cs typeface="+mn-lt"/>
              </a:rPr>
              <a:t>Interconnect area:</a:t>
            </a:r>
            <a:r>
              <a:rPr lang="en-US" sz="3200">
                <a:ea typeface="+mn-lt"/>
                <a:cs typeface="+mn-lt"/>
              </a:rPr>
              <a:t> 545.19 µm² </a:t>
            </a:r>
            <a:endParaRPr lang="en-US" sz="3200">
              <a:ea typeface="Calibri"/>
              <a:cs typeface="Calibri"/>
            </a:endParaRPr>
          </a:p>
          <a:p>
            <a:pPr marL="285750" indent="-285750">
              <a:buFont typeface="Arial"/>
              <a:buChar char="•"/>
            </a:pPr>
            <a:r>
              <a:rPr lang="en-US" sz="3200" b="1">
                <a:ea typeface="+mn-lt"/>
                <a:cs typeface="+mn-lt"/>
              </a:rPr>
              <a:t>Total cell area:</a:t>
            </a:r>
            <a:r>
              <a:rPr lang="en-US" sz="3200">
                <a:ea typeface="+mn-lt"/>
                <a:cs typeface="+mn-lt"/>
              </a:rPr>
              <a:t> 19,570.94 µm²</a:t>
            </a:r>
            <a:endParaRPr lang="en-US" sz="3200">
              <a:ea typeface="Calibri"/>
              <a:cs typeface="Calibri"/>
            </a:endParaRPr>
          </a:p>
          <a:p>
            <a:pPr marL="285750" indent="-285750">
              <a:buFont typeface="Arial"/>
              <a:buChar char="•"/>
            </a:pPr>
            <a:r>
              <a:rPr lang="en-US" sz="3200" b="1">
                <a:ea typeface="+mn-lt"/>
                <a:cs typeface="+mn-lt"/>
              </a:rPr>
              <a:t>Total synthesized area:</a:t>
            </a:r>
            <a:r>
              <a:rPr lang="en-US" sz="3200">
                <a:ea typeface="+mn-lt"/>
                <a:cs typeface="+mn-lt"/>
              </a:rPr>
              <a:t> 20,116.13 µm²</a:t>
            </a:r>
            <a:endParaRPr lang="en-US" sz="3200">
              <a:ea typeface="Calibri"/>
              <a:cs typeface="Calibri"/>
            </a:endParaRPr>
          </a:p>
          <a:p>
            <a:pPr marL="285750" indent="-285750" algn="l">
              <a:buFont typeface="Arial"/>
              <a:buChar char="•"/>
            </a:pPr>
            <a:endParaRPr lang="en-US" sz="3200">
              <a:ea typeface="Calibri"/>
              <a:cs typeface="Calibri"/>
            </a:endParaRPr>
          </a:p>
          <a:p>
            <a:r>
              <a:rPr lang="en-US" sz="3200">
                <a:ea typeface="Calibri"/>
                <a:cs typeface="Calibri"/>
              </a:rPr>
              <a:t>Key Inferences:</a:t>
            </a:r>
          </a:p>
          <a:p>
            <a:pPr marL="285750" indent="-285750">
              <a:buFont typeface="Arial"/>
              <a:buChar char="•"/>
            </a:pPr>
            <a:r>
              <a:rPr lang="en-US" sz="3200" b="1">
                <a:ea typeface="+mn-lt"/>
                <a:cs typeface="+mn-lt"/>
              </a:rPr>
              <a:t>Logic-dominant design:</a:t>
            </a:r>
            <a:r>
              <a:rPr lang="en-US" sz="3200">
                <a:ea typeface="+mn-lt"/>
                <a:cs typeface="+mn-lt"/>
              </a:rPr>
              <a:t> Combinational area slightly exceeds sequential area.</a:t>
            </a:r>
            <a:endParaRPr lang="en-US"/>
          </a:p>
          <a:p>
            <a:pPr marL="285750" indent="-285750">
              <a:buFont typeface="Arial"/>
              <a:buChar char="•"/>
            </a:pPr>
            <a:r>
              <a:rPr lang="en-US" sz="3200" b="1">
                <a:ea typeface="+mn-lt"/>
                <a:cs typeface="+mn-lt"/>
              </a:rPr>
              <a:t>Highly compact implementation:</a:t>
            </a:r>
            <a:r>
              <a:rPr lang="en-US" sz="3200">
                <a:ea typeface="+mn-lt"/>
                <a:cs typeface="+mn-lt"/>
              </a:rPr>
              <a:t> Very low interconnect area (~545 µm²) and small total area (~20k µm²).</a:t>
            </a:r>
            <a:endParaRPr lang="en-US"/>
          </a:p>
          <a:p>
            <a:pPr marL="285750" indent="-285750">
              <a:buFont typeface="Arial"/>
              <a:buChar char="•"/>
            </a:pPr>
            <a:r>
              <a:rPr lang="en-US" sz="3200" b="1">
                <a:ea typeface="+mn-lt"/>
                <a:cs typeface="+mn-lt"/>
              </a:rPr>
              <a:t>Clean, standard-cell-only design:</a:t>
            </a:r>
            <a:r>
              <a:rPr lang="en-US" sz="3200">
                <a:ea typeface="+mn-lt"/>
                <a:cs typeface="+mn-lt"/>
              </a:rPr>
              <a:t> No macros or black boxes.</a:t>
            </a:r>
            <a:endParaRPr lang="en-US" sz="3200">
              <a:ea typeface="Calibri"/>
              <a:cs typeface="Calibri"/>
            </a:endParaRPr>
          </a:p>
          <a:p>
            <a:endParaRPr lang="en-US" sz="3200">
              <a:ea typeface="Calibri"/>
              <a:cs typeface="Calibri"/>
            </a:endParaRPr>
          </a:p>
          <a:p>
            <a:pPr marL="285750" indent="-285750">
              <a:buFont typeface="Arial"/>
              <a:buChar char="•"/>
            </a:pPr>
            <a:endParaRPr lang="en-US" sz="3200">
              <a:ea typeface="Calibri"/>
              <a:cs typeface="Calibri"/>
            </a:endParaRPr>
          </a:p>
          <a:p>
            <a:endParaRPr lang="en-US" sz="3200">
              <a:ea typeface="Calibri"/>
              <a:cs typeface="Calibri"/>
            </a:endParaRPr>
          </a:p>
          <a:p>
            <a:endParaRPr lang="en-US" sz="3200">
              <a:ea typeface="Calibri"/>
              <a:cs typeface="Calibri"/>
            </a:endParaRPr>
          </a:p>
        </p:txBody>
      </p:sp>
    </p:spTree>
    <p:extLst>
      <p:ext uri="{BB962C8B-B14F-4D97-AF65-F5344CB8AC3E}">
        <p14:creationId xmlns:p14="http://schemas.microsoft.com/office/powerpoint/2010/main" val="21610236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0820E-B87F-C28C-2212-DAC9DB5F109D}"/>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745C9E8B-1C39-4AF0-9040-39ADE5E0D1E7}"/>
              </a:ext>
            </a:extLst>
          </p:cNvPr>
          <p:cNvSpPr/>
          <p:nvPr/>
        </p:nvSpPr>
        <p:spPr>
          <a:xfrm>
            <a:off x="1581407" y="-261386"/>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9" name="TextBox 9">
            <a:extLst>
              <a:ext uri="{FF2B5EF4-FFF2-40B4-BE49-F238E27FC236}">
                <a16:creationId xmlns:a16="http://schemas.microsoft.com/office/drawing/2014/main" id="{5B36F192-382C-BABC-F0CD-7B76DC36274C}"/>
              </a:ext>
            </a:extLst>
          </p:cNvPr>
          <p:cNvSpPr txBox="1"/>
          <p:nvPr/>
        </p:nvSpPr>
        <p:spPr>
          <a:xfrm>
            <a:off x="11696179" y="9592446"/>
            <a:ext cx="3077236" cy="291211"/>
          </a:xfrm>
          <a:prstGeom prst="rect">
            <a:avLst/>
          </a:prstGeom>
        </p:spPr>
        <p:txBody>
          <a:bodyPr lIns="0" tIns="0" rIns="0" bIns="0" rtlCol="0" anchor="t">
            <a:spAutoFit/>
          </a:bodyPr>
          <a:lstStyle/>
          <a:p>
            <a:pPr algn="l">
              <a:lnSpc>
                <a:spcPts val="2324"/>
              </a:lnSpc>
            </a:pPr>
            <a:r>
              <a:rPr lang="en-US" sz="1660">
                <a:solidFill>
                  <a:srgbClr val="FFFFFF"/>
                </a:solidFill>
                <a:latin typeface="Poppins"/>
                <a:ea typeface="Poppins"/>
                <a:cs typeface="Poppins"/>
                <a:sym typeface="Poppins"/>
              </a:rPr>
              <a:t>www.reallygreatsite.com </a:t>
            </a:r>
          </a:p>
        </p:txBody>
      </p:sp>
      <p:sp>
        <p:nvSpPr>
          <p:cNvPr id="14" name="AutoShape 14">
            <a:extLst>
              <a:ext uri="{FF2B5EF4-FFF2-40B4-BE49-F238E27FC236}">
                <a16:creationId xmlns:a16="http://schemas.microsoft.com/office/drawing/2014/main" id="{4A60F310-B979-EE40-CF06-C397CA1CE13A}"/>
              </a:ext>
            </a:extLst>
          </p:cNvPr>
          <p:cNvSpPr/>
          <p:nvPr/>
        </p:nvSpPr>
        <p:spPr>
          <a:xfrm rot="5400000">
            <a:off x="16399966" y="6264625"/>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15" name="TextBox 15">
            <a:extLst>
              <a:ext uri="{FF2B5EF4-FFF2-40B4-BE49-F238E27FC236}">
                <a16:creationId xmlns:a16="http://schemas.microsoft.com/office/drawing/2014/main" id="{6A8FA4AA-ACF5-1CA4-090D-CD71E2F69D7D}"/>
              </a:ext>
            </a:extLst>
          </p:cNvPr>
          <p:cNvSpPr txBox="1"/>
          <p:nvPr/>
        </p:nvSpPr>
        <p:spPr>
          <a:xfrm rot="-5400000">
            <a:off x="17310518" y="8275412"/>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16" name="TextBox 16">
            <a:extLst>
              <a:ext uri="{FF2B5EF4-FFF2-40B4-BE49-F238E27FC236}">
                <a16:creationId xmlns:a16="http://schemas.microsoft.com/office/drawing/2014/main" id="{CFCBF087-3DC3-C6B7-A012-F34BA7203A7C}"/>
              </a:ext>
            </a:extLst>
          </p:cNvPr>
          <p:cNvSpPr txBox="1"/>
          <p:nvPr/>
        </p:nvSpPr>
        <p:spPr>
          <a:xfrm rot="-5400000">
            <a:off x="16161626" y="2739884"/>
            <a:ext cx="3231104" cy="272161"/>
          </a:xfrm>
          <a:prstGeom prst="rect">
            <a:avLst/>
          </a:prstGeom>
        </p:spPr>
        <p:txBody>
          <a:bodyPr lIns="0" tIns="0" rIns="0" bIns="0" rtlCol="0" anchor="t">
            <a:spAutoFit/>
          </a:bodyPr>
          <a:lstStyle/>
          <a:p>
            <a:pPr algn="ctr">
              <a:lnSpc>
                <a:spcPts val="2324"/>
              </a:lnSpc>
            </a:pPr>
            <a:r>
              <a:rPr lang="en-US" sz="1660">
                <a:solidFill>
                  <a:srgbClr val="FFFFFF"/>
                </a:solidFill>
                <a:latin typeface="Quicksand"/>
                <a:ea typeface="Quicksand"/>
                <a:cs typeface="Quicksand"/>
                <a:sym typeface="Quicksand"/>
              </a:rPr>
              <a:t>www.reallygreatsite.com </a:t>
            </a:r>
          </a:p>
        </p:txBody>
      </p:sp>
      <p:sp>
        <p:nvSpPr>
          <p:cNvPr id="6" name="TextBox 5">
            <a:extLst>
              <a:ext uri="{FF2B5EF4-FFF2-40B4-BE49-F238E27FC236}">
                <a16:creationId xmlns:a16="http://schemas.microsoft.com/office/drawing/2014/main" id="{BD572F40-629C-63FC-D14B-6CAF97B20A48}"/>
              </a:ext>
            </a:extLst>
          </p:cNvPr>
          <p:cNvSpPr txBox="1"/>
          <p:nvPr/>
        </p:nvSpPr>
        <p:spPr>
          <a:xfrm>
            <a:off x="5177883" y="181397"/>
            <a:ext cx="8058938" cy="923330"/>
          </a:xfrm>
          <a:prstGeom prst="rect">
            <a:avLst/>
          </a:prstGeom>
          <a:noFill/>
        </p:spPr>
        <p:txBody>
          <a:bodyPr wrap="square" lIns="91440" tIns="45720" rIns="91440" bIns="45720" rtlCol="0" anchor="t">
            <a:spAutoFit/>
          </a:bodyPr>
          <a:lstStyle/>
          <a:p>
            <a:r>
              <a:rPr lang="en-US" sz="5400">
                <a:solidFill>
                  <a:schemeClr val="bg1"/>
                </a:solidFill>
                <a:ea typeface="Calibri"/>
                <a:cs typeface="Calibri"/>
              </a:rPr>
              <a:t>       Timing Report</a:t>
            </a:r>
          </a:p>
        </p:txBody>
      </p:sp>
      <p:sp>
        <p:nvSpPr>
          <p:cNvPr id="2" name="TextBox 1">
            <a:extLst>
              <a:ext uri="{FF2B5EF4-FFF2-40B4-BE49-F238E27FC236}">
                <a16:creationId xmlns:a16="http://schemas.microsoft.com/office/drawing/2014/main" id="{872C00CA-BEE3-D1FA-2317-A1C58C72D5E7}"/>
              </a:ext>
            </a:extLst>
          </p:cNvPr>
          <p:cNvSpPr txBox="1"/>
          <p:nvPr/>
        </p:nvSpPr>
        <p:spPr>
          <a:xfrm>
            <a:off x="1225347" y="2403274"/>
            <a:ext cx="14450914" cy="74789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endParaRPr lang="en-US" sz="3200">
              <a:ea typeface="+mn-lt"/>
              <a:cs typeface="+mn-lt"/>
            </a:endParaRPr>
          </a:p>
          <a:p>
            <a:pPr marL="285750" indent="-285750">
              <a:buFont typeface="Arial"/>
              <a:buChar char="•"/>
            </a:pPr>
            <a:endParaRPr lang="en-US" sz="3200">
              <a:ea typeface="+mn-lt"/>
              <a:cs typeface="+mn-lt"/>
            </a:endParaRPr>
          </a:p>
          <a:p>
            <a:pPr marL="285750" indent="-285750">
              <a:buFont typeface="Arial"/>
              <a:buChar char="•"/>
            </a:pPr>
            <a:r>
              <a:rPr lang="en-US" sz="3200">
                <a:ea typeface="+mn-lt"/>
                <a:cs typeface="+mn-lt"/>
              </a:rPr>
              <a:t>Clock constraint applied: </a:t>
            </a:r>
            <a:r>
              <a:rPr lang="en-US" sz="3200" b="1">
                <a:ea typeface="+mn-lt"/>
                <a:cs typeface="+mn-lt"/>
              </a:rPr>
              <a:t>1 MHz (period = 1000 ns)</a:t>
            </a:r>
            <a:endParaRPr lang="en-US">
              <a:ea typeface="Calibri"/>
              <a:cs typeface="Calibri"/>
            </a:endParaRPr>
          </a:p>
          <a:p>
            <a:pPr marL="285750" indent="-285750">
              <a:buFont typeface="Arial"/>
              <a:buChar char="•"/>
            </a:pPr>
            <a:r>
              <a:rPr lang="en-US" sz="3200">
                <a:ea typeface="+mn-lt"/>
                <a:cs typeface="+mn-lt"/>
              </a:rPr>
              <a:t>Worst-case corner analyzed: </a:t>
            </a:r>
            <a:r>
              <a:rPr lang="en-US" sz="3200" b="1">
                <a:ea typeface="+mn-lt"/>
                <a:cs typeface="+mn-lt"/>
              </a:rPr>
              <a:t>tsl18fs120_scl_ss</a:t>
            </a:r>
            <a:r>
              <a:rPr lang="en-US" sz="3200">
                <a:ea typeface="+mn-lt"/>
                <a:cs typeface="+mn-lt"/>
              </a:rPr>
              <a:t> (slow, 125°C, 1.62 V)</a:t>
            </a:r>
            <a:endParaRPr lang="en-US"/>
          </a:p>
          <a:p>
            <a:pPr marL="285750" indent="-285750">
              <a:buFont typeface="Arial"/>
              <a:buChar char="•"/>
            </a:pPr>
            <a:r>
              <a:rPr lang="en-US" sz="3200">
                <a:ea typeface="+mn-lt"/>
                <a:cs typeface="+mn-lt"/>
              </a:rPr>
              <a:t>Startpoint: </a:t>
            </a:r>
            <a:r>
              <a:rPr lang="en-US" sz="3200" b="1">
                <a:ea typeface="+mn-lt"/>
                <a:cs typeface="+mn-lt"/>
              </a:rPr>
              <a:t>addr_hf[1] (input port)</a:t>
            </a:r>
            <a:r>
              <a:rPr lang="en-US" sz="3200">
                <a:ea typeface="+mn-lt"/>
                <a:cs typeface="+mn-lt"/>
              </a:rPr>
              <a:t> → Endpoint: </a:t>
            </a:r>
            <a:r>
              <a:rPr lang="en-US" sz="3200" b="1">
                <a:ea typeface="+mn-lt"/>
                <a:cs typeface="+mn-lt"/>
              </a:rPr>
              <a:t>pre_in_reg_41_ ( D flip-flop)</a:t>
            </a:r>
            <a:endParaRPr lang="en-US"/>
          </a:p>
          <a:p>
            <a:pPr marL="285750" indent="-285750">
              <a:buFont typeface="Arial"/>
              <a:buChar char="•"/>
            </a:pPr>
            <a:r>
              <a:rPr lang="en-US" sz="3200">
                <a:ea typeface="+mn-lt"/>
                <a:cs typeface="+mn-lt"/>
              </a:rPr>
              <a:t>Data arrival time: </a:t>
            </a:r>
            <a:r>
              <a:rPr lang="en-US" sz="3200" b="1">
                <a:ea typeface="+mn-lt"/>
                <a:cs typeface="+mn-lt"/>
              </a:rPr>
              <a:t>113.35 ns</a:t>
            </a:r>
            <a:endParaRPr lang="en-US"/>
          </a:p>
          <a:p>
            <a:pPr marL="285750" indent="-285750">
              <a:buFont typeface="Arial"/>
              <a:buChar char="•"/>
            </a:pPr>
            <a:r>
              <a:rPr lang="en-US" sz="3200">
                <a:ea typeface="+mn-lt"/>
                <a:cs typeface="+mn-lt"/>
              </a:rPr>
              <a:t>Data required time (after uncertainty): </a:t>
            </a:r>
            <a:r>
              <a:rPr lang="en-US" sz="3200" b="1">
                <a:ea typeface="+mn-lt"/>
                <a:cs typeface="+mn-lt"/>
              </a:rPr>
              <a:t>979.84 ns</a:t>
            </a:r>
            <a:endParaRPr lang="en-US"/>
          </a:p>
          <a:p>
            <a:pPr marL="285750" indent="-285750">
              <a:buFont typeface="Arial"/>
              <a:buChar char="•"/>
            </a:pPr>
            <a:r>
              <a:rPr lang="en-US" sz="3200">
                <a:ea typeface="+mn-lt"/>
                <a:cs typeface="+mn-lt"/>
              </a:rPr>
              <a:t>Computed slack: </a:t>
            </a:r>
            <a:r>
              <a:rPr lang="en-US" sz="3200" b="1">
                <a:ea typeface="+mn-lt"/>
                <a:cs typeface="+mn-lt"/>
              </a:rPr>
              <a:t>+866.48 ns (</a:t>
            </a:r>
            <a:r>
              <a:rPr lang="en-US" sz="3200" i="1">
                <a:ea typeface="+mn-lt"/>
                <a:cs typeface="+mn-lt"/>
              </a:rPr>
              <a:t>required time − arrival time, </a:t>
            </a:r>
            <a:r>
              <a:rPr lang="en-US" sz="3200" b="1">
                <a:ea typeface="+mn-lt"/>
                <a:cs typeface="+mn-lt"/>
              </a:rPr>
              <a:t>MET)</a:t>
            </a:r>
            <a:endParaRPr lang="en-US"/>
          </a:p>
          <a:p>
            <a:pPr marL="285750" indent="-285750">
              <a:buFont typeface="Arial"/>
              <a:buChar char="•"/>
            </a:pPr>
            <a:r>
              <a:rPr lang="en-US" sz="3200">
                <a:ea typeface="+mn-lt"/>
                <a:cs typeface="+mn-lt"/>
              </a:rPr>
              <a:t>Positive slack indicates </a:t>
            </a:r>
            <a:r>
              <a:rPr lang="en-US" sz="3200" b="1">
                <a:ea typeface="+mn-lt"/>
                <a:cs typeface="+mn-lt"/>
              </a:rPr>
              <a:t>comfortable timing margin</a:t>
            </a:r>
            <a:r>
              <a:rPr lang="en-US" sz="3200">
                <a:ea typeface="+mn-lt"/>
                <a:cs typeface="+mn-lt"/>
              </a:rPr>
              <a:t> and </a:t>
            </a:r>
            <a:r>
              <a:rPr lang="en-US" sz="3200" b="1">
                <a:ea typeface="+mn-lt"/>
                <a:cs typeface="+mn-lt"/>
              </a:rPr>
              <a:t>no setup violations</a:t>
            </a:r>
            <a:r>
              <a:rPr lang="en-US" sz="3200">
                <a:ea typeface="+mn-lt"/>
                <a:cs typeface="+mn-lt"/>
              </a:rPr>
              <a:t> under the 1 MHz clock constraint.</a:t>
            </a:r>
            <a:endParaRPr lang="en-US"/>
          </a:p>
          <a:p>
            <a:pPr>
              <a:buFont typeface="Arial"/>
            </a:pPr>
            <a:endParaRPr lang="en-US" sz="3200">
              <a:ea typeface="Calibri"/>
              <a:cs typeface="Calibri"/>
            </a:endParaRPr>
          </a:p>
          <a:p>
            <a:pPr algn="l"/>
            <a:endParaRPr lang="en-US" sz="3200">
              <a:ea typeface="Calibri"/>
              <a:cs typeface="Calibri"/>
            </a:endParaRPr>
          </a:p>
          <a:p>
            <a:endParaRPr lang="en-US" sz="3200">
              <a:ea typeface="Calibri"/>
              <a:cs typeface="Calibri"/>
            </a:endParaRPr>
          </a:p>
          <a:p>
            <a:endParaRPr lang="en-US" sz="3200">
              <a:ea typeface="Calibri"/>
              <a:cs typeface="Calibri"/>
            </a:endParaRPr>
          </a:p>
          <a:p>
            <a:endParaRPr lang="en-US" sz="3200">
              <a:ea typeface="Calibri"/>
              <a:cs typeface="Calibri"/>
            </a:endParaRPr>
          </a:p>
        </p:txBody>
      </p:sp>
    </p:spTree>
    <p:extLst>
      <p:ext uri="{BB962C8B-B14F-4D97-AF65-F5344CB8AC3E}">
        <p14:creationId xmlns:p14="http://schemas.microsoft.com/office/powerpoint/2010/main" val="41338972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8F107-4D5F-DB12-2E0A-123F56316E3A}"/>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BD2765A-DED1-DF5B-01BB-B7E88EB0146D}"/>
              </a:ext>
            </a:extLst>
          </p:cNvPr>
          <p:cNvSpPr/>
          <p:nvPr/>
        </p:nvSpPr>
        <p:spPr>
          <a:xfrm>
            <a:off x="1581407" y="-277951"/>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9" name="TextBox 9">
            <a:extLst>
              <a:ext uri="{FF2B5EF4-FFF2-40B4-BE49-F238E27FC236}">
                <a16:creationId xmlns:a16="http://schemas.microsoft.com/office/drawing/2014/main" id="{4E797A68-03BA-6A07-56B9-960A7628C5A4}"/>
              </a:ext>
            </a:extLst>
          </p:cNvPr>
          <p:cNvSpPr txBox="1"/>
          <p:nvPr/>
        </p:nvSpPr>
        <p:spPr>
          <a:xfrm>
            <a:off x="11696179" y="9592446"/>
            <a:ext cx="3077236" cy="291211"/>
          </a:xfrm>
          <a:prstGeom prst="rect">
            <a:avLst/>
          </a:prstGeom>
        </p:spPr>
        <p:txBody>
          <a:bodyPr lIns="0" tIns="0" rIns="0" bIns="0" rtlCol="0" anchor="t">
            <a:spAutoFit/>
          </a:bodyPr>
          <a:lstStyle/>
          <a:p>
            <a:pPr algn="l">
              <a:lnSpc>
                <a:spcPts val="2324"/>
              </a:lnSpc>
            </a:pPr>
            <a:r>
              <a:rPr lang="en-US" sz="1660">
                <a:solidFill>
                  <a:srgbClr val="FFFFFF"/>
                </a:solidFill>
                <a:latin typeface="Poppins"/>
                <a:ea typeface="Poppins"/>
                <a:cs typeface="Poppins"/>
                <a:sym typeface="Poppins"/>
              </a:rPr>
              <a:t>www.reallygreatsite.com </a:t>
            </a:r>
          </a:p>
        </p:txBody>
      </p:sp>
      <p:sp>
        <p:nvSpPr>
          <p:cNvPr id="14" name="AutoShape 14">
            <a:extLst>
              <a:ext uri="{FF2B5EF4-FFF2-40B4-BE49-F238E27FC236}">
                <a16:creationId xmlns:a16="http://schemas.microsoft.com/office/drawing/2014/main" id="{4805FDB1-ACA1-308A-DB4B-4F5AB470AFAD}"/>
              </a:ext>
            </a:extLst>
          </p:cNvPr>
          <p:cNvSpPr/>
          <p:nvPr/>
        </p:nvSpPr>
        <p:spPr>
          <a:xfrm rot="5400000">
            <a:off x="16399966" y="6264625"/>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15" name="TextBox 15">
            <a:extLst>
              <a:ext uri="{FF2B5EF4-FFF2-40B4-BE49-F238E27FC236}">
                <a16:creationId xmlns:a16="http://schemas.microsoft.com/office/drawing/2014/main" id="{5907A0DE-9915-E8BF-D2CE-E4553A828E66}"/>
              </a:ext>
            </a:extLst>
          </p:cNvPr>
          <p:cNvSpPr txBox="1"/>
          <p:nvPr/>
        </p:nvSpPr>
        <p:spPr>
          <a:xfrm rot="-5400000">
            <a:off x="17310518" y="8275412"/>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16" name="TextBox 16">
            <a:extLst>
              <a:ext uri="{FF2B5EF4-FFF2-40B4-BE49-F238E27FC236}">
                <a16:creationId xmlns:a16="http://schemas.microsoft.com/office/drawing/2014/main" id="{F0DA52C2-943C-9A67-C557-7A58D8B0B2B9}"/>
              </a:ext>
            </a:extLst>
          </p:cNvPr>
          <p:cNvSpPr txBox="1"/>
          <p:nvPr/>
        </p:nvSpPr>
        <p:spPr>
          <a:xfrm rot="-5400000">
            <a:off x="16161626" y="2739884"/>
            <a:ext cx="3231104" cy="272161"/>
          </a:xfrm>
          <a:prstGeom prst="rect">
            <a:avLst/>
          </a:prstGeom>
        </p:spPr>
        <p:txBody>
          <a:bodyPr lIns="0" tIns="0" rIns="0" bIns="0" rtlCol="0" anchor="t">
            <a:spAutoFit/>
          </a:bodyPr>
          <a:lstStyle/>
          <a:p>
            <a:pPr algn="ctr">
              <a:lnSpc>
                <a:spcPts val="2324"/>
              </a:lnSpc>
            </a:pPr>
            <a:r>
              <a:rPr lang="en-US" sz="1660">
                <a:solidFill>
                  <a:srgbClr val="FFFFFF"/>
                </a:solidFill>
                <a:latin typeface="Quicksand"/>
                <a:ea typeface="Quicksand"/>
                <a:cs typeface="Quicksand"/>
                <a:sym typeface="Quicksand"/>
              </a:rPr>
              <a:t>www.reallygreatsite.com </a:t>
            </a:r>
          </a:p>
        </p:txBody>
      </p:sp>
      <p:sp>
        <p:nvSpPr>
          <p:cNvPr id="6" name="TextBox 5">
            <a:extLst>
              <a:ext uri="{FF2B5EF4-FFF2-40B4-BE49-F238E27FC236}">
                <a16:creationId xmlns:a16="http://schemas.microsoft.com/office/drawing/2014/main" id="{25EFCF64-7109-3770-CC3E-DCDAAFE7C596}"/>
              </a:ext>
            </a:extLst>
          </p:cNvPr>
          <p:cNvSpPr txBox="1"/>
          <p:nvPr/>
        </p:nvSpPr>
        <p:spPr>
          <a:xfrm>
            <a:off x="5245118" y="181397"/>
            <a:ext cx="8058938" cy="923330"/>
          </a:xfrm>
          <a:prstGeom prst="rect">
            <a:avLst/>
          </a:prstGeom>
          <a:noFill/>
        </p:spPr>
        <p:txBody>
          <a:bodyPr wrap="square" lIns="91440" tIns="45720" rIns="91440" bIns="45720" rtlCol="0" anchor="t">
            <a:spAutoFit/>
          </a:bodyPr>
          <a:lstStyle/>
          <a:p>
            <a:r>
              <a:rPr lang="en-US" sz="5400">
                <a:solidFill>
                  <a:schemeClr val="bg1"/>
                </a:solidFill>
                <a:ea typeface="Calibri"/>
                <a:cs typeface="Calibri"/>
              </a:rPr>
              <a:t>     Power Report</a:t>
            </a:r>
          </a:p>
        </p:txBody>
      </p:sp>
      <p:sp>
        <p:nvSpPr>
          <p:cNvPr id="2" name="TextBox 1">
            <a:extLst>
              <a:ext uri="{FF2B5EF4-FFF2-40B4-BE49-F238E27FC236}">
                <a16:creationId xmlns:a16="http://schemas.microsoft.com/office/drawing/2014/main" id="{3EABE568-3587-8F49-FD01-545FF43E8D81}"/>
              </a:ext>
            </a:extLst>
          </p:cNvPr>
          <p:cNvSpPr txBox="1"/>
          <p:nvPr/>
        </p:nvSpPr>
        <p:spPr>
          <a:xfrm>
            <a:off x="1578333" y="2016671"/>
            <a:ext cx="15392207" cy="94487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endParaRPr lang="en-US" sz="3200">
              <a:ea typeface="+mn-lt"/>
              <a:cs typeface="+mn-lt"/>
            </a:endParaRPr>
          </a:p>
          <a:p>
            <a:pPr marL="285750" indent="-285750">
              <a:buFont typeface="Arial"/>
              <a:buChar char="•"/>
            </a:pPr>
            <a:r>
              <a:rPr lang="en-US" sz="3200" b="1">
                <a:ea typeface="+mn-lt"/>
                <a:cs typeface="+mn-lt"/>
              </a:rPr>
              <a:t>Total dynamic power:</a:t>
            </a:r>
            <a:r>
              <a:rPr lang="en-US" sz="3200">
                <a:ea typeface="+mn-lt"/>
                <a:cs typeface="+mn-lt"/>
              </a:rPr>
              <a:t> </a:t>
            </a:r>
            <a:r>
              <a:rPr lang="en-US" sz="3200" b="1">
                <a:ea typeface="+mn-lt"/>
                <a:cs typeface="+mn-lt"/>
              </a:rPr>
              <a:t>~9.43 µW</a:t>
            </a:r>
            <a:r>
              <a:rPr lang="en-US" sz="3200">
                <a:ea typeface="+mn-lt"/>
                <a:cs typeface="+mn-lt"/>
              </a:rPr>
              <a:t> (Cell internal = </a:t>
            </a:r>
            <a:r>
              <a:rPr lang="en-US" sz="3200" b="1">
                <a:ea typeface="+mn-lt"/>
                <a:cs typeface="+mn-lt"/>
              </a:rPr>
              <a:t>8.43 µW</a:t>
            </a:r>
            <a:r>
              <a:rPr lang="en-US" sz="3200">
                <a:ea typeface="+mn-lt"/>
                <a:cs typeface="+mn-lt"/>
              </a:rPr>
              <a:t>, Net switching = </a:t>
            </a:r>
            <a:r>
              <a:rPr lang="en-US" sz="3200" b="1">
                <a:ea typeface="+mn-lt"/>
                <a:cs typeface="+mn-lt"/>
              </a:rPr>
              <a:t>1.00 µW</a:t>
            </a:r>
            <a:r>
              <a:rPr lang="en-US" sz="3200">
                <a:ea typeface="+mn-lt"/>
                <a:cs typeface="+mn-lt"/>
              </a:rPr>
              <a:t>)  (dynamic = internal + switching).</a:t>
            </a:r>
            <a:endParaRPr lang="en-US" sz="3200">
              <a:ea typeface="Calibri"/>
              <a:cs typeface="Calibri"/>
            </a:endParaRPr>
          </a:p>
          <a:p>
            <a:pPr>
              <a:buFont typeface="Arial"/>
              <a:buChar char="•"/>
            </a:pPr>
            <a:r>
              <a:rPr lang="en-US" sz="3200" b="1">
                <a:ea typeface="+mn-lt"/>
                <a:cs typeface="+mn-lt"/>
              </a:rPr>
              <a:t>  Power breakdown:</a:t>
            </a:r>
            <a:endParaRPr lang="en-US" sz="3200">
              <a:ea typeface="Calibri"/>
              <a:cs typeface="Calibri"/>
            </a:endParaRPr>
          </a:p>
          <a:p>
            <a:pPr lvl="1">
              <a:buFont typeface="Arial"/>
              <a:buChar char="•"/>
            </a:pPr>
            <a:r>
              <a:rPr lang="en-US" sz="3200" b="1">
                <a:ea typeface="+mn-lt"/>
                <a:cs typeface="+mn-lt"/>
              </a:rPr>
              <a:t>Clock network:</a:t>
            </a:r>
            <a:r>
              <a:rPr lang="en-US" sz="3200">
                <a:ea typeface="+mn-lt"/>
                <a:cs typeface="+mn-lt"/>
              </a:rPr>
              <a:t> ~</a:t>
            </a:r>
            <a:r>
              <a:rPr lang="en-US" sz="3200" b="1">
                <a:ea typeface="+mn-lt"/>
                <a:cs typeface="+mn-lt"/>
              </a:rPr>
              <a:t>7.62 µW</a:t>
            </a:r>
            <a:r>
              <a:rPr lang="en-US" sz="3200">
                <a:ea typeface="+mn-lt"/>
                <a:cs typeface="+mn-lt"/>
              </a:rPr>
              <a:t> internal (≈ </a:t>
            </a:r>
            <a:r>
              <a:rPr lang="en-US" sz="3200" b="1">
                <a:ea typeface="+mn-lt"/>
                <a:cs typeface="+mn-lt"/>
              </a:rPr>
              <a:t>78.8%</a:t>
            </a:r>
            <a:r>
              <a:rPr lang="en-US" sz="3200">
                <a:ea typeface="+mn-lt"/>
                <a:cs typeface="+mn-lt"/>
              </a:rPr>
              <a:t> of dynamic), clock dominates internal power.</a:t>
            </a:r>
            <a:endParaRPr lang="en-US">
              <a:ea typeface="Calibri"/>
              <a:cs typeface="Calibri"/>
            </a:endParaRPr>
          </a:p>
          <a:p>
            <a:pPr lvl="1">
              <a:buFont typeface="Arial"/>
              <a:buChar char="•"/>
            </a:pPr>
            <a:r>
              <a:rPr lang="en-US" sz="3200" b="1">
                <a:ea typeface="+mn-lt"/>
                <a:cs typeface="+mn-lt"/>
              </a:rPr>
              <a:t>Combinational logic:</a:t>
            </a:r>
            <a:r>
              <a:rPr lang="en-US" sz="3200">
                <a:ea typeface="+mn-lt"/>
                <a:cs typeface="+mn-lt"/>
              </a:rPr>
              <a:t> total ≈ </a:t>
            </a:r>
            <a:r>
              <a:rPr lang="en-US" sz="3200" b="1">
                <a:ea typeface="+mn-lt"/>
                <a:cs typeface="+mn-lt"/>
              </a:rPr>
              <a:t>1.66 µW</a:t>
            </a:r>
            <a:r>
              <a:rPr lang="en-US" sz="3200">
                <a:ea typeface="+mn-lt"/>
                <a:cs typeface="+mn-lt"/>
              </a:rPr>
              <a:t> (internal + switching) ~17.1% of dynamic.</a:t>
            </a:r>
            <a:endParaRPr lang="en-US">
              <a:ea typeface="Calibri"/>
              <a:cs typeface="Calibri"/>
            </a:endParaRPr>
          </a:p>
          <a:p>
            <a:pPr lvl="1">
              <a:buFont typeface="Arial"/>
              <a:buChar char="•"/>
            </a:pPr>
            <a:r>
              <a:rPr lang="en-US" sz="3200" b="1">
                <a:ea typeface="+mn-lt"/>
                <a:cs typeface="+mn-lt"/>
              </a:rPr>
              <a:t>Registers:</a:t>
            </a:r>
            <a:r>
              <a:rPr lang="en-US" sz="3200">
                <a:ea typeface="+mn-lt"/>
                <a:cs typeface="+mn-lt"/>
              </a:rPr>
              <a:t> small dynamic share (~0.4%), but contribute to leakage.</a:t>
            </a:r>
            <a:endParaRPr lang="en-US">
              <a:ea typeface="Calibri"/>
              <a:cs typeface="Calibri"/>
            </a:endParaRPr>
          </a:p>
          <a:p>
            <a:pPr lvl="1">
              <a:buFont typeface="Arial"/>
              <a:buChar char="•"/>
            </a:pPr>
            <a:endParaRPr lang="en-US" sz="3200">
              <a:ea typeface="Calibri"/>
              <a:cs typeface="Calibri"/>
            </a:endParaRPr>
          </a:p>
          <a:p>
            <a:pPr marL="285750" indent="-285750">
              <a:buFont typeface="Arial"/>
              <a:buChar char="•"/>
            </a:pPr>
            <a:r>
              <a:rPr lang="en-US" sz="3200" b="1">
                <a:ea typeface="+mn-lt"/>
                <a:cs typeface="+mn-lt"/>
              </a:rPr>
              <a:t>Total Internal Power:</a:t>
            </a:r>
            <a:r>
              <a:rPr lang="en-US" sz="3200">
                <a:ea typeface="+mn-lt"/>
                <a:cs typeface="+mn-lt"/>
              </a:rPr>
              <a:t> 8.4302 µW (≈89% of dynamic power)</a:t>
            </a:r>
            <a:endParaRPr lang="en-US">
              <a:ea typeface="+mn-lt"/>
              <a:cs typeface="+mn-lt"/>
            </a:endParaRPr>
          </a:p>
          <a:p>
            <a:pPr marL="285750" indent="-285750">
              <a:buFont typeface="Arial"/>
              <a:buChar char="•"/>
            </a:pPr>
            <a:r>
              <a:rPr lang="en-US" sz="3200" b="1">
                <a:ea typeface="+mn-lt"/>
                <a:cs typeface="+mn-lt"/>
              </a:rPr>
              <a:t>Total Net Switching Power:</a:t>
            </a:r>
            <a:r>
              <a:rPr lang="en-US" sz="3200">
                <a:ea typeface="+mn-lt"/>
                <a:cs typeface="+mn-lt"/>
              </a:rPr>
              <a:t> 1.0030 µW (≈11% of dynamic power)</a:t>
            </a:r>
            <a:endParaRPr lang="en-US"/>
          </a:p>
          <a:p>
            <a:pPr marL="285750" indent="-285750">
              <a:buFont typeface="Arial"/>
              <a:buChar char="•"/>
            </a:pPr>
            <a:r>
              <a:rPr lang="en-US" sz="3200" b="1">
                <a:ea typeface="+mn-lt"/>
                <a:cs typeface="+mn-lt"/>
              </a:rPr>
              <a:t>Total Dynamic Power:</a:t>
            </a:r>
            <a:r>
              <a:rPr lang="en-US" sz="3200">
                <a:ea typeface="+mn-lt"/>
                <a:cs typeface="+mn-lt"/>
              </a:rPr>
              <a:t> 9.4332 µW</a:t>
            </a:r>
            <a:endParaRPr lang="en-US"/>
          </a:p>
          <a:p>
            <a:pPr marL="285750" indent="-285750">
              <a:buFont typeface="Arial"/>
              <a:buChar char="•"/>
            </a:pPr>
            <a:r>
              <a:rPr lang="en-US" sz="3200" b="1">
                <a:ea typeface="+mn-lt"/>
                <a:cs typeface="+mn-lt"/>
              </a:rPr>
              <a:t>Total Leakage Power:</a:t>
            </a:r>
            <a:r>
              <a:rPr lang="en-US" sz="3200">
                <a:ea typeface="+mn-lt"/>
                <a:cs typeface="+mn-lt"/>
              </a:rPr>
              <a:t> 240.89 nW </a:t>
            </a:r>
            <a:endParaRPr lang="en-US" sz="3200">
              <a:ea typeface="Calibri"/>
              <a:cs typeface="Calibri"/>
            </a:endParaRPr>
          </a:p>
          <a:p>
            <a:pPr marL="285750" indent="-285750">
              <a:buFont typeface="Arial"/>
              <a:buChar char="•"/>
            </a:pPr>
            <a:r>
              <a:rPr lang="en-US" sz="3200" b="1">
                <a:ea typeface="+mn-lt"/>
                <a:cs typeface="+mn-lt"/>
              </a:rPr>
              <a:t>Overall Total Power:</a:t>
            </a:r>
            <a:r>
              <a:rPr lang="en-US" sz="3200">
                <a:ea typeface="+mn-lt"/>
                <a:cs typeface="+mn-lt"/>
              </a:rPr>
              <a:t> </a:t>
            </a:r>
            <a:r>
              <a:rPr lang="en-US" sz="3200" b="1">
                <a:ea typeface="+mn-lt"/>
                <a:cs typeface="+mn-lt"/>
              </a:rPr>
              <a:t>9.6741 µW </a:t>
            </a:r>
            <a:r>
              <a:rPr lang="en-US" sz="3200">
                <a:ea typeface="+mn-lt"/>
                <a:cs typeface="+mn-lt"/>
              </a:rPr>
              <a:t>( dynamic + leakage )</a:t>
            </a:r>
            <a:endParaRPr lang="en-US"/>
          </a:p>
          <a:p>
            <a:pPr lvl="1"/>
            <a:endParaRPr lang="en-US" sz="3200">
              <a:ea typeface="Calibri"/>
              <a:cs typeface="Calibri"/>
            </a:endParaRPr>
          </a:p>
          <a:p>
            <a:endParaRPr lang="en-US" sz="3200">
              <a:ea typeface="Calibri"/>
              <a:cs typeface="Calibri"/>
            </a:endParaRPr>
          </a:p>
          <a:p>
            <a:endParaRPr lang="en-US" sz="3200">
              <a:ea typeface="Calibri"/>
              <a:cs typeface="Calibri"/>
            </a:endParaRPr>
          </a:p>
          <a:p>
            <a:endParaRPr lang="en-US" sz="3200">
              <a:ea typeface="Calibri"/>
              <a:cs typeface="Calibri"/>
            </a:endParaRPr>
          </a:p>
          <a:p>
            <a:endParaRPr lang="en-US" sz="3200">
              <a:ea typeface="Calibri"/>
              <a:cs typeface="Calibri"/>
            </a:endParaRPr>
          </a:p>
        </p:txBody>
      </p:sp>
    </p:spTree>
    <p:extLst>
      <p:ext uri="{BB962C8B-B14F-4D97-AF65-F5344CB8AC3E}">
        <p14:creationId xmlns:p14="http://schemas.microsoft.com/office/powerpoint/2010/main" val="5880041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BEB9D-701C-E845-013B-5FBD970EF923}"/>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562CA1EA-C6EF-344E-1F63-0A932C4A6445}"/>
              </a:ext>
            </a:extLst>
          </p:cNvPr>
          <p:cNvSpPr/>
          <p:nvPr/>
        </p:nvSpPr>
        <p:spPr>
          <a:xfrm>
            <a:off x="1581407" y="-277951"/>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9" name="TextBox 9">
            <a:extLst>
              <a:ext uri="{FF2B5EF4-FFF2-40B4-BE49-F238E27FC236}">
                <a16:creationId xmlns:a16="http://schemas.microsoft.com/office/drawing/2014/main" id="{1FC20654-6CE9-A354-0B9F-DCDED4C07AC0}"/>
              </a:ext>
            </a:extLst>
          </p:cNvPr>
          <p:cNvSpPr txBox="1"/>
          <p:nvPr/>
        </p:nvSpPr>
        <p:spPr>
          <a:xfrm>
            <a:off x="11696179" y="9592446"/>
            <a:ext cx="3077236" cy="291211"/>
          </a:xfrm>
          <a:prstGeom prst="rect">
            <a:avLst/>
          </a:prstGeom>
        </p:spPr>
        <p:txBody>
          <a:bodyPr lIns="0" tIns="0" rIns="0" bIns="0" rtlCol="0" anchor="t">
            <a:spAutoFit/>
          </a:bodyPr>
          <a:lstStyle/>
          <a:p>
            <a:pPr algn="l">
              <a:lnSpc>
                <a:spcPts val="2324"/>
              </a:lnSpc>
            </a:pPr>
            <a:r>
              <a:rPr lang="en-US" sz="1660">
                <a:solidFill>
                  <a:srgbClr val="FFFFFF"/>
                </a:solidFill>
                <a:latin typeface="Poppins"/>
                <a:ea typeface="Poppins"/>
                <a:cs typeface="Poppins"/>
                <a:sym typeface="Poppins"/>
              </a:rPr>
              <a:t>www.reallygreatsite.com </a:t>
            </a:r>
          </a:p>
        </p:txBody>
      </p:sp>
      <p:sp>
        <p:nvSpPr>
          <p:cNvPr id="14" name="AutoShape 14">
            <a:extLst>
              <a:ext uri="{FF2B5EF4-FFF2-40B4-BE49-F238E27FC236}">
                <a16:creationId xmlns:a16="http://schemas.microsoft.com/office/drawing/2014/main" id="{D5375E63-E04A-E253-57D4-7A09E8607747}"/>
              </a:ext>
            </a:extLst>
          </p:cNvPr>
          <p:cNvSpPr/>
          <p:nvPr/>
        </p:nvSpPr>
        <p:spPr>
          <a:xfrm rot="5400000">
            <a:off x="16399966" y="6264625"/>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15" name="TextBox 15">
            <a:extLst>
              <a:ext uri="{FF2B5EF4-FFF2-40B4-BE49-F238E27FC236}">
                <a16:creationId xmlns:a16="http://schemas.microsoft.com/office/drawing/2014/main" id="{DAECE50C-4FE0-D0C0-0057-7B9B0C393DDD}"/>
              </a:ext>
            </a:extLst>
          </p:cNvPr>
          <p:cNvSpPr txBox="1"/>
          <p:nvPr/>
        </p:nvSpPr>
        <p:spPr>
          <a:xfrm rot="-5400000">
            <a:off x="17310518" y="8275412"/>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16" name="TextBox 16">
            <a:extLst>
              <a:ext uri="{FF2B5EF4-FFF2-40B4-BE49-F238E27FC236}">
                <a16:creationId xmlns:a16="http://schemas.microsoft.com/office/drawing/2014/main" id="{F7D6B048-0140-C249-4940-F372AADF8413}"/>
              </a:ext>
            </a:extLst>
          </p:cNvPr>
          <p:cNvSpPr txBox="1"/>
          <p:nvPr/>
        </p:nvSpPr>
        <p:spPr>
          <a:xfrm rot="-5400000">
            <a:off x="16161626" y="2739884"/>
            <a:ext cx="3231104" cy="272161"/>
          </a:xfrm>
          <a:prstGeom prst="rect">
            <a:avLst/>
          </a:prstGeom>
        </p:spPr>
        <p:txBody>
          <a:bodyPr lIns="0" tIns="0" rIns="0" bIns="0" rtlCol="0" anchor="t">
            <a:spAutoFit/>
          </a:bodyPr>
          <a:lstStyle/>
          <a:p>
            <a:pPr algn="ctr">
              <a:lnSpc>
                <a:spcPts val="2324"/>
              </a:lnSpc>
            </a:pPr>
            <a:r>
              <a:rPr lang="en-US" sz="1660">
                <a:solidFill>
                  <a:srgbClr val="FFFFFF"/>
                </a:solidFill>
                <a:latin typeface="Quicksand"/>
                <a:ea typeface="Quicksand"/>
                <a:cs typeface="Quicksand"/>
                <a:sym typeface="Quicksand"/>
              </a:rPr>
              <a:t>www.reallygreatsite.com </a:t>
            </a:r>
          </a:p>
        </p:txBody>
      </p:sp>
      <p:sp>
        <p:nvSpPr>
          <p:cNvPr id="6" name="TextBox 5">
            <a:extLst>
              <a:ext uri="{FF2B5EF4-FFF2-40B4-BE49-F238E27FC236}">
                <a16:creationId xmlns:a16="http://schemas.microsoft.com/office/drawing/2014/main" id="{44042B1F-D5AA-382C-7812-C69CA73B5A42}"/>
              </a:ext>
            </a:extLst>
          </p:cNvPr>
          <p:cNvSpPr txBox="1"/>
          <p:nvPr/>
        </p:nvSpPr>
        <p:spPr>
          <a:xfrm>
            <a:off x="2706986" y="181397"/>
            <a:ext cx="10529835" cy="923330"/>
          </a:xfrm>
          <a:prstGeom prst="rect">
            <a:avLst/>
          </a:prstGeom>
          <a:noFill/>
        </p:spPr>
        <p:txBody>
          <a:bodyPr wrap="square" lIns="91440" tIns="45720" rIns="91440" bIns="45720" rtlCol="0" anchor="t">
            <a:spAutoFit/>
          </a:bodyPr>
          <a:lstStyle/>
          <a:p>
            <a:r>
              <a:rPr lang="en-US" sz="5400">
                <a:solidFill>
                  <a:schemeClr val="bg1"/>
                </a:solidFill>
                <a:ea typeface="Calibri"/>
                <a:cs typeface="Calibri"/>
              </a:rPr>
              <a:t>                      Physical Design</a:t>
            </a:r>
          </a:p>
        </p:txBody>
      </p:sp>
      <p:sp>
        <p:nvSpPr>
          <p:cNvPr id="2" name="TextBox 1">
            <a:extLst>
              <a:ext uri="{FF2B5EF4-FFF2-40B4-BE49-F238E27FC236}">
                <a16:creationId xmlns:a16="http://schemas.microsoft.com/office/drawing/2014/main" id="{B89161C5-DF3C-8B15-9975-B7EE47780DB5}"/>
              </a:ext>
            </a:extLst>
          </p:cNvPr>
          <p:cNvSpPr txBox="1"/>
          <p:nvPr/>
        </p:nvSpPr>
        <p:spPr>
          <a:xfrm>
            <a:off x="1578332" y="1882200"/>
            <a:ext cx="14450914" cy="87408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3200" b="1">
                <a:ea typeface="+mn-lt"/>
                <a:cs typeface="+mn-lt"/>
              </a:rPr>
              <a:t>Used Synopsys IC Compiler II (ICC2)</a:t>
            </a:r>
            <a:r>
              <a:rPr lang="en-US" sz="3200">
                <a:ea typeface="+mn-lt"/>
                <a:cs typeface="+mn-lt"/>
              </a:rPr>
              <a:t> for complete Place &amp; Route implementation of the digital Sigma-Delta Filter design.</a:t>
            </a:r>
          </a:p>
          <a:p>
            <a:pPr marL="285750" indent="-285750">
              <a:buFont typeface="Arial"/>
              <a:buChar char="•"/>
            </a:pPr>
            <a:r>
              <a:rPr lang="en-US" sz="3200" b="1">
                <a:ea typeface="+mn-lt"/>
                <a:cs typeface="+mn-lt"/>
              </a:rPr>
              <a:t>Created a common setup TCL environment</a:t>
            </a:r>
            <a:r>
              <a:rPr lang="en-US" sz="3200">
                <a:ea typeface="+mn-lt"/>
                <a:cs typeface="+mn-lt"/>
              </a:rPr>
              <a:t>, using the technology </a:t>
            </a:r>
            <a:r>
              <a:rPr lang="en-US" sz="3200">
                <a:latin typeface="Consolas"/>
                <a:ea typeface="+mn-lt"/>
                <a:cs typeface="+mn-lt"/>
              </a:rPr>
              <a:t>.ndm</a:t>
            </a:r>
            <a:r>
              <a:rPr lang="en-US" sz="3200">
                <a:ea typeface="+mn-lt"/>
                <a:cs typeface="+mn-lt"/>
              </a:rPr>
              <a:t> file.</a:t>
            </a:r>
          </a:p>
          <a:p>
            <a:pPr marL="285750" indent="-285750">
              <a:buFont typeface="Arial"/>
              <a:buChar char="•"/>
            </a:pPr>
            <a:r>
              <a:rPr lang="en-US" sz="3200">
                <a:ea typeface="+mn-lt"/>
                <a:cs typeface="+mn-lt"/>
              </a:rPr>
              <a:t>This </a:t>
            </a:r>
            <a:r>
              <a:rPr lang="en-US" sz="3200">
                <a:latin typeface="Consolas"/>
                <a:ea typeface="Calibri"/>
                <a:cs typeface="Calibri"/>
              </a:rPr>
              <a:t>.ndm</a:t>
            </a:r>
            <a:r>
              <a:rPr lang="en-US" sz="3200">
                <a:ea typeface="+mn-lt"/>
                <a:cs typeface="+mn-lt"/>
              </a:rPr>
              <a:t> bundle internally contains all required technology and library data:</a:t>
            </a:r>
            <a:endParaRPr lang="en-US" sz="3200">
              <a:ea typeface="Calibri"/>
              <a:cs typeface="Calibri"/>
            </a:endParaRPr>
          </a:p>
          <a:p>
            <a:r>
              <a:rPr lang="en-US" sz="3200">
                <a:ea typeface="Calibri"/>
                <a:cs typeface="Calibri"/>
              </a:rPr>
              <a:t>    Techfile(.tf), TLU files, .lib, .db , .lef files.</a:t>
            </a:r>
          </a:p>
          <a:p>
            <a:r>
              <a:rPr lang="en-US" sz="3200" b="1">
                <a:ea typeface="+mn-lt"/>
                <a:cs typeface="+mn-lt"/>
              </a:rPr>
              <a:t>Developed separate ICC2 TCL scripts</a:t>
            </a:r>
            <a:r>
              <a:rPr lang="en-US" sz="3200">
                <a:ea typeface="+mn-lt"/>
                <a:cs typeface="+mn-lt"/>
              </a:rPr>
              <a:t> for each physical design stage:</a:t>
            </a:r>
            <a:endParaRPr lang="en-US"/>
          </a:p>
          <a:p>
            <a:pPr marL="742950" lvl="1" indent="-285750">
              <a:buFont typeface="Courier New"/>
              <a:buChar char="o"/>
            </a:pPr>
            <a:r>
              <a:rPr lang="en-US" sz="3200">
                <a:latin typeface="Consolas"/>
                <a:ea typeface="Calibri"/>
                <a:cs typeface="Calibri"/>
              </a:rPr>
              <a:t>floorplan.tcl</a:t>
            </a:r>
            <a:r>
              <a:rPr lang="en-US" sz="3200">
                <a:ea typeface="+mn-lt"/>
                <a:cs typeface="+mn-lt"/>
              </a:rPr>
              <a:t> → Die/core dimensions, utilization, pin placement</a:t>
            </a:r>
            <a:endParaRPr lang="en-US">
              <a:ea typeface="Calibri"/>
              <a:cs typeface="Calibri"/>
            </a:endParaRPr>
          </a:p>
          <a:p>
            <a:pPr marL="742950" lvl="1" indent="-285750">
              <a:buFont typeface="Courier New"/>
              <a:buChar char="o"/>
            </a:pPr>
            <a:r>
              <a:rPr lang="en-US" sz="3200">
                <a:latin typeface="Consolas"/>
                <a:ea typeface="Calibri"/>
                <a:cs typeface="Calibri"/>
              </a:rPr>
              <a:t>powerplan.tcl</a:t>
            </a:r>
            <a:r>
              <a:rPr lang="en-US" sz="3200">
                <a:ea typeface="+mn-lt"/>
                <a:cs typeface="+mn-lt"/>
              </a:rPr>
              <a:t> → Power grid (VDD/VSS) creation</a:t>
            </a:r>
            <a:endParaRPr lang="en-US">
              <a:ea typeface="Calibri"/>
              <a:cs typeface="Calibri"/>
            </a:endParaRPr>
          </a:p>
          <a:p>
            <a:pPr marL="742950" lvl="1" indent="-285750">
              <a:buFont typeface="Courier New"/>
              <a:buChar char="o"/>
            </a:pPr>
            <a:r>
              <a:rPr lang="en-US" sz="3200">
                <a:latin typeface="Consolas"/>
                <a:ea typeface="Calibri"/>
                <a:cs typeface="Calibri"/>
              </a:rPr>
              <a:t>placement.tcl</a:t>
            </a:r>
            <a:r>
              <a:rPr lang="en-US" sz="3200">
                <a:ea typeface="+mn-lt"/>
                <a:cs typeface="+mn-lt"/>
              </a:rPr>
              <a:t> → Standard cell placement + legalization</a:t>
            </a:r>
            <a:endParaRPr lang="en-US">
              <a:ea typeface="Calibri"/>
              <a:cs typeface="Calibri"/>
            </a:endParaRPr>
          </a:p>
          <a:p>
            <a:pPr marL="742950" lvl="1" indent="-285750">
              <a:buFont typeface="Courier New"/>
              <a:buChar char="o"/>
            </a:pPr>
            <a:r>
              <a:rPr lang="en-US" sz="3200">
                <a:latin typeface="Consolas"/>
                <a:ea typeface="Calibri"/>
                <a:cs typeface="Calibri"/>
              </a:rPr>
              <a:t>cts.tcl</a:t>
            </a:r>
            <a:r>
              <a:rPr lang="en-US" sz="3200">
                <a:ea typeface="+mn-lt"/>
                <a:cs typeface="+mn-lt"/>
              </a:rPr>
              <a:t> → Clock Tree Synthesis (buffer insertion, balancing)</a:t>
            </a:r>
            <a:endParaRPr lang="en-US">
              <a:ea typeface="Calibri"/>
              <a:cs typeface="Calibri"/>
            </a:endParaRPr>
          </a:p>
          <a:p>
            <a:pPr marL="742950" lvl="1" indent="-285750">
              <a:buFont typeface="Courier New"/>
              <a:buChar char="o"/>
            </a:pPr>
            <a:r>
              <a:rPr lang="en-US" sz="3200">
                <a:latin typeface="Consolas"/>
                <a:ea typeface="Calibri"/>
                <a:cs typeface="Calibri"/>
              </a:rPr>
              <a:t>routing.tcl</a:t>
            </a:r>
            <a:r>
              <a:rPr lang="en-US" sz="3200">
                <a:ea typeface="+mn-lt"/>
                <a:cs typeface="+mn-lt"/>
              </a:rPr>
              <a:t> → Global + detailed routing</a:t>
            </a:r>
            <a:endParaRPr lang="en-US">
              <a:ea typeface="Calibri"/>
              <a:cs typeface="Calibri"/>
            </a:endParaRPr>
          </a:p>
          <a:p>
            <a:pPr marL="742950" lvl="1" indent="-285750">
              <a:buFont typeface="Courier New"/>
              <a:buChar char="o"/>
            </a:pPr>
            <a:r>
              <a:rPr lang="en-US" sz="3200">
                <a:latin typeface="Consolas"/>
                <a:ea typeface="Calibri"/>
                <a:cs typeface="Calibri"/>
              </a:rPr>
              <a:t>gds_export.tcl</a:t>
            </a:r>
            <a:r>
              <a:rPr lang="en-US" sz="3200">
                <a:ea typeface="+mn-lt"/>
                <a:cs typeface="+mn-lt"/>
              </a:rPr>
              <a:t> → Final GDSII writing</a:t>
            </a:r>
            <a:endParaRPr lang="en-US">
              <a:ea typeface="Calibri"/>
              <a:cs typeface="Calibri"/>
            </a:endParaRPr>
          </a:p>
          <a:p>
            <a:pPr marL="285750" indent="-285750">
              <a:buFont typeface="Arial"/>
              <a:buChar char="•"/>
            </a:pPr>
            <a:r>
              <a:rPr lang="en-US" sz="3200" b="1">
                <a:ea typeface="+mn-lt"/>
                <a:cs typeface="+mn-lt"/>
              </a:rPr>
              <a:t>Routing completed using the available 4 metal layers</a:t>
            </a:r>
            <a:r>
              <a:rPr lang="en-US" sz="3200">
                <a:ea typeface="+mn-lt"/>
                <a:cs typeface="+mn-lt"/>
              </a:rPr>
              <a:t> in SCL180:</a:t>
            </a:r>
            <a:endParaRPr lang="en-US"/>
          </a:p>
          <a:p>
            <a:pPr marL="742950" lvl="1" indent="-285750">
              <a:buFont typeface="Courier New"/>
              <a:buChar char="o"/>
            </a:pPr>
            <a:r>
              <a:rPr lang="en-US" sz="3200" b="1">
                <a:ea typeface="+mn-lt"/>
                <a:cs typeface="+mn-lt"/>
              </a:rPr>
              <a:t>M1, M2, M3</a:t>
            </a:r>
            <a:r>
              <a:rPr lang="en-US" sz="3200">
                <a:ea typeface="+mn-lt"/>
                <a:cs typeface="+mn-lt"/>
              </a:rPr>
              <a:t> </a:t>
            </a:r>
            <a:endParaRPr lang="en-US">
              <a:ea typeface="Calibri"/>
              <a:cs typeface="Calibri"/>
            </a:endParaRPr>
          </a:p>
          <a:p>
            <a:pPr marL="285750" indent="-285750">
              <a:buFont typeface="Arial"/>
              <a:buChar char="•"/>
            </a:pPr>
            <a:r>
              <a:rPr lang="en-US" sz="3200" b="1">
                <a:ea typeface="+mn-lt"/>
                <a:cs typeface="+mn-lt"/>
              </a:rPr>
              <a:t>Top metal (M4)</a:t>
            </a:r>
            <a:r>
              <a:rPr lang="en-US" sz="3200">
                <a:ea typeface="+mn-lt"/>
                <a:cs typeface="+mn-lt"/>
              </a:rPr>
              <a:t>  used as </a:t>
            </a:r>
            <a:r>
              <a:rPr lang="en-US" sz="3200" b="1">
                <a:ea typeface="+mn-lt"/>
                <a:cs typeface="+mn-lt"/>
              </a:rPr>
              <a:t>M1IL / top-level routing</a:t>
            </a:r>
            <a:r>
              <a:rPr lang="en-US" sz="3200">
                <a:ea typeface="+mn-lt"/>
                <a:cs typeface="+mn-lt"/>
              </a:rPr>
              <a:t> depending on stack</a:t>
            </a:r>
          </a:p>
          <a:p>
            <a:pPr marL="285750" indent="-285750">
              <a:buFont typeface="Arial"/>
              <a:buChar char="•"/>
            </a:pPr>
            <a:r>
              <a:rPr lang="en-US" sz="3200" b="1">
                <a:ea typeface="+mn-lt"/>
                <a:cs typeface="+mn-lt"/>
              </a:rPr>
              <a:t>Generated the final GDSII layout</a:t>
            </a:r>
            <a:r>
              <a:rPr lang="en-US" sz="3200">
                <a:ea typeface="+mn-lt"/>
                <a:cs typeface="+mn-lt"/>
              </a:rPr>
              <a:t> after routing.</a:t>
            </a:r>
            <a:endParaRPr lang="en-US"/>
          </a:p>
          <a:p>
            <a:endParaRPr lang="en-US" sz="3200">
              <a:ea typeface="Calibri"/>
              <a:cs typeface="Calibri"/>
            </a:endParaRPr>
          </a:p>
          <a:p>
            <a:pPr marL="285750" indent="-285750">
              <a:buFont typeface="Arial"/>
              <a:buChar char="•"/>
            </a:pPr>
            <a:endParaRPr lang="en-US">
              <a:ea typeface="Calibri"/>
              <a:cs typeface="Calibri"/>
            </a:endParaRPr>
          </a:p>
        </p:txBody>
      </p:sp>
    </p:spTree>
    <p:extLst>
      <p:ext uri="{BB962C8B-B14F-4D97-AF65-F5344CB8AC3E}">
        <p14:creationId xmlns:p14="http://schemas.microsoft.com/office/powerpoint/2010/main" val="38536081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33038-DF3F-021A-0A02-EE02F96658B7}"/>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CBBC122E-EDEF-6E80-851F-FF12A346DB3E}"/>
              </a:ext>
            </a:extLst>
          </p:cNvPr>
          <p:cNvSpPr txBox="1"/>
          <p:nvPr/>
        </p:nvSpPr>
        <p:spPr>
          <a:xfrm>
            <a:off x="11696179" y="9592446"/>
            <a:ext cx="3077236" cy="291211"/>
          </a:xfrm>
          <a:prstGeom prst="rect">
            <a:avLst/>
          </a:prstGeom>
        </p:spPr>
        <p:txBody>
          <a:bodyPr lIns="0" tIns="0" rIns="0" bIns="0" rtlCol="0" anchor="t">
            <a:spAutoFit/>
          </a:bodyPr>
          <a:lstStyle/>
          <a:p>
            <a:pPr algn="l">
              <a:lnSpc>
                <a:spcPts val="2324"/>
              </a:lnSpc>
            </a:pPr>
            <a:r>
              <a:rPr lang="en-US" sz="1660">
                <a:solidFill>
                  <a:srgbClr val="FFFFFF"/>
                </a:solidFill>
                <a:latin typeface="Poppins"/>
                <a:ea typeface="Poppins"/>
                <a:cs typeface="Poppins"/>
                <a:sym typeface="Poppins"/>
              </a:rPr>
              <a:t>www.reallygreatsite.com </a:t>
            </a:r>
          </a:p>
        </p:txBody>
      </p:sp>
      <p:sp>
        <p:nvSpPr>
          <p:cNvPr id="14" name="AutoShape 14">
            <a:extLst>
              <a:ext uri="{FF2B5EF4-FFF2-40B4-BE49-F238E27FC236}">
                <a16:creationId xmlns:a16="http://schemas.microsoft.com/office/drawing/2014/main" id="{1266F7FF-9F38-E6B3-7C53-7F58187ADF03}"/>
              </a:ext>
            </a:extLst>
          </p:cNvPr>
          <p:cNvSpPr/>
          <p:nvPr/>
        </p:nvSpPr>
        <p:spPr>
          <a:xfrm rot="5400000">
            <a:off x="16399966" y="6264625"/>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15" name="TextBox 15">
            <a:extLst>
              <a:ext uri="{FF2B5EF4-FFF2-40B4-BE49-F238E27FC236}">
                <a16:creationId xmlns:a16="http://schemas.microsoft.com/office/drawing/2014/main" id="{5F30CEC6-AE6F-E774-5BEF-B560BAECF202}"/>
              </a:ext>
            </a:extLst>
          </p:cNvPr>
          <p:cNvSpPr txBox="1"/>
          <p:nvPr/>
        </p:nvSpPr>
        <p:spPr>
          <a:xfrm rot="-5400000">
            <a:off x="17310518" y="8275412"/>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16" name="TextBox 16">
            <a:extLst>
              <a:ext uri="{FF2B5EF4-FFF2-40B4-BE49-F238E27FC236}">
                <a16:creationId xmlns:a16="http://schemas.microsoft.com/office/drawing/2014/main" id="{00A2436A-20D5-6256-5A93-15D6E096E6F2}"/>
              </a:ext>
            </a:extLst>
          </p:cNvPr>
          <p:cNvSpPr txBox="1"/>
          <p:nvPr/>
        </p:nvSpPr>
        <p:spPr>
          <a:xfrm rot="-5400000">
            <a:off x="16161626" y="2739884"/>
            <a:ext cx="3231104" cy="272161"/>
          </a:xfrm>
          <a:prstGeom prst="rect">
            <a:avLst/>
          </a:prstGeom>
        </p:spPr>
        <p:txBody>
          <a:bodyPr lIns="0" tIns="0" rIns="0" bIns="0" rtlCol="0" anchor="t">
            <a:spAutoFit/>
          </a:bodyPr>
          <a:lstStyle/>
          <a:p>
            <a:pPr algn="ctr">
              <a:lnSpc>
                <a:spcPts val="2324"/>
              </a:lnSpc>
            </a:pPr>
            <a:r>
              <a:rPr lang="en-US" sz="1660">
                <a:solidFill>
                  <a:srgbClr val="FFFFFF"/>
                </a:solidFill>
                <a:latin typeface="Quicksand"/>
                <a:ea typeface="Quicksand"/>
                <a:cs typeface="Quicksand"/>
                <a:sym typeface="Quicksand"/>
              </a:rPr>
              <a:t>www.reallygreatsite.com </a:t>
            </a:r>
          </a:p>
        </p:txBody>
      </p:sp>
      <p:pic>
        <p:nvPicPr>
          <p:cNvPr id="4" name="Picture 3" descr="A screenshot of a computer code&#10;&#10;AI-generated content may be incorrect.">
            <a:extLst>
              <a:ext uri="{FF2B5EF4-FFF2-40B4-BE49-F238E27FC236}">
                <a16:creationId xmlns:a16="http://schemas.microsoft.com/office/drawing/2014/main" id="{2C4127F0-969B-4457-25EC-CD2EA3A21BF1}"/>
              </a:ext>
            </a:extLst>
          </p:cNvPr>
          <p:cNvPicPr>
            <a:picLocks noChangeAspect="1"/>
          </p:cNvPicPr>
          <p:nvPr/>
        </p:nvPicPr>
        <p:blipFill>
          <a:blip r:embed="rId2"/>
          <a:stretch>
            <a:fillRect/>
          </a:stretch>
        </p:blipFill>
        <p:spPr>
          <a:xfrm>
            <a:off x="834838" y="1755620"/>
            <a:ext cx="7491133" cy="4048125"/>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3FD54A87-1FAF-08E6-EE2B-B3F431843912}"/>
              </a:ext>
            </a:extLst>
          </p:cNvPr>
          <p:cNvPicPr>
            <a:picLocks noChangeAspect="1"/>
          </p:cNvPicPr>
          <p:nvPr/>
        </p:nvPicPr>
        <p:blipFill>
          <a:blip r:embed="rId3"/>
          <a:stretch>
            <a:fillRect/>
          </a:stretch>
        </p:blipFill>
        <p:spPr>
          <a:xfrm>
            <a:off x="8476098" y="5297823"/>
            <a:ext cx="9300883" cy="4719956"/>
          </a:xfrm>
          <a:prstGeom prst="rect">
            <a:avLst/>
          </a:prstGeom>
        </p:spPr>
      </p:pic>
      <p:sp>
        <p:nvSpPr>
          <p:cNvPr id="7" name="TextBox 6">
            <a:extLst>
              <a:ext uri="{FF2B5EF4-FFF2-40B4-BE49-F238E27FC236}">
                <a16:creationId xmlns:a16="http://schemas.microsoft.com/office/drawing/2014/main" id="{9BEC7738-8306-C957-E007-80570E0A1FD2}"/>
              </a:ext>
            </a:extLst>
          </p:cNvPr>
          <p:cNvSpPr txBox="1"/>
          <p:nvPr/>
        </p:nvSpPr>
        <p:spPr>
          <a:xfrm>
            <a:off x="9424802" y="1750606"/>
            <a:ext cx="7618274"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ea typeface="+mn-lt"/>
                <a:cs typeface="+mn-lt"/>
              </a:rPr>
              <a:t>The</a:t>
            </a:r>
            <a:r>
              <a:rPr lang="en-US" sz="3200" b="1">
                <a:ea typeface="+mn-lt"/>
                <a:cs typeface="+mn-lt"/>
              </a:rPr>
              <a:t> global routing congestion map</a:t>
            </a:r>
            <a:r>
              <a:rPr lang="en-US" sz="3200">
                <a:ea typeface="+mn-lt"/>
                <a:cs typeface="+mn-lt"/>
              </a:rPr>
              <a:t> (shown in blue) indicates that the design experiences </a:t>
            </a:r>
            <a:r>
              <a:rPr lang="en-US" sz="3200" b="1">
                <a:ea typeface="+mn-lt"/>
                <a:cs typeface="+mn-lt"/>
              </a:rPr>
              <a:t>no routing overflow</a:t>
            </a:r>
            <a:r>
              <a:rPr lang="en-US" sz="3200">
                <a:ea typeface="+mn-lt"/>
                <a:cs typeface="+mn-lt"/>
              </a:rPr>
              <a:t> across all routing layers (M1–M3 and TOP_M).</a:t>
            </a:r>
            <a:br>
              <a:rPr lang="en-US" sz="3200">
                <a:ea typeface="+mn-lt"/>
                <a:cs typeface="+mn-lt"/>
              </a:rPr>
            </a:br>
            <a:r>
              <a:rPr lang="en-US" sz="3200">
                <a:ea typeface="+mn-lt"/>
                <a:cs typeface="+mn-lt"/>
              </a:rPr>
              <a:t> Since the design is relatively small, the routing demand is far below the available routing resources.</a:t>
            </a:r>
            <a:endParaRPr lang="en-US" sz="3200">
              <a:ea typeface="Calibri"/>
              <a:cs typeface="Calibri"/>
            </a:endParaRPr>
          </a:p>
        </p:txBody>
      </p:sp>
      <p:sp>
        <p:nvSpPr>
          <p:cNvPr id="10" name="TextBox 9">
            <a:extLst>
              <a:ext uri="{FF2B5EF4-FFF2-40B4-BE49-F238E27FC236}">
                <a16:creationId xmlns:a16="http://schemas.microsoft.com/office/drawing/2014/main" id="{8D0A4FCA-BFB1-341F-0D08-08E23B8CED53}"/>
              </a:ext>
            </a:extLst>
          </p:cNvPr>
          <p:cNvSpPr txBox="1"/>
          <p:nvPr/>
        </p:nvSpPr>
        <p:spPr>
          <a:xfrm>
            <a:off x="840442" y="6152029"/>
            <a:ext cx="7210986"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sz="3200"/>
              <a:t>The congestion report shows </a:t>
            </a:r>
            <a:r>
              <a:rPr lang="en-US" sz="3200" b="1"/>
              <a:t>0 total overflow</a:t>
            </a:r>
            <a:r>
              <a:rPr lang="en-US" sz="3200"/>
              <a:t>, </a:t>
            </a:r>
            <a:r>
              <a:rPr lang="en-US" sz="3200" b="1"/>
              <a:t>0 max overflow</a:t>
            </a:r>
            <a:r>
              <a:rPr lang="en-US" sz="3200"/>
              <a:t>, and </a:t>
            </a:r>
            <a:r>
              <a:rPr lang="en-US" sz="3200" b="1"/>
              <a:t>0% congestion</a:t>
            </a:r>
            <a:r>
              <a:rPr lang="en-US" sz="3200"/>
              <a:t> in both horizontal and vertical directions.</a:t>
            </a:r>
            <a:endParaRPr lang="en-US" sz="3200">
              <a:ea typeface="Calibri"/>
              <a:cs typeface="Calibri"/>
            </a:endParaRPr>
          </a:p>
          <a:p>
            <a:pPr marL="228600" indent="-228600">
              <a:buFont typeface=""/>
              <a:buChar char="•"/>
            </a:pPr>
            <a:r>
              <a:rPr lang="en-US" sz="3200"/>
              <a:t>The GUI displays </a:t>
            </a:r>
            <a:r>
              <a:rPr lang="en-US" sz="3200" b="1"/>
              <a:t>1740 bins in blue</a:t>
            </a:r>
            <a:r>
              <a:rPr lang="en-US" sz="3200"/>
              <a:t>, representing congestion values in the </a:t>
            </a:r>
            <a:r>
              <a:rPr lang="en-US" sz="3200" i="1"/>
              <a:t>0–1</a:t>
            </a:r>
            <a:r>
              <a:rPr lang="en-US" sz="3200"/>
              <a:t> range, meaning </a:t>
            </a:r>
            <a:r>
              <a:rPr lang="en-US" sz="3200" b="1"/>
              <a:t>low usage and no saturation</a:t>
            </a:r>
            <a:r>
              <a:rPr lang="en-US" sz="3200"/>
              <a:t>.</a:t>
            </a:r>
            <a:endParaRPr lang="en-US" sz="3200">
              <a:ea typeface="Calibri"/>
              <a:cs typeface="Calibri"/>
            </a:endParaRPr>
          </a:p>
          <a:p>
            <a:pPr algn="ctr"/>
            <a:endParaRPr lang="en-US" sz="3200">
              <a:ea typeface="Calibri"/>
              <a:cs typeface="Calibri"/>
            </a:endParaRPr>
          </a:p>
        </p:txBody>
      </p:sp>
      <p:sp>
        <p:nvSpPr>
          <p:cNvPr id="8" name="Rectangle: Rounded Corners 7">
            <a:extLst>
              <a:ext uri="{FF2B5EF4-FFF2-40B4-BE49-F238E27FC236}">
                <a16:creationId xmlns:a16="http://schemas.microsoft.com/office/drawing/2014/main" id="{9D8C8985-1898-CB25-6ECC-7ABEDAC64448}"/>
              </a:ext>
            </a:extLst>
          </p:cNvPr>
          <p:cNvSpPr/>
          <p:nvPr/>
        </p:nvSpPr>
        <p:spPr>
          <a:xfrm>
            <a:off x="1581407" y="-277951"/>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12" name="TextBox 11">
            <a:extLst>
              <a:ext uri="{FF2B5EF4-FFF2-40B4-BE49-F238E27FC236}">
                <a16:creationId xmlns:a16="http://schemas.microsoft.com/office/drawing/2014/main" id="{24659961-3AD3-683A-CC3E-189D3184D0FE}"/>
              </a:ext>
            </a:extLst>
          </p:cNvPr>
          <p:cNvSpPr txBox="1"/>
          <p:nvPr/>
        </p:nvSpPr>
        <p:spPr>
          <a:xfrm>
            <a:off x="2706986" y="181397"/>
            <a:ext cx="10529835" cy="923330"/>
          </a:xfrm>
          <a:prstGeom prst="rect">
            <a:avLst/>
          </a:prstGeom>
          <a:noFill/>
        </p:spPr>
        <p:txBody>
          <a:bodyPr wrap="square" lIns="91440" tIns="45720" rIns="91440" bIns="45720" rtlCol="0" anchor="t">
            <a:spAutoFit/>
          </a:bodyPr>
          <a:lstStyle/>
          <a:p>
            <a:r>
              <a:rPr lang="en-US" sz="5400">
                <a:solidFill>
                  <a:schemeClr val="bg1"/>
                </a:solidFill>
                <a:ea typeface="Calibri"/>
                <a:cs typeface="Calibri"/>
              </a:rPr>
              <a:t>                      Physical Design</a:t>
            </a:r>
          </a:p>
        </p:txBody>
      </p:sp>
    </p:spTree>
    <p:extLst>
      <p:ext uri="{BB962C8B-B14F-4D97-AF65-F5344CB8AC3E}">
        <p14:creationId xmlns:p14="http://schemas.microsoft.com/office/powerpoint/2010/main" val="38110896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BEED9-005E-921D-7D83-D82C80730300}"/>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1EF7ABE3-2670-E4D5-1BB1-6DF3E1BC1FAE}"/>
              </a:ext>
            </a:extLst>
          </p:cNvPr>
          <p:cNvSpPr txBox="1"/>
          <p:nvPr/>
        </p:nvSpPr>
        <p:spPr>
          <a:xfrm>
            <a:off x="11696179" y="9592446"/>
            <a:ext cx="3077236" cy="291211"/>
          </a:xfrm>
          <a:prstGeom prst="rect">
            <a:avLst/>
          </a:prstGeom>
        </p:spPr>
        <p:txBody>
          <a:bodyPr lIns="0" tIns="0" rIns="0" bIns="0" rtlCol="0" anchor="t">
            <a:spAutoFit/>
          </a:bodyPr>
          <a:lstStyle/>
          <a:p>
            <a:pPr algn="l">
              <a:lnSpc>
                <a:spcPts val="2324"/>
              </a:lnSpc>
            </a:pPr>
            <a:r>
              <a:rPr lang="en-US" sz="1660">
                <a:solidFill>
                  <a:srgbClr val="FFFFFF"/>
                </a:solidFill>
                <a:latin typeface="Poppins"/>
                <a:ea typeface="Poppins"/>
                <a:cs typeface="Poppins"/>
                <a:sym typeface="Poppins"/>
              </a:rPr>
              <a:t>www.reallygreatsite.com </a:t>
            </a:r>
          </a:p>
        </p:txBody>
      </p:sp>
      <p:sp>
        <p:nvSpPr>
          <p:cNvPr id="14" name="AutoShape 14">
            <a:extLst>
              <a:ext uri="{FF2B5EF4-FFF2-40B4-BE49-F238E27FC236}">
                <a16:creationId xmlns:a16="http://schemas.microsoft.com/office/drawing/2014/main" id="{AF498B3F-75C8-0CF7-8512-3920904E2AC4}"/>
              </a:ext>
            </a:extLst>
          </p:cNvPr>
          <p:cNvSpPr/>
          <p:nvPr/>
        </p:nvSpPr>
        <p:spPr>
          <a:xfrm rot="5400000">
            <a:off x="16399966" y="6264625"/>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15" name="TextBox 15">
            <a:extLst>
              <a:ext uri="{FF2B5EF4-FFF2-40B4-BE49-F238E27FC236}">
                <a16:creationId xmlns:a16="http://schemas.microsoft.com/office/drawing/2014/main" id="{BEC3DA63-4822-2CAF-3A86-5EFF12076179}"/>
              </a:ext>
            </a:extLst>
          </p:cNvPr>
          <p:cNvSpPr txBox="1"/>
          <p:nvPr/>
        </p:nvSpPr>
        <p:spPr>
          <a:xfrm rot="-5400000">
            <a:off x="17310518" y="8275412"/>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16" name="TextBox 16">
            <a:extLst>
              <a:ext uri="{FF2B5EF4-FFF2-40B4-BE49-F238E27FC236}">
                <a16:creationId xmlns:a16="http://schemas.microsoft.com/office/drawing/2014/main" id="{11181425-B02B-1FEF-4AF8-21ACBFD24F4B}"/>
              </a:ext>
            </a:extLst>
          </p:cNvPr>
          <p:cNvSpPr txBox="1"/>
          <p:nvPr/>
        </p:nvSpPr>
        <p:spPr>
          <a:xfrm rot="-5400000">
            <a:off x="16161626" y="2739884"/>
            <a:ext cx="3231104" cy="272161"/>
          </a:xfrm>
          <a:prstGeom prst="rect">
            <a:avLst/>
          </a:prstGeom>
        </p:spPr>
        <p:txBody>
          <a:bodyPr lIns="0" tIns="0" rIns="0" bIns="0" rtlCol="0" anchor="t">
            <a:spAutoFit/>
          </a:bodyPr>
          <a:lstStyle/>
          <a:p>
            <a:pPr algn="ctr">
              <a:lnSpc>
                <a:spcPts val="2324"/>
              </a:lnSpc>
            </a:pPr>
            <a:r>
              <a:rPr lang="en-US" sz="1660">
                <a:solidFill>
                  <a:srgbClr val="FFFFFF"/>
                </a:solidFill>
                <a:latin typeface="Quicksand"/>
                <a:ea typeface="Quicksand"/>
                <a:cs typeface="Quicksand"/>
                <a:sym typeface="Quicksand"/>
              </a:rPr>
              <a:t>www.reallygreatsite.com </a:t>
            </a:r>
          </a:p>
        </p:txBody>
      </p:sp>
      <p:pic>
        <p:nvPicPr>
          <p:cNvPr id="4" name="Picture 3" descr="A screenshot of a computer code&#10;&#10;AI-generated content may be incorrect.">
            <a:extLst>
              <a:ext uri="{FF2B5EF4-FFF2-40B4-BE49-F238E27FC236}">
                <a16:creationId xmlns:a16="http://schemas.microsoft.com/office/drawing/2014/main" id="{75DED2A4-6A65-A2DD-147C-2A18937B74C6}"/>
              </a:ext>
            </a:extLst>
          </p:cNvPr>
          <p:cNvPicPr>
            <a:picLocks noChangeAspect="1"/>
          </p:cNvPicPr>
          <p:nvPr/>
        </p:nvPicPr>
        <p:blipFill>
          <a:blip r:embed="rId2"/>
          <a:stretch>
            <a:fillRect/>
          </a:stretch>
        </p:blipFill>
        <p:spPr>
          <a:xfrm>
            <a:off x="4034041" y="1249445"/>
            <a:ext cx="10222220" cy="4255725"/>
          </a:xfrm>
          <a:prstGeom prst="rect">
            <a:avLst/>
          </a:prstGeom>
        </p:spPr>
      </p:pic>
      <p:sp>
        <p:nvSpPr>
          <p:cNvPr id="7" name="TextBox 6">
            <a:extLst>
              <a:ext uri="{FF2B5EF4-FFF2-40B4-BE49-F238E27FC236}">
                <a16:creationId xmlns:a16="http://schemas.microsoft.com/office/drawing/2014/main" id="{44523BE9-3D0E-D869-1A65-D7BDC497F631}"/>
              </a:ext>
            </a:extLst>
          </p:cNvPr>
          <p:cNvSpPr txBox="1"/>
          <p:nvPr/>
        </p:nvSpPr>
        <p:spPr>
          <a:xfrm>
            <a:off x="1582453" y="5685648"/>
            <a:ext cx="15633026"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ea typeface="+mn-lt"/>
                <a:cs typeface="+mn-lt"/>
              </a:rPr>
              <a:t>Utilization Ratio </a:t>
            </a:r>
            <a:r>
              <a:rPr lang="en-US" sz="3200">
                <a:ea typeface="+mn-lt"/>
                <a:cs typeface="+mn-lt"/>
              </a:rPr>
              <a:t>= 0.7222 (72.22%)</a:t>
            </a:r>
            <a:br>
              <a:rPr lang="en-US" sz="3200">
                <a:ea typeface="+mn-lt"/>
                <a:cs typeface="+mn-lt"/>
              </a:rPr>
            </a:br>
            <a:r>
              <a:rPr lang="en-US" sz="3200">
                <a:ea typeface="+mn-lt"/>
                <a:cs typeface="+mn-lt"/>
              </a:rPr>
              <a:t> → 72% of the core area is occupied by standard cells, and ~28% remains free for routing resources.</a:t>
            </a:r>
          </a:p>
          <a:p>
            <a:r>
              <a:rPr lang="en-US" sz="3200" b="1">
                <a:ea typeface="+mn-lt"/>
                <a:cs typeface="+mn-lt"/>
              </a:rPr>
              <a:t>Total Area</a:t>
            </a:r>
            <a:r>
              <a:rPr lang="en-US" sz="3200">
                <a:ea typeface="+mn-lt"/>
                <a:cs typeface="+mn-lt"/>
              </a:rPr>
              <a:t> = 27101.3120</a:t>
            </a:r>
            <a:br>
              <a:rPr lang="en-US" sz="3200">
                <a:ea typeface="+mn-lt"/>
                <a:cs typeface="+mn-lt"/>
              </a:rPr>
            </a:br>
            <a:r>
              <a:rPr lang="en-US" sz="3200">
                <a:ea typeface="+mn-lt"/>
                <a:cs typeface="+mn-lt"/>
              </a:rPr>
              <a:t> → This is the core area considered for utilization calculation.</a:t>
            </a:r>
          </a:p>
          <a:p>
            <a:r>
              <a:rPr lang="en-US" sz="3200" b="1">
                <a:ea typeface="+mn-lt"/>
                <a:cs typeface="+mn-lt"/>
              </a:rPr>
              <a:t>Total Capacity Area</a:t>
            </a:r>
            <a:r>
              <a:rPr lang="en-US" sz="3200">
                <a:ea typeface="+mn-lt"/>
                <a:cs typeface="+mn-lt"/>
              </a:rPr>
              <a:t> = 27101.3120</a:t>
            </a:r>
            <a:br>
              <a:rPr lang="en-US" sz="3200">
                <a:ea typeface="+mn-lt"/>
                <a:cs typeface="+mn-lt"/>
              </a:rPr>
            </a:br>
            <a:r>
              <a:rPr lang="en-US" sz="3200">
                <a:ea typeface="+mn-lt"/>
                <a:cs typeface="+mn-lt"/>
              </a:rPr>
              <a:t> → Same as total area because no regions or blockages reduce capacity.</a:t>
            </a:r>
          </a:p>
          <a:p>
            <a:r>
              <a:rPr lang="en-US" sz="3200" b="1">
                <a:ea typeface="+mn-lt"/>
                <a:cs typeface="+mn-lt"/>
              </a:rPr>
              <a:t>Total Area of Cells </a:t>
            </a:r>
            <a:r>
              <a:rPr lang="en-US" sz="3200">
                <a:ea typeface="+mn-lt"/>
                <a:cs typeface="+mn-lt"/>
              </a:rPr>
              <a:t>= 19571.7760</a:t>
            </a:r>
            <a:br>
              <a:rPr lang="en-US" sz="3200">
                <a:ea typeface="+mn-lt"/>
                <a:cs typeface="+mn-lt"/>
              </a:rPr>
            </a:br>
            <a:r>
              <a:rPr lang="en-US" sz="3200">
                <a:ea typeface="+mn-lt"/>
                <a:cs typeface="+mn-lt"/>
              </a:rPr>
              <a:t> → Actual area consumed by all placed cells (standard cells + buffers/inverters).</a:t>
            </a:r>
            <a:endParaRPr lang="en-US" sz="3200">
              <a:ea typeface="Calibri"/>
              <a:cs typeface="Calibri"/>
            </a:endParaRPr>
          </a:p>
        </p:txBody>
      </p:sp>
      <p:sp>
        <p:nvSpPr>
          <p:cNvPr id="5" name="Rectangle: Rounded Corners 4">
            <a:extLst>
              <a:ext uri="{FF2B5EF4-FFF2-40B4-BE49-F238E27FC236}">
                <a16:creationId xmlns:a16="http://schemas.microsoft.com/office/drawing/2014/main" id="{05B790D6-10AD-A1C9-B91F-2713AA4F5429}"/>
              </a:ext>
            </a:extLst>
          </p:cNvPr>
          <p:cNvSpPr/>
          <p:nvPr/>
        </p:nvSpPr>
        <p:spPr>
          <a:xfrm>
            <a:off x="1581407" y="-277951"/>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10" name="TextBox 9">
            <a:extLst>
              <a:ext uri="{FF2B5EF4-FFF2-40B4-BE49-F238E27FC236}">
                <a16:creationId xmlns:a16="http://schemas.microsoft.com/office/drawing/2014/main" id="{004078FB-C163-12A4-821E-569EB03FC3C4}"/>
              </a:ext>
            </a:extLst>
          </p:cNvPr>
          <p:cNvSpPr txBox="1"/>
          <p:nvPr/>
        </p:nvSpPr>
        <p:spPr>
          <a:xfrm>
            <a:off x="2706986" y="181397"/>
            <a:ext cx="10529835" cy="923330"/>
          </a:xfrm>
          <a:prstGeom prst="rect">
            <a:avLst/>
          </a:prstGeom>
          <a:noFill/>
        </p:spPr>
        <p:txBody>
          <a:bodyPr wrap="square" lIns="91440" tIns="45720" rIns="91440" bIns="45720" rtlCol="0" anchor="t">
            <a:spAutoFit/>
          </a:bodyPr>
          <a:lstStyle/>
          <a:p>
            <a:r>
              <a:rPr lang="en-US" sz="5400">
                <a:solidFill>
                  <a:schemeClr val="bg1"/>
                </a:solidFill>
                <a:ea typeface="Calibri"/>
                <a:cs typeface="Calibri"/>
              </a:rPr>
              <a:t>                      Physical Design</a:t>
            </a:r>
          </a:p>
        </p:txBody>
      </p:sp>
    </p:spTree>
    <p:extLst>
      <p:ext uri="{BB962C8B-B14F-4D97-AF65-F5344CB8AC3E}">
        <p14:creationId xmlns:p14="http://schemas.microsoft.com/office/powerpoint/2010/main" val="349671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D8FC7-19BE-3AFB-E460-0AE1F83ECB0F}"/>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DC15F3B0-E3A8-4E91-20FE-3057A91C2607}"/>
              </a:ext>
            </a:extLst>
          </p:cNvPr>
          <p:cNvSpPr txBox="1"/>
          <p:nvPr/>
        </p:nvSpPr>
        <p:spPr>
          <a:xfrm>
            <a:off x="11696179" y="9592446"/>
            <a:ext cx="3077236" cy="291211"/>
          </a:xfrm>
          <a:prstGeom prst="rect">
            <a:avLst/>
          </a:prstGeom>
        </p:spPr>
        <p:txBody>
          <a:bodyPr lIns="0" tIns="0" rIns="0" bIns="0" rtlCol="0" anchor="t">
            <a:spAutoFit/>
          </a:bodyPr>
          <a:lstStyle/>
          <a:p>
            <a:pPr algn="l">
              <a:lnSpc>
                <a:spcPts val="2324"/>
              </a:lnSpc>
            </a:pPr>
            <a:r>
              <a:rPr lang="en-US" sz="1660">
                <a:solidFill>
                  <a:srgbClr val="FFFFFF"/>
                </a:solidFill>
                <a:latin typeface="Poppins"/>
                <a:ea typeface="Poppins"/>
                <a:cs typeface="Poppins"/>
                <a:sym typeface="Poppins"/>
              </a:rPr>
              <a:t>www.reallygreatsite.com </a:t>
            </a:r>
          </a:p>
        </p:txBody>
      </p:sp>
      <p:sp>
        <p:nvSpPr>
          <p:cNvPr id="14" name="AutoShape 14">
            <a:extLst>
              <a:ext uri="{FF2B5EF4-FFF2-40B4-BE49-F238E27FC236}">
                <a16:creationId xmlns:a16="http://schemas.microsoft.com/office/drawing/2014/main" id="{72695A7D-0749-0818-056F-33AEEC289365}"/>
              </a:ext>
            </a:extLst>
          </p:cNvPr>
          <p:cNvSpPr/>
          <p:nvPr/>
        </p:nvSpPr>
        <p:spPr>
          <a:xfrm rot="5400000">
            <a:off x="16399966" y="6264625"/>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15" name="TextBox 15">
            <a:extLst>
              <a:ext uri="{FF2B5EF4-FFF2-40B4-BE49-F238E27FC236}">
                <a16:creationId xmlns:a16="http://schemas.microsoft.com/office/drawing/2014/main" id="{617A7328-28F5-2E4C-26D7-125DD32AD02F}"/>
              </a:ext>
            </a:extLst>
          </p:cNvPr>
          <p:cNvSpPr txBox="1"/>
          <p:nvPr/>
        </p:nvSpPr>
        <p:spPr>
          <a:xfrm rot="-5400000">
            <a:off x="17310518" y="8275412"/>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16" name="TextBox 16">
            <a:extLst>
              <a:ext uri="{FF2B5EF4-FFF2-40B4-BE49-F238E27FC236}">
                <a16:creationId xmlns:a16="http://schemas.microsoft.com/office/drawing/2014/main" id="{0F5CBBE4-620E-A470-8AC5-90D3386786A7}"/>
              </a:ext>
            </a:extLst>
          </p:cNvPr>
          <p:cNvSpPr txBox="1"/>
          <p:nvPr/>
        </p:nvSpPr>
        <p:spPr>
          <a:xfrm rot="-5400000">
            <a:off x="16161626" y="2739884"/>
            <a:ext cx="3231104" cy="272161"/>
          </a:xfrm>
          <a:prstGeom prst="rect">
            <a:avLst/>
          </a:prstGeom>
        </p:spPr>
        <p:txBody>
          <a:bodyPr lIns="0" tIns="0" rIns="0" bIns="0" rtlCol="0" anchor="t">
            <a:spAutoFit/>
          </a:bodyPr>
          <a:lstStyle/>
          <a:p>
            <a:pPr algn="ctr">
              <a:lnSpc>
                <a:spcPts val="2324"/>
              </a:lnSpc>
            </a:pPr>
            <a:r>
              <a:rPr lang="en-US" sz="1660">
                <a:solidFill>
                  <a:srgbClr val="FFFFFF"/>
                </a:solidFill>
                <a:latin typeface="Quicksand"/>
                <a:ea typeface="Quicksand"/>
                <a:cs typeface="Quicksand"/>
                <a:sym typeface="Quicksand"/>
              </a:rPr>
              <a:t>www.reallygreatsite.com </a:t>
            </a:r>
          </a:p>
        </p:txBody>
      </p:sp>
      <p:pic>
        <p:nvPicPr>
          <p:cNvPr id="2" name="Picture 1" descr="A screenshot of a computer&#10;&#10;AI-generated content may be incorrect.">
            <a:extLst>
              <a:ext uri="{FF2B5EF4-FFF2-40B4-BE49-F238E27FC236}">
                <a16:creationId xmlns:a16="http://schemas.microsoft.com/office/drawing/2014/main" id="{67CE8D0A-3217-68F5-0A49-18916EE39D4B}"/>
              </a:ext>
            </a:extLst>
          </p:cNvPr>
          <p:cNvPicPr>
            <a:picLocks noChangeAspect="1"/>
          </p:cNvPicPr>
          <p:nvPr/>
        </p:nvPicPr>
        <p:blipFill>
          <a:blip r:embed="rId2"/>
          <a:stretch>
            <a:fillRect/>
          </a:stretch>
        </p:blipFill>
        <p:spPr>
          <a:xfrm>
            <a:off x="4367301" y="1257899"/>
            <a:ext cx="9550176" cy="6055552"/>
          </a:xfrm>
          <a:prstGeom prst="rect">
            <a:avLst/>
          </a:prstGeom>
        </p:spPr>
      </p:pic>
      <p:sp>
        <p:nvSpPr>
          <p:cNvPr id="5" name="TextBox 4">
            <a:extLst>
              <a:ext uri="{FF2B5EF4-FFF2-40B4-BE49-F238E27FC236}">
                <a16:creationId xmlns:a16="http://schemas.microsoft.com/office/drawing/2014/main" id="{77DBE2DB-0170-C31B-16F9-390DE937D5F0}"/>
              </a:ext>
            </a:extLst>
          </p:cNvPr>
          <p:cNvSpPr txBox="1"/>
          <p:nvPr/>
        </p:nvSpPr>
        <p:spPr>
          <a:xfrm>
            <a:off x="1580029" y="7664824"/>
            <a:ext cx="15127940"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sz="3200"/>
              <a:t>The final GDSII layout for the design was generated in </a:t>
            </a:r>
            <a:r>
              <a:rPr lang="en-US" sz="3200" b="1"/>
              <a:t>Synopsys ICC2</a:t>
            </a:r>
            <a:r>
              <a:rPr lang="en-US" sz="3200"/>
              <a:t> using the  </a:t>
            </a:r>
            <a:r>
              <a:rPr lang="en-US" sz="3200" b="1"/>
              <a:t>write_gds</a:t>
            </a:r>
            <a:r>
              <a:rPr lang="en-US" sz="3200"/>
              <a:t> command.</a:t>
            </a:r>
            <a:br>
              <a:rPr lang="en-US" sz="3200"/>
            </a:br>
            <a:r>
              <a:rPr lang="en-US" sz="3200"/>
              <a:t>This exported the complete physical layout after routing into standard GDSII format.</a:t>
            </a:r>
            <a:endParaRPr lang="en-US" sz="3200">
              <a:ea typeface="Calibri"/>
              <a:cs typeface="Calibri"/>
            </a:endParaRPr>
          </a:p>
          <a:p>
            <a:pPr marL="228600" indent="-228600">
              <a:buFont typeface=""/>
              <a:buChar char="•"/>
            </a:pPr>
            <a:r>
              <a:rPr lang="en-US" sz="3200"/>
              <a:t>The generated </a:t>
            </a:r>
            <a:r>
              <a:rPr lang="en-US" sz="3200" b="1"/>
              <a:t>Filter_Top.gds</a:t>
            </a:r>
            <a:r>
              <a:rPr lang="en-US" sz="3200"/>
              <a:t> file was then </a:t>
            </a:r>
            <a:r>
              <a:rPr lang="en-US" sz="3200" b="1"/>
              <a:t>viewed and verified using KLayout</a:t>
            </a:r>
            <a:r>
              <a:rPr lang="en-US" sz="3200"/>
              <a:t>, an open-source GDSII viewer.</a:t>
            </a:r>
            <a:endParaRPr lang="en-US" sz="3200">
              <a:ea typeface="Calibri"/>
              <a:cs typeface="Calibri"/>
            </a:endParaRPr>
          </a:p>
          <a:p>
            <a:pPr algn="ctr"/>
            <a:endParaRPr lang="en-US" sz="3200">
              <a:ea typeface="Calibri"/>
              <a:cs typeface="Calibri"/>
            </a:endParaRPr>
          </a:p>
        </p:txBody>
      </p:sp>
      <p:sp>
        <p:nvSpPr>
          <p:cNvPr id="7" name="Rectangle: Rounded Corners 6">
            <a:extLst>
              <a:ext uri="{FF2B5EF4-FFF2-40B4-BE49-F238E27FC236}">
                <a16:creationId xmlns:a16="http://schemas.microsoft.com/office/drawing/2014/main" id="{62705A37-9ED2-A36E-4815-1C901395757A}"/>
              </a:ext>
            </a:extLst>
          </p:cNvPr>
          <p:cNvSpPr/>
          <p:nvPr/>
        </p:nvSpPr>
        <p:spPr>
          <a:xfrm>
            <a:off x="1581407" y="-277951"/>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10" name="TextBox 9">
            <a:extLst>
              <a:ext uri="{FF2B5EF4-FFF2-40B4-BE49-F238E27FC236}">
                <a16:creationId xmlns:a16="http://schemas.microsoft.com/office/drawing/2014/main" id="{FACE07D2-4940-646C-98CB-3CF187866445}"/>
              </a:ext>
            </a:extLst>
          </p:cNvPr>
          <p:cNvSpPr txBox="1"/>
          <p:nvPr/>
        </p:nvSpPr>
        <p:spPr>
          <a:xfrm>
            <a:off x="2706986" y="181397"/>
            <a:ext cx="10529835" cy="923330"/>
          </a:xfrm>
          <a:prstGeom prst="rect">
            <a:avLst/>
          </a:prstGeom>
          <a:noFill/>
        </p:spPr>
        <p:txBody>
          <a:bodyPr wrap="square" lIns="91440" tIns="45720" rIns="91440" bIns="45720" rtlCol="0" anchor="t">
            <a:spAutoFit/>
          </a:bodyPr>
          <a:lstStyle/>
          <a:p>
            <a:r>
              <a:rPr lang="en-US" sz="5400">
                <a:solidFill>
                  <a:schemeClr val="bg1"/>
                </a:solidFill>
                <a:ea typeface="Calibri"/>
                <a:cs typeface="Calibri"/>
              </a:rPr>
              <a:t>                      Physical Design</a:t>
            </a:r>
          </a:p>
        </p:txBody>
      </p:sp>
    </p:spTree>
    <p:extLst>
      <p:ext uri="{BB962C8B-B14F-4D97-AF65-F5344CB8AC3E}">
        <p14:creationId xmlns:p14="http://schemas.microsoft.com/office/powerpoint/2010/main" val="17942830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FFC5B-F020-CDC8-3A57-03B1F020F953}"/>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0F9B190-8869-6287-5D1D-629247230342}"/>
              </a:ext>
            </a:extLst>
          </p:cNvPr>
          <p:cNvSpPr/>
          <p:nvPr/>
        </p:nvSpPr>
        <p:spPr>
          <a:xfrm>
            <a:off x="1581407" y="-277951"/>
            <a:ext cx="15134376" cy="1368488"/>
          </a:xfrm>
          <a:prstGeom prst="roundRect">
            <a:avLst/>
          </a:prstGeom>
          <a:solidFill>
            <a:srgbClr val="FF914D"/>
          </a:solidFill>
          <a:ln>
            <a:solidFill>
              <a:srgbClr val="FF914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5400">
              <a:ea typeface="Calibri"/>
              <a:cs typeface="Calibri"/>
            </a:endParaRPr>
          </a:p>
        </p:txBody>
      </p:sp>
      <p:sp>
        <p:nvSpPr>
          <p:cNvPr id="14" name="AutoShape 14">
            <a:extLst>
              <a:ext uri="{FF2B5EF4-FFF2-40B4-BE49-F238E27FC236}">
                <a16:creationId xmlns:a16="http://schemas.microsoft.com/office/drawing/2014/main" id="{E545010F-C5D7-0E6A-33E4-70DB1BE0CEAF}"/>
              </a:ext>
            </a:extLst>
          </p:cNvPr>
          <p:cNvSpPr/>
          <p:nvPr/>
        </p:nvSpPr>
        <p:spPr>
          <a:xfrm rot="5400000">
            <a:off x="16399966" y="6264625"/>
            <a:ext cx="2802048" cy="0"/>
          </a:xfrm>
          <a:prstGeom prst="line">
            <a:avLst/>
          </a:prstGeom>
          <a:ln w="19050" cap="flat">
            <a:solidFill>
              <a:srgbClr val="FFFFFF"/>
            </a:solidFill>
            <a:prstDash val="solid"/>
            <a:headEnd type="none" w="sm" len="sm"/>
            <a:tailEnd type="none" w="sm" len="sm"/>
          </a:ln>
        </p:spPr>
        <p:txBody>
          <a:bodyPr/>
          <a:lstStyle/>
          <a:p>
            <a:endParaRPr lang="en-IN"/>
          </a:p>
        </p:txBody>
      </p:sp>
      <p:sp>
        <p:nvSpPr>
          <p:cNvPr id="15" name="TextBox 15">
            <a:extLst>
              <a:ext uri="{FF2B5EF4-FFF2-40B4-BE49-F238E27FC236}">
                <a16:creationId xmlns:a16="http://schemas.microsoft.com/office/drawing/2014/main" id="{AC4E68A6-A463-0FC4-F27B-381577C2CA07}"/>
              </a:ext>
            </a:extLst>
          </p:cNvPr>
          <p:cNvSpPr txBox="1"/>
          <p:nvPr/>
        </p:nvSpPr>
        <p:spPr>
          <a:xfrm rot="-5400000">
            <a:off x="17310518" y="8275412"/>
            <a:ext cx="933317" cy="256815"/>
          </a:xfrm>
          <a:prstGeom prst="rect">
            <a:avLst/>
          </a:prstGeom>
        </p:spPr>
        <p:txBody>
          <a:bodyPr lIns="0" tIns="0" rIns="0" bIns="0" rtlCol="0" anchor="t">
            <a:spAutoFit/>
          </a:bodyPr>
          <a:lstStyle/>
          <a:p>
            <a:pPr algn="ctr">
              <a:lnSpc>
                <a:spcPts val="2119"/>
              </a:lnSpc>
            </a:pPr>
            <a:r>
              <a:rPr lang="en-US" sz="1514" b="1">
                <a:solidFill>
                  <a:srgbClr val="FFFFFF"/>
                </a:solidFill>
                <a:latin typeface="Quicksand Bold"/>
                <a:ea typeface="Quicksand Bold"/>
                <a:cs typeface="Quicksand Bold"/>
                <a:sym typeface="Quicksand Bold"/>
              </a:rPr>
              <a:t>2039</a:t>
            </a:r>
          </a:p>
        </p:txBody>
      </p:sp>
      <p:sp>
        <p:nvSpPr>
          <p:cNvPr id="16" name="TextBox 16">
            <a:extLst>
              <a:ext uri="{FF2B5EF4-FFF2-40B4-BE49-F238E27FC236}">
                <a16:creationId xmlns:a16="http://schemas.microsoft.com/office/drawing/2014/main" id="{E31E34A9-02C6-88EC-0536-024E59987EC2}"/>
              </a:ext>
            </a:extLst>
          </p:cNvPr>
          <p:cNvSpPr txBox="1"/>
          <p:nvPr/>
        </p:nvSpPr>
        <p:spPr>
          <a:xfrm rot="-5400000">
            <a:off x="16161626" y="2739884"/>
            <a:ext cx="3231104" cy="272161"/>
          </a:xfrm>
          <a:prstGeom prst="rect">
            <a:avLst/>
          </a:prstGeom>
        </p:spPr>
        <p:txBody>
          <a:bodyPr lIns="0" tIns="0" rIns="0" bIns="0" rtlCol="0" anchor="t">
            <a:spAutoFit/>
          </a:bodyPr>
          <a:lstStyle/>
          <a:p>
            <a:pPr algn="ctr">
              <a:lnSpc>
                <a:spcPts val="2324"/>
              </a:lnSpc>
            </a:pPr>
            <a:r>
              <a:rPr lang="en-US" sz="1660">
                <a:solidFill>
                  <a:srgbClr val="FFFFFF"/>
                </a:solidFill>
                <a:latin typeface="Quicksand"/>
                <a:ea typeface="Quicksand"/>
                <a:cs typeface="Quicksand"/>
                <a:sym typeface="Quicksand"/>
              </a:rPr>
              <a:t>www.reallygreatsite.com </a:t>
            </a:r>
          </a:p>
        </p:txBody>
      </p:sp>
      <p:sp>
        <p:nvSpPr>
          <p:cNvPr id="6" name="TextBox 5">
            <a:extLst>
              <a:ext uri="{FF2B5EF4-FFF2-40B4-BE49-F238E27FC236}">
                <a16:creationId xmlns:a16="http://schemas.microsoft.com/office/drawing/2014/main" id="{71D263D6-C4C3-468C-F605-B53EBB725C2C}"/>
              </a:ext>
            </a:extLst>
          </p:cNvPr>
          <p:cNvSpPr txBox="1"/>
          <p:nvPr/>
        </p:nvSpPr>
        <p:spPr>
          <a:xfrm>
            <a:off x="6552293" y="231824"/>
            <a:ext cx="4041630" cy="1754326"/>
          </a:xfrm>
          <a:prstGeom prst="rect">
            <a:avLst/>
          </a:prstGeom>
          <a:noFill/>
        </p:spPr>
        <p:txBody>
          <a:bodyPr wrap="square" lIns="91440" tIns="45720" rIns="91440" bIns="45720" rtlCol="0" anchor="t">
            <a:spAutoFit/>
          </a:bodyPr>
          <a:lstStyle/>
          <a:p>
            <a:r>
              <a:rPr lang="en-US" sz="5400">
                <a:solidFill>
                  <a:schemeClr val="bg1"/>
                </a:solidFill>
                <a:ea typeface="Calibri"/>
                <a:cs typeface="Calibri"/>
              </a:rPr>
              <a:t>CONCLUSION </a:t>
            </a:r>
          </a:p>
        </p:txBody>
      </p:sp>
      <p:sp>
        <p:nvSpPr>
          <p:cNvPr id="7" name="TextBox 6">
            <a:extLst>
              <a:ext uri="{FF2B5EF4-FFF2-40B4-BE49-F238E27FC236}">
                <a16:creationId xmlns:a16="http://schemas.microsoft.com/office/drawing/2014/main" id="{C6BDE189-0439-272C-AED1-A9858A48D4FA}"/>
              </a:ext>
            </a:extLst>
          </p:cNvPr>
          <p:cNvSpPr txBox="1"/>
          <p:nvPr/>
        </p:nvSpPr>
        <p:spPr>
          <a:xfrm>
            <a:off x="686169" y="1547332"/>
            <a:ext cx="17113684" cy="89562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ea typeface="+mn-lt"/>
                <a:cs typeface="+mn-lt"/>
              </a:rPr>
              <a:t>Optimal Architecture:</a:t>
            </a:r>
            <a:endParaRPr lang="en-US" sz="1200" baseline="30000">
              <a:ea typeface="+mn-lt"/>
              <a:cs typeface="+mn-lt"/>
            </a:endParaRPr>
          </a:p>
          <a:p>
            <a:pPr marL="285750" indent="-285750">
              <a:buFont typeface="Arial"/>
              <a:buChar char="•"/>
            </a:pPr>
            <a:r>
              <a:rPr lang="en-US" sz="2400">
                <a:ea typeface="+mn-lt"/>
                <a:cs typeface="+mn-lt"/>
              </a:rPr>
              <a:t> The </a:t>
            </a:r>
            <a:r>
              <a:rPr lang="en-US" sz="2400" b="1">
                <a:ea typeface="+mn-lt"/>
                <a:cs typeface="+mn-lt"/>
              </a:rPr>
              <a:t>3rd-Order Discrete-Time CRFB</a:t>
            </a:r>
            <a:r>
              <a:rPr lang="en-US" sz="2400">
                <a:ea typeface="+mn-lt"/>
                <a:cs typeface="+mn-lt"/>
              </a:rPr>
              <a:t> (Cascaded Resonator Feed-Backward) topology was selected as the optimal architecture because it is significantly less sensitive to clock jitter compared to Continuous-Time designs.</a:t>
            </a:r>
            <a:endParaRPr lang="en-US" sz="1200" baseline="30000">
              <a:ea typeface="Calibri"/>
              <a:cs typeface="Calibri"/>
            </a:endParaRPr>
          </a:p>
          <a:p>
            <a:pPr marL="285750" indent="-285750">
              <a:buFont typeface="Arial"/>
              <a:buChar char="•"/>
            </a:pPr>
            <a:endParaRPr lang="en-US" sz="2400">
              <a:ea typeface="+mn-lt"/>
              <a:cs typeface="+mn-lt"/>
            </a:endParaRPr>
          </a:p>
          <a:p>
            <a:r>
              <a:rPr lang="en-US" sz="2400" b="1">
                <a:ea typeface="+mn-lt"/>
                <a:cs typeface="+mn-lt"/>
              </a:rPr>
              <a:t>Resolution Success:</a:t>
            </a:r>
            <a:r>
              <a:rPr lang="en-US" sz="2400">
                <a:ea typeface="+mn-lt"/>
                <a:cs typeface="+mn-lt"/>
              </a:rPr>
              <a:t> </a:t>
            </a:r>
            <a:endParaRPr lang="en-US" sz="1200" baseline="30000">
              <a:ea typeface="+mn-lt"/>
              <a:cs typeface="+mn-lt"/>
            </a:endParaRPr>
          </a:p>
          <a:p>
            <a:pPr marL="342900" indent="-342900">
              <a:buFont typeface="Arial"/>
              <a:buChar char="•"/>
            </a:pPr>
            <a:r>
              <a:rPr lang="en-US" sz="2400">
                <a:ea typeface="+mn-lt"/>
                <a:cs typeface="+mn-lt"/>
              </a:rPr>
              <a:t>The selected Discrete-Time architecture successfully achieved an </a:t>
            </a:r>
            <a:r>
              <a:rPr lang="en-US" sz="2400" b="1">
                <a:ea typeface="+mn-lt"/>
                <a:cs typeface="+mn-lt"/>
              </a:rPr>
              <a:t>ENOB &gt; 16 bits</a:t>
            </a:r>
            <a:r>
              <a:rPr lang="en-US" sz="2400">
                <a:ea typeface="+mn-lt"/>
                <a:cs typeface="+mn-lt"/>
              </a:rPr>
              <a:t>, whereas the Continuous-Time models failed to meet the target resolution due to noise floor limitations.</a:t>
            </a:r>
            <a:endParaRPr lang="en-US" sz="1200" baseline="30000">
              <a:ea typeface="Calibri"/>
              <a:cs typeface="Calibri"/>
            </a:endParaRPr>
          </a:p>
          <a:p>
            <a:pPr marL="285750" indent="-285750">
              <a:buFont typeface="Arial"/>
              <a:buChar char="•"/>
            </a:pPr>
            <a:endParaRPr lang="en-US" sz="2400">
              <a:ea typeface="+mn-lt"/>
              <a:cs typeface="+mn-lt"/>
            </a:endParaRPr>
          </a:p>
          <a:p>
            <a:r>
              <a:rPr lang="en-US" sz="2400" b="1">
                <a:ea typeface="+mn-lt"/>
                <a:cs typeface="+mn-lt"/>
              </a:rPr>
              <a:t>Noise Limitations:</a:t>
            </a:r>
            <a:r>
              <a:rPr lang="en-US" sz="2400">
                <a:ea typeface="+mn-lt"/>
                <a:cs typeface="+mn-lt"/>
              </a:rPr>
              <a:t> </a:t>
            </a:r>
            <a:endParaRPr lang="en-US" sz="1200" baseline="30000">
              <a:ea typeface="+mn-lt"/>
              <a:cs typeface="+mn-lt"/>
            </a:endParaRPr>
          </a:p>
          <a:p>
            <a:pPr marL="285750" indent="-285750">
              <a:buFont typeface="Arial"/>
              <a:buChar char="•"/>
            </a:pPr>
            <a:r>
              <a:rPr lang="en-US" sz="2400">
                <a:ea typeface="+mn-lt"/>
                <a:cs typeface="+mn-lt"/>
              </a:rPr>
              <a:t>Simulations confirmed that physical device noise (thermal and flicker) sets the fundamental performance floor that loop order alone cannot overcome, with Continuous-Time designs being critically compromised by clock jitter.</a:t>
            </a:r>
            <a:endParaRPr lang="en-US" sz="1200" baseline="30000">
              <a:ea typeface="Calibri"/>
              <a:cs typeface="Calibri"/>
            </a:endParaRPr>
          </a:p>
          <a:p>
            <a:pPr marL="285750" indent="-285750">
              <a:buFont typeface="Arial"/>
              <a:buChar char="•"/>
            </a:pPr>
            <a:endParaRPr lang="en-US" sz="2400">
              <a:ea typeface="+mn-lt"/>
              <a:cs typeface="+mn-lt"/>
            </a:endParaRPr>
          </a:p>
          <a:p>
            <a:r>
              <a:rPr lang="en-US" sz="2400" b="1">
                <a:ea typeface="+mn-lt"/>
                <a:cs typeface="+mn-lt"/>
              </a:rPr>
              <a:t>Flicker Mitigation:</a:t>
            </a:r>
            <a:endParaRPr lang="en-US" sz="1200" baseline="30000">
              <a:ea typeface="+mn-lt"/>
              <a:cs typeface="+mn-lt"/>
            </a:endParaRPr>
          </a:p>
          <a:p>
            <a:pPr marL="342900" indent="-342900">
              <a:buFont typeface="Arial"/>
              <a:buChar char="•"/>
            </a:pPr>
            <a:r>
              <a:rPr lang="en-US" sz="2400">
                <a:ea typeface="+mn-lt"/>
                <a:cs typeface="+mn-lt"/>
              </a:rPr>
              <a:t> The implementation of </a:t>
            </a:r>
            <a:r>
              <a:rPr lang="en-US" sz="2400" b="1">
                <a:ea typeface="+mn-lt"/>
                <a:cs typeface="+mn-lt"/>
              </a:rPr>
              <a:t>Auto-Zeroing</a:t>
            </a:r>
            <a:r>
              <a:rPr lang="en-US" sz="2400">
                <a:ea typeface="+mn-lt"/>
                <a:cs typeface="+mn-lt"/>
              </a:rPr>
              <a:t> proved effective in removing low-frequency flicker ($1/f$) noise, significantly lowering the in-band noise floor to improve signal precision.</a:t>
            </a:r>
            <a:endParaRPr lang="en-US" sz="1200" baseline="30000">
              <a:ea typeface="Calibri"/>
              <a:cs typeface="Calibri"/>
            </a:endParaRPr>
          </a:p>
          <a:p>
            <a:pPr marL="285750" indent="-285750">
              <a:buFont typeface="Arial"/>
              <a:buChar char="•"/>
            </a:pPr>
            <a:endParaRPr lang="en-US" sz="2400">
              <a:ea typeface="+mn-lt"/>
              <a:cs typeface="+mn-lt"/>
            </a:endParaRPr>
          </a:p>
          <a:p>
            <a:r>
              <a:rPr lang="en-US" sz="2400" b="1">
                <a:ea typeface="+mn-lt"/>
                <a:cs typeface="+mn-lt"/>
              </a:rPr>
              <a:t>Digital Filtering:</a:t>
            </a:r>
            <a:endParaRPr lang="en-US">
              <a:ea typeface="+mn-lt"/>
              <a:cs typeface="+mn-lt"/>
            </a:endParaRPr>
          </a:p>
          <a:p>
            <a:pPr marL="342900" indent="-342900">
              <a:buFont typeface="Arial"/>
              <a:buChar char="•"/>
            </a:pPr>
            <a:r>
              <a:rPr lang="en-US" sz="2400">
                <a:ea typeface="+mn-lt"/>
                <a:cs typeface="+mn-lt"/>
              </a:rPr>
              <a:t> A stable, three-stage digital decimation chain was successfully implemented using a </a:t>
            </a:r>
            <a:r>
              <a:rPr lang="en-US" sz="2400" b="1">
                <a:ea typeface="+mn-lt"/>
                <a:cs typeface="+mn-lt"/>
              </a:rPr>
              <a:t>4th-Order CIC filter</a:t>
            </a:r>
            <a:r>
              <a:rPr lang="en-US" sz="2400">
                <a:ea typeface="+mn-lt"/>
                <a:cs typeface="+mn-lt"/>
              </a:rPr>
              <a:t> , followed by a </a:t>
            </a:r>
            <a:r>
              <a:rPr lang="en-US" sz="2400" b="1">
                <a:ea typeface="+mn-lt"/>
                <a:cs typeface="+mn-lt"/>
              </a:rPr>
              <a:t>Compensation FIR</a:t>
            </a:r>
            <a:r>
              <a:rPr lang="en-US" sz="2400">
                <a:ea typeface="+mn-lt"/>
                <a:cs typeface="+mn-lt"/>
              </a:rPr>
              <a:t> and a </a:t>
            </a:r>
            <a:r>
              <a:rPr lang="en-US" sz="2400" b="1">
                <a:ea typeface="+mn-lt"/>
                <a:cs typeface="+mn-lt"/>
              </a:rPr>
              <a:t>Half-Band FIR.</a:t>
            </a:r>
            <a:endParaRPr lang="en-US" b="1">
              <a:ea typeface="Calibri"/>
              <a:cs typeface="Calibri"/>
            </a:endParaRPr>
          </a:p>
          <a:p>
            <a:pPr marL="285750" indent="-285750">
              <a:buFont typeface="Arial"/>
              <a:buChar char="•"/>
            </a:pPr>
            <a:endParaRPr lang="en-US" sz="2400">
              <a:ea typeface="+mn-lt"/>
              <a:cs typeface="+mn-lt"/>
            </a:endParaRPr>
          </a:p>
          <a:p>
            <a:r>
              <a:rPr lang="en-US" sz="2400" b="1">
                <a:ea typeface="+mn-lt"/>
                <a:cs typeface="+mn-lt"/>
              </a:rPr>
              <a:t>ASIC Efficiency:</a:t>
            </a:r>
            <a:endParaRPr lang="en-US" sz="2400">
              <a:ea typeface="+mn-lt"/>
              <a:cs typeface="+mn-lt"/>
            </a:endParaRPr>
          </a:p>
          <a:p>
            <a:pPr marL="342900" indent="-342900">
              <a:buFont typeface="Arial"/>
              <a:buChar char="•"/>
            </a:pPr>
            <a:r>
              <a:rPr lang="en-US" sz="2400">
                <a:ea typeface="+mn-lt"/>
                <a:cs typeface="+mn-lt"/>
              </a:rPr>
              <a:t> Synthesized using SCL 180nm technology, the final design is highly efficient, achieving a compact total area of </a:t>
            </a:r>
            <a:r>
              <a:rPr lang="en-US" sz="2400" b="1">
                <a:ea typeface="+mn-lt"/>
                <a:cs typeface="+mn-lt"/>
              </a:rPr>
              <a:t>~20,116 µm²</a:t>
            </a:r>
            <a:r>
              <a:rPr lang="en-US" sz="2400">
                <a:ea typeface="+mn-lt"/>
                <a:cs typeface="+mn-lt"/>
              </a:rPr>
              <a:t> and ultra-low power consumption of </a:t>
            </a:r>
            <a:r>
              <a:rPr lang="en-US" sz="2400" b="1">
                <a:ea typeface="+mn-lt"/>
                <a:cs typeface="+mn-lt"/>
              </a:rPr>
              <a:t>~9.67 µW. </a:t>
            </a:r>
            <a:r>
              <a:rPr lang="en-US" sz="2400">
                <a:ea typeface="+mn-lt"/>
                <a:cs typeface="+mn-lt"/>
              </a:rPr>
              <a:t>Successfully performed RTL-to-GDSII for our design.</a:t>
            </a:r>
          </a:p>
          <a:p>
            <a:endParaRPr lang="en-US" sz="2400" b="1">
              <a:latin typeface="Google Sans Text"/>
              <a:ea typeface="Calibri"/>
              <a:cs typeface="Calibri"/>
            </a:endParaRPr>
          </a:p>
        </p:txBody>
      </p:sp>
    </p:spTree>
    <p:extLst>
      <p:ext uri="{BB962C8B-B14F-4D97-AF65-F5344CB8AC3E}">
        <p14:creationId xmlns:p14="http://schemas.microsoft.com/office/powerpoint/2010/main" val="10985150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1A0EC-EEA9-1888-8702-67714FEAA49D}"/>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B2AE91EE-CD18-29D1-C259-0173B9EDB896}"/>
              </a:ext>
            </a:extLst>
          </p:cNvPr>
          <p:cNvSpPr txBox="1"/>
          <p:nvPr/>
        </p:nvSpPr>
        <p:spPr>
          <a:xfrm>
            <a:off x="1252675" y="7721643"/>
            <a:ext cx="1669427" cy="322287"/>
          </a:xfrm>
          <a:prstGeom prst="rect">
            <a:avLst/>
          </a:prstGeom>
        </p:spPr>
        <p:txBody>
          <a:bodyPr lIns="0" tIns="0" rIns="0" bIns="0" rtlCol="0" anchor="t">
            <a:spAutoFit/>
          </a:bodyPr>
          <a:lstStyle/>
          <a:p>
            <a:pPr algn="l">
              <a:lnSpc>
                <a:spcPts val="2576"/>
              </a:lnSpc>
            </a:pPr>
            <a:r>
              <a:rPr lang="en-US" sz="1840" b="1">
                <a:solidFill>
                  <a:srgbClr val="FFFFFF"/>
                </a:solidFill>
                <a:latin typeface="Poppins Bold"/>
                <a:ea typeface="Poppins Bold"/>
                <a:cs typeface="Poppins Bold"/>
                <a:sym typeface="Poppins Bold"/>
              </a:rPr>
              <a:t>1.6 Billion</a:t>
            </a:r>
          </a:p>
        </p:txBody>
      </p:sp>
      <p:sp>
        <p:nvSpPr>
          <p:cNvPr id="5" name="TextBox 5">
            <a:extLst>
              <a:ext uri="{FF2B5EF4-FFF2-40B4-BE49-F238E27FC236}">
                <a16:creationId xmlns:a16="http://schemas.microsoft.com/office/drawing/2014/main" id="{8E6DD763-FFF3-8271-B6E8-19F39E2256E2}"/>
              </a:ext>
            </a:extLst>
          </p:cNvPr>
          <p:cNvSpPr txBox="1"/>
          <p:nvPr/>
        </p:nvSpPr>
        <p:spPr>
          <a:xfrm>
            <a:off x="1252675" y="8075088"/>
            <a:ext cx="1669427" cy="148590"/>
          </a:xfrm>
          <a:prstGeom prst="rect">
            <a:avLst/>
          </a:prstGeom>
        </p:spPr>
        <p:txBody>
          <a:bodyPr lIns="0" tIns="0" rIns="0" bIns="0" rtlCol="0" anchor="t">
            <a:spAutoFit/>
          </a:bodyPr>
          <a:lstStyle/>
          <a:p>
            <a:pPr algn="l">
              <a:lnSpc>
                <a:spcPts val="1259"/>
              </a:lnSpc>
            </a:pPr>
            <a:r>
              <a:rPr lang="en-US" sz="899" b="1">
                <a:solidFill>
                  <a:srgbClr val="FFFFFF"/>
                </a:solidFill>
                <a:latin typeface="Poppins Bold"/>
                <a:ea typeface="Poppins Bold"/>
                <a:cs typeface="Poppins Bold"/>
                <a:sym typeface="Poppins Bold"/>
              </a:rPr>
              <a:t>Total Available Market </a:t>
            </a:r>
          </a:p>
        </p:txBody>
      </p:sp>
      <p:sp>
        <p:nvSpPr>
          <p:cNvPr id="6" name="TextBox 6">
            <a:extLst>
              <a:ext uri="{FF2B5EF4-FFF2-40B4-BE49-F238E27FC236}">
                <a16:creationId xmlns:a16="http://schemas.microsoft.com/office/drawing/2014/main" id="{49255993-83C5-3B6E-7734-7ECD4F3B0CE5}"/>
              </a:ext>
            </a:extLst>
          </p:cNvPr>
          <p:cNvSpPr txBox="1"/>
          <p:nvPr/>
        </p:nvSpPr>
        <p:spPr>
          <a:xfrm>
            <a:off x="1252675" y="7408345"/>
            <a:ext cx="77137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TAM</a:t>
            </a:r>
          </a:p>
        </p:txBody>
      </p:sp>
      <p:sp>
        <p:nvSpPr>
          <p:cNvPr id="8" name="TextBox 8">
            <a:extLst>
              <a:ext uri="{FF2B5EF4-FFF2-40B4-BE49-F238E27FC236}">
                <a16:creationId xmlns:a16="http://schemas.microsoft.com/office/drawing/2014/main" id="{3ADF344C-231D-2746-AD2E-704B8172D26B}"/>
              </a:ext>
            </a:extLst>
          </p:cNvPr>
          <p:cNvSpPr txBox="1"/>
          <p:nvPr/>
        </p:nvSpPr>
        <p:spPr>
          <a:xfrm>
            <a:off x="3764298" y="8096835"/>
            <a:ext cx="2095788" cy="148590"/>
          </a:xfrm>
          <a:prstGeom prst="rect">
            <a:avLst/>
          </a:prstGeom>
        </p:spPr>
        <p:txBody>
          <a:bodyPr lIns="0" tIns="0" rIns="0" bIns="0" rtlCol="0" anchor="t">
            <a:spAutoFit/>
          </a:bodyPr>
          <a:lstStyle/>
          <a:p>
            <a:pPr algn="l">
              <a:lnSpc>
                <a:spcPts val="1260"/>
              </a:lnSpc>
            </a:pPr>
            <a:r>
              <a:rPr lang="en-US" sz="900" b="1">
                <a:solidFill>
                  <a:srgbClr val="FFFFFF"/>
                </a:solidFill>
                <a:latin typeface="Poppins Bold"/>
                <a:ea typeface="Poppins Bold"/>
                <a:cs typeface="Poppins Bold"/>
                <a:sym typeface="Poppins Bold"/>
              </a:rPr>
              <a:t>Serviceable Available Market </a:t>
            </a:r>
          </a:p>
        </p:txBody>
      </p:sp>
      <p:sp>
        <p:nvSpPr>
          <p:cNvPr id="9" name="TextBox 9">
            <a:extLst>
              <a:ext uri="{FF2B5EF4-FFF2-40B4-BE49-F238E27FC236}">
                <a16:creationId xmlns:a16="http://schemas.microsoft.com/office/drawing/2014/main" id="{3FFB6D8E-4760-73A8-9E64-7D9ABF44784E}"/>
              </a:ext>
            </a:extLst>
          </p:cNvPr>
          <p:cNvSpPr txBox="1"/>
          <p:nvPr/>
        </p:nvSpPr>
        <p:spPr>
          <a:xfrm>
            <a:off x="3764298" y="7408345"/>
            <a:ext cx="69398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SAM</a:t>
            </a:r>
          </a:p>
        </p:txBody>
      </p:sp>
      <p:sp>
        <p:nvSpPr>
          <p:cNvPr id="10" name="TextBox 10">
            <a:extLst>
              <a:ext uri="{FF2B5EF4-FFF2-40B4-BE49-F238E27FC236}">
                <a16:creationId xmlns:a16="http://schemas.microsoft.com/office/drawing/2014/main" id="{EF838D61-B6E1-23E8-3A62-A458EC383B4B}"/>
              </a:ext>
            </a:extLst>
          </p:cNvPr>
          <p:cNvSpPr txBox="1"/>
          <p:nvPr/>
        </p:nvSpPr>
        <p:spPr>
          <a:xfrm>
            <a:off x="6275921" y="7721643"/>
            <a:ext cx="1666072" cy="322287"/>
          </a:xfrm>
          <a:prstGeom prst="rect">
            <a:avLst/>
          </a:prstGeom>
        </p:spPr>
        <p:txBody>
          <a:bodyPr lIns="0" tIns="0" rIns="0" bIns="0" rtlCol="0" anchor="t">
            <a:spAutoFit/>
          </a:bodyPr>
          <a:lstStyle/>
          <a:p>
            <a:pPr algn="l">
              <a:lnSpc>
                <a:spcPts val="2576"/>
              </a:lnSpc>
            </a:pPr>
            <a:r>
              <a:rPr lang="en-US" sz="1840" b="1">
                <a:solidFill>
                  <a:srgbClr val="FFFFFF"/>
                </a:solidFill>
                <a:latin typeface="Poppins Bold"/>
                <a:ea typeface="Poppins Bold"/>
                <a:cs typeface="Poppins Bold"/>
                <a:sym typeface="Poppins Bold"/>
              </a:rPr>
              <a:t>181 Million</a:t>
            </a:r>
          </a:p>
        </p:txBody>
      </p:sp>
      <p:sp>
        <p:nvSpPr>
          <p:cNvPr id="11" name="TextBox 11">
            <a:extLst>
              <a:ext uri="{FF2B5EF4-FFF2-40B4-BE49-F238E27FC236}">
                <a16:creationId xmlns:a16="http://schemas.microsoft.com/office/drawing/2014/main" id="{1BCBA472-9CE6-0CD5-036C-350C64DB1F9C}"/>
              </a:ext>
            </a:extLst>
          </p:cNvPr>
          <p:cNvSpPr txBox="1"/>
          <p:nvPr/>
        </p:nvSpPr>
        <p:spPr>
          <a:xfrm>
            <a:off x="6275921" y="8096835"/>
            <a:ext cx="2027367" cy="148590"/>
          </a:xfrm>
          <a:prstGeom prst="rect">
            <a:avLst/>
          </a:prstGeom>
        </p:spPr>
        <p:txBody>
          <a:bodyPr lIns="0" tIns="0" rIns="0" bIns="0" rtlCol="0" anchor="t">
            <a:spAutoFit/>
          </a:bodyPr>
          <a:lstStyle/>
          <a:p>
            <a:pPr algn="l">
              <a:lnSpc>
                <a:spcPts val="1260"/>
              </a:lnSpc>
            </a:pPr>
            <a:r>
              <a:rPr lang="en-US" sz="900" b="1">
                <a:solidFill>
                  <a:srgbClr val="FFFFFF"/>
                </a:solidFill>
                <a:latin typeface="Poppins Bold"/>
                <a:ea typeface="Poppins Bold"/>
                <a:cs typeface="Poppins Bold"/>
                <a:sym typeface="Poppins Bold"/>
              </a:rPr>
              <a:t>Serviceable Obtainable Market </a:t>
            </a:r>
          </a:p>
        </p:txBody>
      </p:sp>
      <p:sp>
        <p:nvSpPr>
          <p:cNvPr id="12" name="TextBox 12">
            <a:extLst>
              <a:ext uri="{FF2B5EF4-FFF2-40B4-BE49-F238E27FC236}">
                <a16:creationId xmlns:a16="http://schemas.microsoft.com/office/drawing/2014/main" id="{4FA4FC2C-84CC-3CEA-FCEE-B6E41614DF1C}"/>
              </a:ext>
            </a:extLst>
          </p:cNvPr>
          <p:cNvSpPr txBox="1"/>
          <p:nvPr/>
        </p:nvSpPr>
        <p:spPr>
          <a:xfrm>
            <a:off x="6275921" y="7408345"/>
            <a:ext cx="707400" cy="269420"/>
          </a:xfrm>
          <a:prstGeom prst="rect">
            <a:avLst/>
          </a:prstGeom>
        </p:spPr>
        <p:txBody>
          <a:bodyPr lIns="0" tIns="0" rIns="0" bIns="0" rtlCol="0" anchor="t">
            <a:spAutoFit/>
          </a:bodyPr>
          <a:lstStyle/>
          <a:p>
            <a:pPr algn="l">
              <a:lnSpc>
                <a:spcPts val="2147"/>
              </a:lnSpc>
            </a:pPr>
            <a:r>
              <a:rPr lang="en-US" sz="1533" b="1">
                <a:solidFill>
                  <a:srgbClr val="FFFFFF"/>
                </a:solidFill>
                <a:latin typeface="Poppins Bold"/>
                <a:ea typeface="Poppins Bold"/>
                <a:cs typeface="Poppins Bold"/>
                <a:sym typeface="Poppins Bold"/>
              </a:rPr>
              <a:t>SOM</a:t>
            </a:r>
          </a:p>
        </p:txBody>
      </p:sp>
      <p:sp>
        <p:nvSpPr>
          <p:cNvPr id="29" name="AutoShape 29">
            <a:extLst>
              <a:ext uri="{FF2B5EF4-FFF2-40B4-BE49-F238E27FC236}">
                <a16:creationId xmlns:a16="http://schemas.microsoft.com/office/drawing/2014/main" id="{E9B2243E-149C-CC34-11D0-240FBC5DAAB7}"/>
              </a:ext>
            </a:extLst>
          </p:cNvPr>
          <p:cNvSpPr/>
          <p:nvPr/>
        </p:nvSpPr>
        <p:spPr>
          <a:xfrm rot="5400000">
            <a:off x="3008122" y="7812274"/>
            <a:ext cx="659629" cy="0"/>
          </a:xfrm>
          <a:prstGeom prst="line">
            <a:avLst/>
          </a:prstGeom>
          <a:ln w="19050" cap="rnd">
            <a:solidFill>
              <a:srgbClr val="FFFFFF"/>
            </a:solidFill>
            <a:prstDash val="solid"/>
            <a:headEnd type="none" w="sm" len="sm"/>
            <a:tailEnd type="none" w="sm" len="sm"/>
          </a:ln>
        </p:spPr>
        <p:txBody>
          <a:bodyPr/>
          <a:lstStyle/>
          <a:p>
            <a:endParaRPr lang="en-IN"/>
          </a:p>
        </p:txBody>
      </p:sp>
      <p:sp>
        <p:nvSpPr>
          <p:cNvPr id="2" name="TextBox 1">
            <a:extLst>
              <a:ext uri="{FF2B5EF4-FFF2-40B4-BE49-F238E27FC236}">
                <a16:creationId xmlns:a16="http://schemas.microsoft.com/office/drawing/2014/main" id="{41770CAE-E133-E881-C07A-6DF00FA71BDC}"/>
              </a:ext>
            </a:extLst>
          </p:cNvPr>
          <p:cNvSpPr txBox="1"/>
          <p:nvPr/>
        </p:nvSpPr>
        <p:spPr>
          <a:xfrm>
            <a:off x="2022127" y="4428545"/>
            <a:ext cx="7034421"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800" b="1">
                <a:latin typeface="Poppins Bold"/>
                <a:ea typeface="Batang"/>
                <a:cs typeface="Poppins Bold"/>
              </a:rPr>
              <a:t>THANK YOU</a:t>
            </a:r>
          </a:p>
        </p:txBody>
      </p:sp>
      <p:grpSp>
        <p:nvGrpSpPr>
          <p:cNvPr id="13" name="Group 24">
            <a:extLst>
              <a:ext uri="{FF2B5EF4-FFF2-40B4-BE49-F238E27FC236}">
                <a16:creationId xmlns:a16="http://schemas.microsoft.com/office/drawing/2014/main" id="{AF2FD5DA-B50E-E95E-5E3C-A1E11F9FBD3B}"/>
              </a:ext>
            </a:extLst>
          </p:cNvPr>
          <p:cNvGrpSpPr/>
          <p:nvPr/>
        </p:nvGrpSpPr>
        <p:grpSpPr>
          <a:xfrm>
            <a:off x="16711286" y="1028700"/>
            <a:ext cx="1952277" cy="8229600"/>
            <a:chOff x="0" y="0"/>
            <a:chExt cx="660400" cy="2783840"/>
          </a:xfrm>
        </p:grpSpPr>
        <p:sp>
          <p:nvSpPr>
            <p:cNvPr id="7" name="Freeform 25">
              <a:extLst>
                <a:ext uri="{FF2B5EF4-FFF2-40B4-BE49-F238E27FC236}">
                  <a16:creationId xmlns:a16="http://schemas.microsoft.com/office/drawing/2014/main" id="{B1A9F87E-9384-1EE1-1579-EFEA49F0613D}"/>
                </a:ext>
              </a:extLst>
            </p:cNvPr>
            <p:cNvSpPr/>
            <p:nvPr/>
          </p:nvSpPr>
          <p:spPr>
            <a:xfrm>
              <a:off x="0" y="0"/>
              <a:ext cx="660400" cy="2783840"/>
            </a:xfrm>
            <a:custGeom>
              <a:avLst/>
              <a:gdLst/>
              <a:ahLst/>
              <a:cxnLst/>
              <a:rect l="l" t="t" r="r" b="b"/>
              <a:pathLst>
                <a:path w="660400" h="2783840">
                  <a:moveTo>
                    <a:pt x="535940" y="2783840"/>
                  </a:moveTo>
                  <a:lnTo>
                    <a:pt x="124460" y="2783840"/>
                  </a:lnTo>
                  <a:cubicBezTo>
                    <a:pt x="55880" y="2783840"/>
                    <a:pt x="0" y="2727960"/>
                    <a:pt x="0" y="2659380"/>
                  </a:cubicBezTo>
                  <a:lnTo>
                    <a:pt x="0" y="124460"/>
                  </a:lnTo>
                  <a:cubicBezTo>
                    <a:pt x="0" y="55880"/>
                    <a:pt x="55880" y="0"/>
                    <a:pt x="124460" y="0"/>
                  </a:cubicBezTo>
                  <a:lnTo>
                    <a:pt x="535940" y="0"/>
                  </a:lnTo>
                  <a:cubicBezTo>
                    <a:pt x="604520" y="0"/>
                    <a:pt x="660400" y="55880"/>
                    <a:pt x="660400" y="124460"/>
                  </a:cubicBezTo>
                  <a:lnTo>
                    <a:pt x="660400" y="2659380"/>
                  </a:lnTo>
                  <a:cubicBezTo>
                    <a:pt x="660400" y="2727960"/>
                    <a:pt x="604520" y="2783840"/>
                    <a:pt x="535940" y="2783840"/>
                  </a:cubicBezTo>
                  <a:close/>
                </a:path>
              </a:pathLst>
            </a:custGeom>
            <a:solidFill>
              <a:srgbClr val="FF914D"/>
            </a:solidFill>
          </p:spPr>
          <p:txBody>
            <a:bodyPr/>
            <a:lstStyle/>
            <a:p>
              <a:endParaRPr lang="en-IN"/>
            </a:p>
          </p:txBody>
        </p:sp>
      </p:grpSp>
    </p:spTree>
    <p:extLst>
      <p:ext uri="{BB962C8B-B14F-4D97-AF65-F5344CB8AC3E}">
        <p14:creationId xmlns:p14="http://schemas.microsoft.com/office/powerpoint/2010/main" val="14371255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60</Slides>
  <Notes>1</Notes>
  <HiddenSlides>0</HiddenSlides>
  <ScaleCrop>false</ScaleCrop>
  <HeadingPairs>
    <vt:vector size="4" baseType="variant">
      <vt:variant>
        <vt:lpstr>Theme</vt:lpstr>
      </vt:variant>
      <vt:variant>
        <vt:i4>1</vt:i4>
      </vt:variant>
      <vt:variant>
        <vt:lpstr>Slide Titles</vt:lpstr>
      </vt:variant>
      <vt:variant>
        <vt:i4>60</vt:i4>
      </vt:variant>
    </vt:vector>
  </HeadingPairs>
  <TitlesOfParts>
    <vt:vector size="6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Orange Modern Business Plan Presentation</dc:title>
  <cp:revision>141</cp:revision>
  <dcterms:created xsi:type="dcterms:W3CDTF">2006-08-16T00:00:00Z</dcterms:created>
  <dcterms:modified xsi:type="dcterms:W3CDTF">2025-12-11T18:08:30Z</dcterms:modified>
  <dc:identifier>DAG7GdoZzvw</dc:identifier>
</cp:coreProperties>
</file>